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1" r:id="rId2"/>
    <p:sldMasterId id="2147483662" r:id="rId3"/>
  </p:sldMasterIdLst>
  <p:notesMasterIdLst>
    <p:notesMasterId r:id="rId47"/>
  </p:notesMasterIdLst>
  <p:sldIdLst>
    <p:sldId id="256" r:id="rId4"/>
    <p:sldId id="2147473495" r:id="rId5"/>
    <p:sldId id="2147473507" r:id="rId6"/>
    <p:sldId id="310" r:id="rId7"/>
    <p:sldId id="312" r:id="rId8"/>
    <p:sldId id="1330" r:id="rId9"/>
    <p:sldId id="1295" r:id="rId10"/>
    <p:sldId id="1297" r:id="rId11"/>
    <p:sldId id="1298" r:id="rId12"/>
    <p:sldId id="1300" r:id="rId13"/>
    <p:sldId id="1301" r:id="rId14"/>
    <p:sldId id="1302" r:id="rId15"/>
    <p:sldId id="1303" r:id="rId16"/>
    <p:sldId id="1304" r:id="rId17"/>
    <p:sldId id="2147473489" r:id="rId18"/>
    <p:sldId id="866" r:id="rId19"/>
    <p:sldId id="920" r:id="rId20"/>
    <p:sldId id="1338" r:id="rId21"/>
    <p:sldId id="2147473514" r:id="rId22"/>
    <p:sldId id="2147473513" r:id="rId23"/>
    <p:sldId id="1355" r:id="rId24"/>
    <p:sldId id="2147473512" r:id="rId25"/>
    <p:sldId id="2147473508" r:id="rId26"/>
    <p:sldId id="2147473509" r:id="rId27"/>
    <p:sldId id="2147473519" r:id="rId28"/>
    <p:sldId id="2147473518" r:id="rId29"/>
    <p:sldId id="2147473504" r:id="rId30"/>
    <p:sldId id="2147473506" r:id="rId31"/>
    <p:sldId id="2147473522" r:id="rId32"/>
    <p:sldId id="2147473520" r:id="rId33"/>
    <p:sldId id="2147473521" r:id="rId34"/>
    <p:sldId id="258" r:id="rId35"/>
    <p:sldId id="259" r:id="rId36"/>
    <p:sldId id="261" r:id="rId37"/>
    <p:sldId id="260" r:id="rId38"/>
    <p:sldId id="262" r:id="rId39"/>
    <p:sldId id="263" r:id="rId40"/>
    <p:sldId id="272" r:id="rId41"/>
    <p:sldId id="322" r:id="rId42"/>
    <p:sldId id="274" r:id="rId43"/>
    <p:sldId id="319" r:id="rId44"/>
    <p:sldId id="306" r:id="rId45"/>
    <p:sldId id="321" r:id="rId46"/>
  </p:sldIdLst>
  <p:sldSz cx="12192000" cy="6858000"/>
  <p:notesSz cx="6858000" cy="12192000"/>
  <p:custDataLst>
    <p:tags r:id="rId48"/>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2F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844"/>
    <p:restoredTop sz="94610"/>
  </p:normalViewPr>
  <p:slideViewPr>
    <p:cSldViewPr snapToGrid="0" snapToObjects="1">
      <p:cViewPr>
        <p:scale>
          <a:sx n="165" d="100"/>
          <a:sy n="165" d="100"/>
        </p:scale>
        <p:origin x="-760" y="-4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tags" Target="tags/tag1.xml"/><Relationship Id="rId8" Type="http://schemas.openxmlformats.org/officeDocument/2006/relationships/slide" Target="slides/slide5.xml"/><Relationship Id="rId51"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5642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dirty="0">
                <a:effectLst/>
                <a:latin typeface="Century Gothic" panose="020B0502020202020204" pitchFamily="34" charset="0"/>
              </a:rPr>
              <a:t>Heroic amounts of data and computation are being brought to bear on developing better, more realistic models of our environments and ecosystems, in hopes of improving our capacity to address the many planetary crises.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dirty="0"/>
          </a:p>
        </p:txBody>
      </p:sp>
    </p:spTree>
    <p:extLst>
      <p:ext uri="{BB962C8B-B14F-4D97-AF65-F5344CB8AC3E}">
        <p14:creationId xmlns:p14="http://schemas.microsoft.com/office/powerpoint/2010/main" val="15619818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748671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026004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936596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765889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533462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102709A3-F7DF-7149-AFC0-820BCC8B9217}" type="slidenum">
              <a:rPr kumimoji="0" lang="en-US" sz="1400" b="0" i="0" u="none" strike="noStrike" kern="0" cap="none" spc="0" normalizeH="0" baseline="0" noProof="0" smtClean="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12</a:t>
            </a:fld>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42234660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Residential segregation in the US or some industrial activities but not everything…</a:t>
            </a:r>
          </a:p>
          <a:p>
            <a:endParaRPr lang="en-US" dirty="0"/>
          </a:p>
          <a:p>
            <a:endParaRPr lang="en-US" dirty="0"/>
          </a:p>
          <a:p>
            <a:r>
              <a:rPr lang="en-US" dirty="0"/>
              <a:t>Two maps showing – the main two industrial uses of the high seas considered by </a:t>
            </a:r>
            <a:r>
              <a:rPr lang="en-US" dirty="0" err="1"/>
              <a:t>alg.s</a:t>
            </a:r>
            <a:r>
              <a:rPr lang="en-US" dirty="0"/>
              <a:t> to de</a:t>
            </a:r>
          </a:p>
          <a:p>
            <a:r>
              <a:rPr lang="en-US" dirty="0"/>
              <a:t>reflect the interest of a small and </a:t>
            </a:r>
            <a:r>
              <a:rPr lang="en-US" dirty="0" err="1"/>
              <a:t>privledged</a:t>
            </a:r>
            <a:r>
              <a:rPr lang="en-US" dirty="0"/>
              <a:t> portion of parties in international agreement</a:t>
            </a:r>
          </a:p>
        </p:txBody>
      </p:sp>
    </p:spTree>
    <p:extLst>
      <p:ext uri="{BB962C8B-B14F-4D97-AF65-F5344CB8AC3E}">
        <p14:creationId xmlns:p14="http://schemas.microsoft.com/office/powerpoint/2010/main" val="26318335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pPr algn="ctr"/>
            <a:r>
              <a:rPr lang="en-US" sz="1100" dirty="0">
                <a:solidFill>
                  <a:schemeClr val="bg1">
                    <a:lumMod val="10000"/>
                    <a:lumOff val="90000"/>
                  </a:schemeClr>
                </a:solidFill>
                <a:latin typeface="Century Gothic" panose="020B0502020202020204" pitchFamily="34" charset="0"/>
              </a:rPr>
              <a:t>h</a:t>
            </a:r>
            <a:r>
              <a:rPr lang="en-US" sz="1100" u="none" strike="noStrike" dirty="0">
                <a:solidFill>
                  <a:schemeClr val="bg1">
                    <a:lumMod val="10000"/>
                    <a:lumOff val="90000"/>
                  </a:schemeClr>
                </a:solidFill>
                <a:effectLst/>
                <a:latin typeface="Century Gothic" panose="020B0502020202020204" pitchFamily="34" charset="0"/>
              </a:rPr>
              <a:t>uman patterns captured by biodiversity data </a:t>
            </a:r>
          </a:p>
          <a:p>
            <a:pPr algn="ctr"/>
            <a:r>
              <a:rPr lang="en-US" sz="1400" u="none" strike="noStrike" dirty="0">
                <a:solidFill>
                  <a:schemeClr val="bg1">
                    <a:lumMod val="10000"/>
                    <a:lumOff val="90000"/>
                  </a:schemeClr>
                </a:solidFill>
                <a:effectLst/>
                <a:latin typeface="Century Gothic" panose="020B0502020202020204" pitchFamily="34" charset="0"/>
              </a:rPr>
              <a:t>reflect a reality of the </a:t>
            </a:r>
            <a:r>
              <a:rPr lang="en-US" sz="1400" dirty="0" err="1">
                <a:solidFill>
                  <a:schemeClr val="bg1">
                    <a:lumMod val="10000"/>
                    <a:lumOff val="90000"/>
                  </a:schemeClr>
                </a:solidFill>
                <a:latin typeface="Century Gothic" panose="020B0502020202020204" pitchFamily="34" charset="0"/>
              </a:rPr>
              <a:t>a</a:t>
            </a:r>
            <a:r>
              <a:rPr lang="en-US" sz="1400" u="none" strike="noStrike" dirty="0" err="1">
                <a:solidFill>
                  <a:schemeClr val="bg1">
                    <a:lumMod val="10000"/>
                    <a:lumOff val="90000"/>
                  </a:schemeClr>
                </a:solidFill>
                <a:effectLst/>
                <a:latin typeface="Century Gothic" panose="020B0502020202020204" pitchFamily="34" charset="0"/>
              </a:rPr>
              <a:t>nthropocene</a:t>
            </a:r>
            <a:endParaRPr lang="en-US" sz="1400" u="none" strike="noStrike" dirty="0">
              <a:solidFill>
                <a:schemeClr val="bg1">
                  <a:lumMod val="10000"/>
                  <a:lumOff val="90000"/>
                </a:schemeClr>
              </a:solidFill>
              <a:effectLst/>
              <a:latin typeface="Century Gothic" panose="020B0502020202020204" pitchFamily="34" charset="0"/>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sz="1100" u="none" strike="noStrike" dirty="0">
              <a:solidFill>
                <a:schemeClr val="accent4">
                  <a:lumMod val="60000"/>
                  <a:lumOff val="40000"/>
                </a:schemeClr>
              </a:solidFill>
              <a:effectLst/>
              <a:latin typeface="Century Gothic" panose="020B0502020202020204" pitchFamily="34" charset="0"/>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sz="1100" u="none" strike="noStrike" dirty="0">
              <a:solidFill>
                <a:schemeClr val="accent4">
                  <a:lumMod val="60000"/>
                  <a:lumOff val="40000"/>
                </a:schemeClr>
              </a:solidFill>
              <a:effectLst/>
              <a:latin typeface="Century Gothic" panose="020B0502020202020204" pitchFamily="34" charset="0"/>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u="none" strike="noStrike" dirty="0">
                <a:solidFill>
                  <a:schemeClr val="accent4">
                    <a:lumMod val="60000"/>
                    <a:lumOff val="40000"/>
                  </a:schemeClr>
                </a:solidFill>
                <a:effectLst/>
                <a:latin typeface="Century Gothic" panose="020B0502020202020204" pitchFamily="34" charset="0"/>
              </a:rPr>
              <a:t>people — and our politics, economies, and histories — are major drivers of ecosystem composition</a:t>
            </a:r>
            <a:endParaRPr lang="en-US" sz="1100" dirty="0">
              <a:solidFill>
                <a:schemeClr val="accent4">
                  <a:lumMod val="60000"/>
                  <a:lumOff val="40000"/>
                </a:schemeClr>
              </a:solidFill>
              <a:latin typeface="Century Gothic" panose="020B0502020202020204" pitchFamily="34" charset="0"/>
            </a:endParaRPr>
          </a:p>
          <a:p>
            <a:endParaRPr lang="en-US" dirty="0"/>
          </a:p>
          <a:p>
            <a:endParaRPr lang="en-US" dirty="0"/>
          </a:p>
          <a:p>
            <a:r>
              <a:rPr lang="en-US" b="1" dirty="0"/>
              <a:t>Detect and attribute </a:t>
            </a:r>
            <a:r>
              <a:rPr lang="en-US" dirty="0"/>
              <a:t>change!!</a:t>
            </a:r>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102709A3-F7DF-7149-AFC0-820BCC8B9217}" type="slidenum">
              <a:rPr kumimoji="0" lang="en-US" sz="1400" b="0" i="0" u="none" strike="noStrike" kern="0" cap="none" spc="0" normalizeH="0" baseline="0" noProof="0" smtClean="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14</a:t>
            </a:fld>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5859861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DF094-0866-B43A-FFEB-11C5C2CE2D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6402B5-BF8E-C0FC-3A27-F5975ECE1261}"/>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E7BD9A06-8063-3856-8A9F-E11DC1F18A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4F9EBF-04B0-99DB-D3CA-BDEE7F981240}"/>
              </a:ext>
            </a:extLst>
          </p:cNvPr>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102709A3-F7DF-7149-AFC0-820BCC8B9217}" type="slidenum">
              <a:rPr kumimoji="0" lang="en-US" sz="1400" b="0" i="0" u="none" strike="noStrike" kern="0" cap="none" spc="0" normalizeH="0" baseline="0" noProof="0" smtClean="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15</a:t>
            </a:fld>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3497773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sz="1100" b="0" i="0" u="none" strike="noStrike" dirty="0">
                <a:solidFill>
                  <a:srgbClr val="000000"/>
                </a:solidFill>
                <a:effectLst/>
                <a:latin typeface="Times New Roman" panose="02020603050405020304" pitchFamily="18" charset="0"/>
              </a:rPr>
              <a:t>Once primarily the concern of macroecological theory and scientific inventories, these data now guide the implementation of massive multilateral commitments and global investments that will impact nature and people for decades to come </a:t>
            </a:r>
            <a:endParaRPr lang="en-US" dirty="0"/>
          </a:p>
        </p:txBody>
      </p:sp>
    </p:spTree>
    <p:extLst>
      <p:ext uri="{BB962C8B-B14F-4D97-AF65-F5344CB8AC3E}">
        <p14:creationId xmlns:p14="http://schemas.microsoft.com/office/powerpoint/2010/main" val="33648904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dirty="0"/>
          </a:p>
          <a:p>
            <a:endParaRPr lang="en-US" dirty="0"/>
          </a:p>
        </p:txBody>
      </p:sp>
    </p:spTree>
    <p:extLst>
      <p:ext uri="{BB962C8B-B14F-4D97-AF65-F5344CB8AC3E}">
        <p14:creationId xmlns:p14="http://schemas.microsoft.com/office/powerpoint/2010/main" val="38899836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E7CAF-2F2E-CC34-5C06-B325080A6B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3CB201-AB74-1E2E-50D5-0897C8D5BD87}"/>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9A57519F-EEFA-B3BF-8D63-87350E5ED7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CB5D6F-21BC-6E2A-AF46-687F838385CE}"/>
              </a:ext>
            </a:extLst>
          </p:cNvPr>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102709A3-F7DF-7149-AFC0-820BCC8B9217}" type="slidenum">
              <a:rPr kumimoji="0" lang="en-US" sz="1400" b="0" i="0" u="none" strike="noStrike" kern="0" cap="none" spc="0" normalizeH="0" baseline="0" noProof="0" smtClean="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18</a:t>
            </a:fld>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7618189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54B5D-3E5A-C4CF-D0EA-36646AE53C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3E0FD5-A3BD-ECEE-1AE2-6BF5C62104C9}"/>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E52F1B41-F396-61C3-CFE2-D6A8D1D068BE}"/>
              </a:ext>
            </a:extLst>
          </p:cNvPr>
          <p:cNvSpPr>
            <a:spLocks noGrp="1"/>
          </p:cNvSpPr>
          <p:nvPr>
            <p:ph type="body" idx="1"/>
          </p:nvPr>
        </p:nvSpPr>
        <p:spPr/>
        <p:txBody>
          <a:bodyPr/>
          <a:lstStyle/>
          <a:p>
            <a:r>
              <a:rPr lang="en-US" dirty="0"/>
              <a:t>Reflecting on the histories that shape how we see and center our biosphere – not just in how we draw maps but in how we build the data and algorithmic infrastructures than increasingly influence its governance</a:t>
            </a:r>
          </a:p>
        </p:txBody>
      </p:sp>
    </p:spTree>
    <p:extLst>
      <p:ext uri="{BB962C8B-B14F-4D97-AF65-F5344CB8AC3E}">
        <p14:creationId xmlns:p14="http://schemas.microsoft.com/office/powerpoint/2010/main" val="15778329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Hi everyone</a:t>
            </a:r>
          </a:p>
        </p:txBody>
      </p:sp>
    </p:spTree>
    <p:extLst>
      <p:ext uri="{BB962C8B-B14F-4D97-AF65-F5344CB8AC3E}">
        <p14:creationId xmlns:p14="http://schemas.microsoft.com/office/powerpoint/2010/main" val="10343836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quote is the paper's summary of Krupp's argument (p. 5). The five promises are the paper's list of what data technologies "are said to provide" (p. 8). Data is treated as "a neutral, objective resource" (p. 4) and "the new 'oil'" (p. 8). Ask: who is making this promise, and who benefits if it's believed?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stand on a line across the room. Ask one person at each end to explain. Don't resolve it; come back at the end.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These are the four political ecology themes the paper applies to data (p. 6–7).</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adapted from the paper's questions about Planet (p. 7). Q4 comes from p. 10: satellite data may show deforestation but does little without other governance measures. Four groups of 4–5. The WDPA group applies the paper's ideas to a dataset it does not discuss. Give a 2-minute warning.</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special issue's core claim: "against widespread beliefs in it as immaterial and as a resource ready and waiting to drive decision-making", data is "material, practiced, governed, and demanding of our praxis" (p. 8). Material: data centres, cables, lithium, water (p. 5, 8–9). Practiced: cleaning, curating and maintaining data (p. 9). Governed: rules over access, and data's role in statecraft (p. 9–10). Praxis: political ecologists working with data practitioners (p. 12). Then hand out the case cards.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on the board which lens each point touches. Connect Global Forest Watch in Myanmar (transparency does not equal accountability) and WDPA (data that "selectively spotlights for the state", p. 11).</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each point back to the groups' "shows ___ but does ___" sentences. Point 3 links to the "irony of transparency" (p. 11). Then move to the re-vote.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6162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075986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0" name="Google Shape;30;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6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31" name="Google Shape;31;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660793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4" name="Google Shape;34;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189784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9"/>
          <p:cNvSpPr/>
          <p:nvPr/>
        </p:nvSpPr>
        <p:spPr>
          <a:xfrm>
            <a:off x="6096000" y="33"/>
            <a:ext cx="60960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 name="Google Shape;37;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8" name="Google Shape;38;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9" name="Google Shape;39;p9"/>
          <p:cNvSpPr txBox="1">
            <a:spLocks noGrp="1"/>
          </p:cNvSpPr>
          <p:nvPr>
            <p:ph type="body" idx="2"/>
          </p:nvPr>
        </p:nvSpPr>
        <p:spPr>
          <a:xfrm>
            <a:off x="6586000" y="965600"/>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Clr>
                <a:schemeClr val="dk1"/>
              </a:buClr>
              <a:buSzPts val="1800"/>
              <a:buChar char="●"/>
              <a:defRPr>
                <a:solidFill>
                  <a:schemeClr val="dk1"/>
                </a:solidFill>
              </a:defRPr>
            </a:lvl1pPr>
            <a:lvl2pPr marL="1219170" lvl="1" indent="-423323">
              <a:spcBef>
                <a:spcPts val="0"/>
              </a:spcBef>
              <a:spcAft>
                <a:spcPts val="0"/>
              </a:spcAft>
              <a:buClr>
                <a:schemeClr val="dk1"/>
              </a:buClr>
              <a:buSzPts val="1400"/>
              <a:buChar char="○"/>
              <a:defRPr>
                <a:solidFill>
                  <a:schemeClr val="dk1"/>
                </a:solidFill>
              </a:defRPr>
            </a:lvl2pPr>
            <a:lvl3pPr marL="1828754" lvl="2" indent="-423323">
              <a:spcBef>
                <a:spcPts val="0"/>
              </a:spcBef>
              <a:spcAft>
                <a:spcPts val="0"/>
              </a:spcAft>
              <a:buClr>
                <a:schemeClr val="dk1"/>
              </a:buClr>
              <a:buSzPts val="1400"/>
              <a:buChar char="■"/>
              <a:defRPr>
                <a:solidFill>
                  <a:schemeClr val="dk1"/>
                </a:solidFill>
              </a:defRPr>
            </a:lvl3pPr>
            <a:lvl4pPr marL="2438339" lvl="3" indent="-423323">
              <a:spcBef>
                <a:spcPts val="0"/>
              </a:spcBef>
              <a:spcAft>
                <a:spcPts val="0"/>
              </a:spcAft>
              <a:buClr>
                <a:schemeClr val="dk1"/>
              </a:buClr>
              <a:buSzPts val="1400"/>
              <a:buChar char="●"/>
              <a:defRPr>
                <a:solidFill>
                  <a:schemeClr val="dk1"/>
                </a:solidFill>
              </a:defRPr>
            </a:lvl4pPr>
            <a:lvl5pPr marL="3047924" lvl="4" indent="-423323">
              <a:spcBef>
                <a:spcPts val="0"/>
              </a:spcBef>
              <a:spcAft>
                <a:spcPts val="0"/>
              </a:spcAft>
              <a:buClr>
                <a:schemeClr val="dk1"/>
              </a:buClr>
              <a:buSzPts val="1400"/>
              <a:buChar char="○"/>
              <a:defRPr>
                <a:solidFill>
                  <a:schemeClr val="dk1"/>
                </a:solidFill>
              </a:defRPr>
            </a:lvl5pPr>
            <a:lvl6pPr marL="3657509" lvl="5" indent="-423323">
              <a:spcBef>
                <a:spcPts val="0"/>
              </a:spcBef>
              <a:spcAft>
                <a:spcPts val="0"/>
              </a:spcAft>
              <a:buClr>
                <a:schemeClr val="dk1"/>
              </a:buClr>
              <a:buSzPts val="1400"/>
              <a:buChar char="■"/>
              <a:defRPr>
                <a:solidFill>
                  <a:schemeClr val="dk1"/>
                </a:solidFill>
              </a:defRPr>
            </a:lvl6pPr>
            <a:lvl7pPr marL="4267093" lvl="6" indent="-423323">
              <a:spcBef>
                <a:spcPts val="0"/>
              </a:spcBef>
              <a:spcAft>
                <a:spcPts val="0"/>
              </a:spcAft>
              <a:buClr>
                <a:schemeClr val="dk1"/>
              </a:buClr>
              <a:buSzPts val="1400"/>
              <a:buChar char="●"/>
              <a:defRPr>
                <a:solidFill>
                  <a:schemeClr val="dk1"/>
                </a:solidFill>
              </a:defRPr>
            </a:lvl7pPr>
            <a:lvl8pPr marL="4876678" lvl="7" indent="-423323">
              <a:spcBef>
                <a:spcPts val="0"/>
              </a:spcBef>
              <a:spcAft>
                <a:spcPts val="0"/>
              </a:spcAft>
              <a:buClr>
                <a:schemeClr val="dk1"/>
              </a:buClr>
              <a:buSzPts val="1400"/>
              <a:buChar char="○"/>
              <a:defRPr>
                <a:solidFill>
                  <a:schemeClr val="dk1"/>
                </a:solidFill>
              </a:defRPr>
            </a:lvl8pPr>
            <a:lvl9pPr marL="5486263" lvl="8" indent="-423323">
              <a:spcBef>
                <a:spcPts val="0"/>
              </a:spcBef>
              <a:spcAft>
                <a:spcPts val="0"/>
              </a:spcAft>
              <a:buClr>
                <a:schemeClr val="dk1"/>
              </a:buClr>
              <a:buSzPts val="1400"/>
              <a:buChar char="■"/>
              <a:defRPr>
                <a:solidFill>
                  <a:schemeClr val="dk1"/>
                </a:solidFill>
              </a:defRPr>
            </a:lvl9pPr>
          </a:lstStyle>
          <a:p>
            <a:endParaRPr/>
          </a:p>
        </p:txBody>
      </p:sp>
      <p:sp>
        <p:nvSpPr>
          <p:cNvPr id="40" name="Google Shape;40;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1041005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4401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6" name="Google Shape;46;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811375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6400777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US"/>
              <a:t>Click to edit Master title style</a:t>
            </a:r>
            <a:endParaRPr/>
          </a:p>
        </p:txBody>
      </p:sp>
      <p:sp>
        <p:nvSpPr>
          <p:cNvPr id="3" name="Content Placeholder 2"/>
          <p:cNvSpPr>
            <a:spLocks noGrp="1"/>
          </p:cNvSpPr>
          <p:nvPr>
            <p:ph idx="1"/>
          </p:nvPr>
        </p:nvSpPr>
        <p:spPr/>
        <p:txBody>
          <a:bodyPr rtlCol="0"/>
          <a:lstStyle>
            <a:lvl5pPr>
              <a:defRPr/>
            </a:lvl5pPr>
            <a:lvl6pPr>
              <a:defRPr/>
            </a:lvl6pPr>
            <a:lvl7pPr>
              <a:defRPr baseline="0"/>
            </a:lvl7pPr>
            <a:lvl8pPr>
              <a:defRPr baseline="0"/>
            </a:lvl8pPr>
            <a:lvl9pPr>
              <a:defRPr baseline="0"/>
            </a:lvl9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a:p>
        </p:txBody>
      </p:sp>
      <p:sp>
        <p:nvSpPr>
          <p:cNvPr id="5" name="Footer Placeholder 4"/>
          <p:cNvSpPr>
            <a:spLocks noGrp="1"/>
          </p:cNvSpPr>
          <p:nvPr>
            <p:ph type="ftr" sz="quarter" idx="11"/>
          </p:nvPr>
        </p:nvSpPr>
        <p:spPr/>
        <p:txBody>
          <a:bodyPr rtlCol="0"/>
          <a:lstStyle/>
          <a:p>
            <a:pPr rtl="0"/>
            <a:r>
              <a:rPr lang="en-gb"/>
              <a:t>Add a footer</a:t>
            </a:r>
            <a:endParaRPr dirty="0"/>
          </a:p>
        </p:txBody>
      </p:sp>
      <p:sp>
        <p:nvSpPr>
          <p:cNvPr id="4" name="Date Placeholder 3"/>
          <p:cNvSpPr>
            <a:spLocks noGrp="1"/>
          </p:cNvSpPr>
          <p:nvPr>
            <p:ph type="dt" sz="half" idx="10"/>
          </p:nvPr>
        </p:nvSpPr>
        <p:spPr/>
        <p:txBody>
          <a:bodyPr rtlCol="0"/>
          <a:lstStyle/>
          <a:p>
            <a:pPr rtl="0"/>
            <a:fld id="{EDF33987-6305-4E2A-BF18-EF013ECE927B}" type="datetimeFigureOut">
              <a:rPr lang="en-US"/>
              <a:t>9/23/26</a:t>
            </a:fld>
            <a:endParaRPr/>
          </a:p>
        </p:txBody>
      </p:sp>
      <p:sp>
        <p:nvSpPr>
          <p:cNvPr id="6" name="Slide Number Placeholder 5"/>
          <p:cNvSpPr>
            <a:spLocks noGrp="1"/>
          </p:cNvSpPr>
          <p:nvPr>
            <p:ph type="sldNum" sz="quarter" idx="12"/>
          </p:nvPr>
        </p:nvSpPr>
        <p:spPr/>
        <p:txBody>
          <a:bodyPr rtlCol="0"/>
          <a:lstStyle/>
          <a:p>
            <a:pPr rtl="0"/>
            <a:fld id="{F36C87F6-986D-49E6-AF40-1B3A1EE8064D}" type="slidenum">
              <a:rPr/>
              <a:t>‹#›</a:t>
            </a:fld>
            <a:endParaRPr/>
          </a:p>
        </p:txBody>
      </p:sp>
    </p:spTree>
    <p:extLst>
      <p:ext uri="{BB962C8B-B14F-4D97-AF65-F5344CB8AC3E}">
        <p14:creationId xmlns:p14="http://schemas.microsoft.com/office/powerpoint/2010/main" val="1689043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162CD-9E01-7124-9A1C-AEA4DD2E9E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A95C3CF-112A-EB35-2599-0F2154D299E1}"/>
              </a:ext>
            </a:extLst>
          </p:cNvPr>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1237DA7-433B-07AC-2D4C-8316F64247CE}"/>
              </a:ext>
            </a:extLst>
          </p:cNvPr>
          <p:cNvSpPr>
            <a:spLocks noGrp="1"/>
          </p:cNvSpPr>
          <p:nvPr>
            <p:ph type="dt" sz="half" idx="10"/>
          </p:nvPr>
        </p:nvSpPr>
        <p:spPr/>
        <p:txBody>
          <a:bodyPr/>
          <a:lstStyle/>
          <a:p>
            <a:fld id="{062953E0-8A16-0E44-BEDE-582B17F0DE13}" type="datetimeFigureOut">
              <a:rPr lang="en-US" smtClean="0"/>
              <a:t>9/23/26</a:t>
            </a:fld>
            <a:endParaRPr lang="en-US"/>
          </a:p>
        </p:txBody>
      </p:sp>
      <p:sp>
        <p:nvSpPr>
          <p:cNvPr id="5" name="Footer Placeholder 4">
            <a:extLst>
              <a:ext uri="{FF2B5EF4-FFF2-40B4-BE49-F238E27FC236}">
                <a16:creationId xmlns:a16="http://schemas.microsoft.com/office/drawing/2014/main" id="{61DAF76D-08C0-7BA4-907C-094ABC12DD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D88673-9597-9CEA-6BA6-70026BDBA4FF}"/>
              </a:ext>
            </a:extLst>
          </p:cNvPr>
          <p:cNvSpPr>
            <a:spLocks noGrp="1"/>
          </p:cNvSpPr>
          <p:nvPr>
            <p:ph type="sldNum" sz="quarter" idx="12"/>
          </p:nvPr>
        </p:nvSpPr>
        <p:spPr/>
        <p:txBody>
          <a:bodyPr/>
          <a:lstStyle/>
          <a:p>
            <a:fld id="{0A15EACB-325C-734F-8BDE-FF6F1085496A}" type="slidenum">
              <a:rPr lang="en-US" smtClean="0"/>
              <a:t>‹#›</a:t>
            </a:fld>
            <a:endParaRPr lang="en-US"/>
          </a:p>
        </p:txBody>
      </p:sp>
    </p:spTree>
    <p:extLst>
      <p:ext uri="{BB962C8B-B14F-4D97-AF65-F5344CB8AC3E}">
        <p14:creationId xmlns:p14="http://schemas.microsoft.com/office/powerpoint/2010/main" val="20164242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393567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162CD-9E01-7124-9A1C-AEA4DD2E9E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A95C3CF-112A-EB35-2599-0F2154D299E1}"/>
              </a:ext>
            </a:extLst>
          </p:cNvPr>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1237DA7-433B-07AC-2D4C-8316F64247CE}"/>
              </a:ext>
            </a:extLst>
          </p:cNvPr>
          <p:cNvSpPr>
            <a:spLocks noGrp="1"/>
          </p:cNvSpPr>
          <p:nvPr>
            <p:ph type="dt" sz="half" idx="10"/>
          </p:nvPr>
        </p:nvSpPr>
        <p:spPr/>
        <p:txBody>
          <a:bodyPr/>
          <a:lstStyle/>
          <a:p>
            <a:fld id="{062953E0-8A16-0E44-BEDE-582B17F0DE13}" type="datetimeFigureOut">
              <a:rPr lang="en-US" smtClean="0"/>
              <a:t>9/23/26</a:t>
            </a:fld>
            <a:endParaRPr lang="en-US"/>
          </a:p>
        </p:txBody>
      </p:sp>
      <p:sp>
        <p:nvSpPr>
          <p:cNvPr id="5" name="Footer Placeholder 4">
            <a:extLst>
              <a:ext uri="{FF2B5EF4-FFF2-40B4-BE49-F238E27FC236}">
                <a16:creationId xmlns:a16="http://schemas.microsoft.com/office/drawing/2014/main" id="{61DAF76D-08C0-7BA4-907C-094ABC12DD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D88673-9597-9CEA-6BA6-70026BDBA4FF}"/>
              </a:ext>
            </a:extLst>
          </p:cNvPr>
          <p:cNvSpPr>
            <a:spLocks noGrp="1"/>
          </p:cNvSpPr>
          <p:nvPr>
            <p:ph type="sldNum" sz="quarter" idx="12"/>
          </p:nvPr>
        </p:nvSpPr>
        <p:spPr/>
        <p:txBody>
          <a:bodyPr/>
          <a:lstStyle/>
          <a:p>
            <a:fld id="{0A15EACB-325C-734F-8BDE-FF6F1085496A}" type="slidenum">
              <a:rPr lang="en-US" smtClean="0"/>
              <a:t>‹#›</a:t>
            </a:fld>
            <a:endParaRPr lang="en-US"/>
          </a:p>
        </p:txBody>
      </p:sp>
    </p:spTree>
    <p:extLst>
      <p:ext uri="{BB962C8B-B14F-4D97-AF65-F5344CB8AC3E}">
        <p14:creationId xmlns:p14="http://schemas.microsoft.com/office/powerpoint/2010/main" val="5861054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66CE1-3D36-1BC3-9239-8C5B271F12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C4C502-1CB6-403D-DBCC-E921244A94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65DCBC-4B35-78EF-C779-130733E4553D}"/>
              </a:ext>
            </a:extLst>
          </p:cNvPr>
          <p:cNvSpPr>
            <a:spLocks noGrp="1"/>
          </p:cNvSpPr>
          <p:nvPr>
            <p:ph type="dt" sz="half" idx="10"/>
          </p:nvPr>
        </p:nvSpPr>
        <p:spPr/>
        <p:txBody>
          <a:bodyPr/>
          <a:lstStyle/>
          <a:p>
            <a:fld id="{062953E0-8A16-0E44-BEDE-582B17F0DE13}" type="datetimeFigureOut">
              <a:rPr lang="en-US" smtClean="0"/>
              <a:t>9/23/26</a:t>
            </a:fld>
            <a:endParaRPr lang="en-US"/>
          </a:p>
        </p:txBody>
      </p:sp>
      <p:sp>
        <p:nvSpPr>
          <p:cNvPr id="5" name="Footer Placeholder 4">
            <a:extLst>
              <a:ext uri="{FF2B5EF4-FFF2-40B4-BE49-F238E27FC236}">
                <a16:creationId xmlns:a16="http://schemas.microsoft.com/office/drawing/2014/main" id="{EE49BCC6-E1E8-D281-F7CD-BE1A7474A4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A551F1-A167-50C4-2C1D-555C25F4B42A}"/>
              </a:ext>
            </a:extLst>
          </p:cNvPr>
          <p:cNvSpPr>
            <a:spLocks noGrp="1"/>
          </p:cNvSpPr>
          <p:nvPr>
            <p:ph type="sldNum" sz="quarter" idx="12"/>
          </p:nvPr>
        </p:nvSpPr>
        <p:spPr/>
        <p:txBody>
          <a:bodyPr/>
          <a:lstStyle/>
          <a:p>
            <a:fld id="{0A15EACB-325C-734F-8BDE-FF6F1085496A}" type="slidenum">
              <a:rPr lang="en-US" smtClean="0"/>
              <a:t>‹#›</a:t>
            </a:fld>
            <a:endParaRPr lang="en-US"/>
          </a:p>
        </p:txBody>
      </p:sp>
    </p:spTree>
    <p:extLst>
      <p:ext uri="{BB962C8B-B14F-4D97-AF65-F5344CB8AC3E}">
        <p14:creationId xmlns:p14="http://schemas.microsoft.com/office/powerpoint/2010/main" val="35468529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DC989-F159-469C-7F76-63F6D3D2C3F0}"/>
              </a:ext>
            </a:extLst>
          </p:cNvPr>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E3BE24D-C2C8-D4B0-CF3E-EE1BF0105ACC}"/>
              </a:ext>
            </a:extLst>
          </p:cNvPr>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3B3487-CE2C-4C03-4A37-66BC78C826FF}"/>
              </a:ext>
            </a:extLst>
          </p:cNvPr>
          <p:cNvSpPr>
            <a:spLocks noGrp="1"/>
          </p:cNvSpPr>
          <p:nvPr>
            <p:ph type="dt" sz="half" idx="10"/>
          </p:nvPr>
        </p:nvSpPr>
        <p:spPr/>
        <p:txBody>
          <a:bodyPr/>
          <a:lstStyle/>
          <a:p>
            <a:fld id="{062953E0-8A16-0E44-BEDE-582B17F0DE13}" type="datetimeFigureOut">
              <a:rPr lang="en-US" smtClean="0"/>
              <a:t>9/23/26</a:t>
            </a:fld>
            <a:endParaRPr lang="en-US"/>
          </a:p>
        </p:txBody>
      </p:sp>
      <p:sp>
        <p:nvSpPr>
          <p:cNvPr id="5" name="Footer Placeholder 4">
            <a:extLst>
              <a:ext uri="{FF2B5EF4-FFF2-40B4-BE49-F238E27FC236}">
                <a16:creationId xmlns:a16="http://schemas.microsoft.com/office/drawing/2014/main" id="{E9DA9B52-C56A-B86E-38E1-78B592D78C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98E2D7-A9B3-9F02-2CCB-0DFAEE964C06}"/>
              </a:ext>
            </a:extLst>
          </p:cNvPr>
          <p:cNvSpPr>
            <a:spLocks noGrp="1"/>
          </p:cNvSpPr>
          <p:nvPr>
            <p:ph type="sldNum" sz="quarter" idx="12"/>
          </p:nvPr>
        </p:nvSpPr>
        <p:spPr/>
        <p:txBody>
          <a:bodyPr/>
          <a:lstStyle/>
          <a:p>
            <a:fld id="{0A15EACB-325C-734F-8BDE-FF6F1085496A}" type="slidenum">
              <a:rPr lang="en-US" smtClean="0"/>
              <a:t>‹#›</a:t>
            </a:fld>
            <a:endParaRPr lang="en-US"/>
          </a:p>
        </p:txBody>
      </p:sp>
    </p:spTree>
    <p:extLst>
      <p:ext uri="{BB962C8B-B14F-4D97-AF65-F5344CB8AC3E}">
        <p14:creationId xmlns:p14="http://schemas.microsoft.com/office/powerpoint/2010/main" val="26963329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5961B-46C0-416E-4228-15F3D5E958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704500-DDE9-7735-8289-5802C1EF9DEC}"/>
              </a:ext>
            </a:extLst>
          </p:cNvPr>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17C1E0-AAE9-AE33-E776-6C50544F143D}"/>
              </a:ext>
            </a:extLst>
          </p:cNvPr>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AE9D0A9-7A1C-82EB-4440-25088E939B6C}"/>
              </a:ext>
            </a:extLst>
          </p:cNvPr>
          <p:cNvSpPr>
            <a:spLocks noGrp="1"/>
          </p:cNvSpPr>
          <p:nvPr>
            <p:ph type="dt" sz="half" idx="10"/>
          </p:nvPr>
        </p:nvSpPr>
        <p:spPr/>
        <p:txBody>
          <a:bodyPr/>
          <a:lstStyle/>
          <a:p>
            <a:fld id="{062953E0-8A16-0E44-BEDE-582B17F0DE13}" type="datetimeFigureOut">
              <a:rPr lang="en-US" smtClean="0"/>
              <a:t>9/23/26</a:t>
            </a:fld>
            <a:endParaRPr lang="en-US"/>
          </a:p>
        </p:txBody>
      </p:sp>
      <p:sp>
        <p:nvSpPr>
          <p:cNvPr id="6" name="Footer Placeholder 5">
            <a:extLst>
              <a:ext uri="{FF2B5EF4-FFF2-40B4-BE49-F238E27FC236}">
                <a16:creationId xmlns:a16="http://schemas.microsoft.com/office/drawing/2014/main" id="{1714AF32-0B8B-D33D-DFE8-9D1E3EEE17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BB901B-B22E-0FBB-28F4-9FF6ABFB15B6}"/>
              </a:ext>
            </a:extLst>
          </p:cNvPr>
          <p:cNvSpPr>
            <a:spLocks noGrp="1"/>
          </p:cNvSpPr>
          <p:nvPr>
            <p:ph type="sldNum" sz="quarter" idx="12"/>
          </p:nvPr>
        </p:nvSpPr>
        <p:spPr/>
        <p:txBody>
          <a:bodyPr/>
          <a:lstStyle/>
          <a:p>
            <a:fld id="{0A15EACB-325C-734F-8BDE-FF6F1085496A}" type="slidenum">
              <a:rPr lang="en-US" smtClean="0"/>
              <a:t>‹#›</a:t>
            </a:fld>
            <a:endParaRPr lang="en-US"/>
          </a:p>
        </p:txBody>
      </p:sp>
    </p:spTree>
    <p:extLst>
      <p:ext uri="{BB962C8B-B14F-4D97-AF65-F5344CB8AC3E}">
        <p14:creationId xmlns:p14="http://schemas.microsoft.com/office/powerpoint/2010/main" val="22026939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93A5E-C040-012B-5441-178D671F3CA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7A071E0-59FF-D28B-A3C3-8C29FD493112}"/>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AEF431-6C45-6703-4736-1A29F647869A}"/>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8B5AF11-82E4-90D1-02E3-B81BD358C585}"/>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53528C-5C2A-47BF-D909-BF25EDFFCC34}"/>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90EDFEF-C4F1-C84A-7A2E-00EBDAF3B971}"/>
              </a:ext>
            </a:extLst>
          </p:cNvPr>
          <p:cNvSpPr>
            <a:spLocks noGrp="1"/>
          </p:cNvSpPr>
          <p:nvPr>
            <p:ph type="dt" sz="half" idx="10"/>
          </p:nvPr>
        </p:nvSpPr>
        <p:spPr/>
        <p:txBody>
          <a:bodyPr/>
          <a:lstStyle/>
          <a:p>
            <a:fld id="{062953E0-8A16-0E44-BEDE-582B17F0DE13}" type="datetimeFigureOut">
              <a:rPr lang="en-US" smtClean="0"/>
              <a:t>9/23/26</a:t>
            </a:fld>
            <a:endParaRPr lang="en-US"/>
          </a:p>
        </p:txBody>
      </p:sp>
      <p:sp>
        <p:nvSpPr>
          <p:cNvPr id="8" name="Footer Placeholder 7">
            <a:extLst>
              <a:ext uri="{FF2B5EF4-FFF2-40B4-BE49-F238E27FC236}">
                <a16:creationId xmlns:a16="http://schemas.microsoft.com/office/drawing/2014/main" id="{96772F21-772F-3B65-9A3D-02236AFEF5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69EFB69-BE06-2C9E-CB06-E59CEEDAA8FF}"/>
              </a:ext>
            </a:extLst>
          </p:cNvPr>
          <p:cNvSpPr>
            <a:spLocks noGrp="1"/>
          </p:cNvSpPr>
          <p:nvPr>
            <p:ph type="sldNum" sz="quarter" idx="12"/>
          </p:nvPr>
        </p:nvSpPr>
        <p:spPr/>
        <p:txBody>
          <a:bodyPr/>
          <a:lstStyle/>
          <a:p>
            <a:fld id="{0A15EACB-325C-734F-8BDE-FF6F1085496A}" type="slidenum">
              <a:rPr lang="en-US" smtClean="0"/>
              <a:t>‹#›</a:t>
            </a:fld>
            <a:endParaRPr lang="en-US"/>
          </a:p>
        </p:txBody>
      </p:sp>
    </p:spTree>
    <p:extLst>
      <p:ext uri="{BB962C8B-B14F-4D97-AF65-F5344CB8AC3E}">
        <p14:creationId xmlns:p14="http://schemas.microsoft.com/office/powerpoint/2010/main" val="26937251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5265B-EB52-9981-8CBF-BBAD31AC8F6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67E1F11-0328-90F8-3856-DB9EC7CAA3FC}"/>
              </a:ext>
            </a:extLst>
          </p:cNvPr>
          <p:cNvSpPr>
            <a:spLocks noGrp="1"/>
          </p:cNvSpPr>
          <p:nvPr>
            <p:ph type="dt" sz="half" idx="10"/>
          </p:nvPr>
        </p:nvSpPr>
        <p:spPr/>
        <p:txBody>
          <a:bodyPr/>
          <a:lstStyle/>
          <a:p>
            <a:fld id="{062953E0-8A16-0E44-BEDE-582B17F0DE13}" type="datetimeFigureOut">
              <a:rPr lang="en-US" smtClean="0"/>
              <a:t>9/23/26</a:t>
            </a:fld>
            <a:endParaRPr lang="en-US"/>
          </a:p>
        </p:txBody>
      </p:sp>
      <p:sp>
        <p:nvSpPr>
          <p:cNvPr id="4" name="Footer Placeholder 3">
            <a:extLst>
              <a:ext uri="{FF2B5EF4-FFF2-40B4-BE49-F238E27FC236}">
                <a16:creationId xmlns:a16="http://schemas.microsoft.com/office/drawing/2014/main" id="{B1B99B8C-4D90-A518-B794-5AB24D36C00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0473DD-6F5F-012F-D5A5-5ACDADB8F0A4}"/>
              </a:ext>
            </a:extLst>
          </p:cNvPr>
          <p:cNvSpPr>
            <a:spLocks noGrp="1"/>
          </p:cNvSpPr>
          <p:nvPr>
            <p:ph type="sldNum" sz="quarter" idx="12"/>
          </p:nvPr>
        </p:nvSpPr>
        <p:spPr/>
        <p:txBody>
          <a:bodyPr/>
          <a:lstStyle/>
          <a:p>
            <a:fld id="{0A15EACB-325C-734F-8BDE-FF6F1085496A}" type="slidenum">
              <a:rPr lang="en-US" smtClean="0"/>
              <a:t>‹#›</a:t>
            </a:fld>
            <a:endParaRPr lang="en-US"/>
          </a:p>
        </p:txBody>
      </p:sp>
    </p:spTree>
    <p:extLst>
      <p:ext uri="{BB962C8B-B14F-4D97-AF65-F5344CB8AC3E}">
        <p14:creationId xmlns:p14="http://schemas.microsoft.com/office/powerpoint/2010/main" val="37606260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F8C129-BAFE-4BCC-0C93-4DC6B4A06691}"/>
              </a:ext>
            </a:extLst>
          </p:cNvPr>
          <p:cNvSpPr>
            <a:spLocks noGrp="1"/>
          </p:cNvSpPr>
          <p:nvPr>
            <p:ph type="dt" sz="half" idx="10"/>
          </p:nvPr>
        </p:nvSpPr>
        <p:spPr/>
        <p:txBody>
          <a:bodyPr/>
          <a:lstStyle/>
          <a:p>
            <a:fld id="{062953E0-8A16-0E44-BEDE-582B17F0DE13}" type="datetimeFigureOut">
              <a:rPr lang="en-US" smtClean="0"/>
              <a:t>9/23/26</a:t>
            </a:fld>
            <a:endParaRPr lang="en-US"/>
          </a:p>
        </p:txBody>
      </p:sp>
      <p:sp>
        <p:nvSpPr>
          <p:cNvPr id="3" name="Footer Placeholder 2">
            <a:extLst>
              <a:ext uri="{FF2B5EF4-FFF2-40B4-BE49-F238E27FC236}">
                <a16:creationId xmlns:a16="http://schemas.microsoft.com/office/drawing/2014/main" id="{2A010C47-C6C1-BAE3-CDB6-DAD6F358EC0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51429EF-E7EC-514F-3C7A-5AFEC945B9A4}"/>
              </a:ext>
            </a:extLst>
          </p:cNvPr>
          <p:cNvSpPr>
            <a:spLocks noGrp="1"/>
          </p:cNvSpPr>
          <p:nvPr>
            <p:ph type="sldNum" sz="quarter" idx="12"/>
          </p:nvPr>
        </p:nvSpPr>
        <p:spPr/>
        <p:txBody>
          <a:bodyPr/>
          <a:lstStyle/>
          <a:p>
            <a:fld id="{0A15EACB-325C-734F-8BDE-FF6F1085496A}" type="slidenum">
              <a:rPr lang="en-US" smtClean="0"/>
              <a:t>‹#›</a:t>
            </a:fld>
            <a:endParaRPr lang="en-US"/>
          </a:p>
        </p:txBody>
      </p:sp>
    </p:spTree>
    <p:extLst>
      <p:ext uri="{BB962C8B-B14F-4D97-AF65-F5344CB8AC3E}">
        <p14:creationId xmlns:p14="http://schemas.microsoft.com/office/powerpoint/2010/main" val="15968986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7DC9B-4674-8A18-FA61-EE7255F5E9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BEC003-8163-593C-1101-CC019FB2F1B8}"/>
              </a:ext>
            </a:extLst>
          </p:cNvPr>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3CF840F-DE4E-8CDC-A377-EAC38AC56422}"/>
              </a:ext>
            </a:extLst>
          </p:cNvPr>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42A41C-ACEB-0249-5EB3-C34A37D3BC7A}"/>
              </a:ext>
            </a:extLst>
          </p:cNvPr>
          <p:cNvSpPr>
            <a:spLocks noGrp="1"/>
          </p:cNvSpPr>
          <p:nvPr>
            <p:ph type="dt" sz="half" idx="10"/>
          </p:nvPr>
        </p:nvSpPr>
        <p:spPr/>
        <p:txBody>
          <a:bodyPr/>
          <a:lstStyle/>
          <a:p>
            <a:fld id="{062953E0-8A16-0E44-BEDE-582B17F0DE13}" type="datetimeFigureOut">
              <a:rPr lang="en-US" smtClean="0"/>
              <a:t>9/23/26</a:t>
            </a:fld>
            <a:endParaRPr lang="en-US"/>
          </a:p>
        </p:txBody>
      </p:sp>
      <p:sp>
        <p:nvSpPr>
          <p:cNvPr id="6" name="Footer Placeholder 5">
            <a:extLst>
              <a:ext uri="{FF2B5EF4-FFF2-40B4-BE49-F238E27FC236}">
                <a16:creationId xmlns:a16="http://schemas.microsoft.com/office/drawing/2014/main" id="{5A3F22DD-AA08-FD57-4C9A-D4BB5A2277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308237-F26F-7C33-85C8-495E9076E93B}"/>
              </a:ext>
            </a:extLst>
          </p:cNvPr>
          <p:cNvSpPr>
            <a:spLocks noGrp="1"/>
          </p:cNvSpPr>
          <p:nvPr>
            <p:ph type="sldNum" sz="quarter" idx="12"/>
          </p:nvPr>
        </p:nvSpPr>
        <p:spPr/>
        <p:txBody>
          <a:bodyPr/>
          <a:lstStyle/>
          <a:p>
            <a:fld id="{0A15EACB-325C-734F-8BDE-FF6F1085496A}" type="slidenum">
              <a:rPr lang="en-US" smtClean="0"/>
              <a:t>‹#›</a:t>
            </a:fld>
            <a:endParaRPr lang="en-US"/>
          </a:p>
        </p:txBody>
      </p:sp>
    </p:spTree>
    <p:extLst>
      <p:ext uri="{BB962C8B-B14F-4D97-AF65-F5344CB8AC3E}">
        <p14:creationId xmlns:p14="http://schemas.microsoft.com/office/powerpoint/2010/main" val="12417625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F67D0-420B-A2A6-7670-17DECCF704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B73A9B-4F6C-7D10-D8B4-8F0BD180859E}"/>
              </a:ext>
            </a:extLst>
          </p:cNvPr>
          <p:cNvSpPr>
            <a:spLocks noGrp="1"/>
          </p:cNvSpPr>
          <p:nvPr>
            <p:ph type="pic" idx="1"/>
          </p:nvPr>
        </p:nvSpPr>
        <p:spPr>
          <a:xfrm>
            <a:off x="5183188" y="987426"/>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a:extLst>
              <a:ext uri="{FF2B5EF4-FFF2-40B4-BE49-F238E27FC236}">
                <a16:creationId xmlns:a16="http://schemas.microsoft.com/office/drawing/2014/main" id="{C4C656A6-167A-3B4D-3FA1-8AA4F8F51C2C}"/>
              </a:ext>
            </a:extLst>
          </p:cNvPr>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05B534-F8D5-2CD1-D4D8-4FBF585421C5}"/>
              </a:ext>
            </a:extLst>
          </p:cNvPr>
          <p:cNvSpPr>
            <a:spLocks noGrp="1"/>
          </p:cNvSpPr>
          <p:nvPr>
            <p:ph type="dt" sz="half" idx="10"/>
          </p:nvPr>
        </p:nvSpPr>
        <p:spPr/>
        <p:txBody>
          <a:bodyPr/>
          <a:lstStyle/>
          <a:p>
            <a:fld id="{062953E0-8A16-0E44-BEDE-582B17F0DE13}" type="datetimeFigureOut">
              <a:rPr lang="en-US" smtClean="0"/>
              <a:t>9/23/26</a:t>
            </a:fld>
            <a:endParaRPr lang="en-US"/>
          </a:p>
        </p:txBody>
      </p:sp>
      <p:sp>
        <p:nvSpPr>
          <p:cNvPr id="6" name="Footer Placeholder 5">
            <a:extLst>
              <a:ext uri="{FF2B5EF4-FFF2-40B4-BE49-F238E27FC236}">
                <a16:creationId xmlns:a16="http://schemas.microsoft.com/office/drawing/2014/main" id="{352D97B7-A510-2350-EAE0-7674885D8E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6D7E4B-36C0-E010-C9EB-EB43AD4EB1EB}"/>
              </a:ext>
            </a:extLst>
          </p:cNvPr>
          <p:cNvSpPr>
            <a:spLocks noGrp="1"/>
          </p:cNvSpPr>
          <p:nvPr>
            <p:ph type="sldNum" sz="quarter" idx="12"/>
          </p:nvPr>
        </p:nvSpPr>
        <p:spPr/>
        <p:txBody>
          <a:bodyPr/>
          <a:lstStyle/>
          <a:p>
            <a:fld id="{0A15EACB-325C-734F-8BDE-FF6F1085496A}" type="slidenum">
              <a:rPr lang="en-US" smtClean="0"/>
              <a:t>‹#›</a:t>
            </a:fld>
            <a:endParaRPr lang="en-US"/>
          </a:p>
        </p:txBody>
      </p:sp>
    </p:spTree>
    <p:extLst>
      <p:ext uri="{BB962C8B-B14F-4D97-AF65-F5344CB8AC3E}">
        <p14:creationId xmlns:p14="http://schemas.microsoft.com/office/powerpoint/2010/main" val="4715627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B8C1A-22E0-ED0F-0830-C0A2D9E48FD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4BFE891-3DB1-0780-3DC9-DD7B6E66A3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9F3CFB-D828-5DC1-9A4C-42F90B01F241}"/>
              </a:ext>
            </a:extLst>
          </p:cNvPr>
          <p:cNvSpPr>
            <a:spLocks noGrp="1"/>
          </p:cNvSpPr>
          <p:nvPr>
            <p:ph type="dt" sz="half" idx="10"/>
          </p:nvPr>
        </p:nvSpPr>
        <p:spPr/>
        <p:txBody>
          <a:bodyPr/>
          <a:lstStyle/>
          <a:p>
            <a:fld id="{062953E0-8A16-0E44-BEDE-582B17F0DE13}" type="datetimeFigureOut">
              <a:rPr lang="en-US" smtClean="0"/>
              <a:t>9/23/26</a:t>
            </a:fld>
            <a:endParaRPr lang="en-US"/>
          </a:p>
        </p:txBody>
      </p:sp>
      <p:sp>
        <p:nvSpPr>
          <p:cNvPr id="5" name="Footer Placeholder 4">
            <a:extLst>
              <a:ext uri="{FF2B5EF4-FFF2-40B4-BE49-F238E27FC236}">
                <a16:creationId xmlns:a16="http://schemas.microsoft.com/office/drawing/2014/main" id="{815E14AE-C832-6C0C-3E90-8030FCC1D8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E4DE14-C3F3-7E37-1E39-20A8216ED6D8}"/>
              </a:ext>
            </a:extLst>
          </p:cNvPr>
          <p:cNvSpPr>
            <a:spLocks noGrp="1"/>
          </p:cNvSpPr>
          <p:nvPr>
            <p:ph type="sldNum" sz="quarter" idx="12"/>
          </p:nvPr>
        </p:nvSpPr>
        <p:spPr/>
        <p:txBody>
          <a:bodyPr/>
          <a:lstStyle/>
          <a:p>
            <a:fld id="{0A15EACB-325C-734F-8BDE-FF6F1085496A}" type="slidenum">
              <a:rPr lang="en-US" smtClean="0"/>
              <a:t>‹#›</a:t>
            </a:fld>
            <a:endParaRPr lang="en-US"/>
          </a:p>
        </p:txBody>
      </p:sp>
    </p:spTree>
    <p:extLst>
      <p:ext uri="{BB962C8B-B14F-4D97-AF65-F5344CB8AC3E}">
        <p14:creationId xmlns:p14="http://schemas.microsoft.com/office/powerpoint/2010/main" val="11799614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2EED11-314D-0B79-A46A-93A33B19C429}"/>
              </a:ext>
            </a:extLst>
          </p:cNvPr>
          <p:cNvSpPr>
            <a:spLocks noGrp="1"/>
          </p:cNvSpPr>
          <p:nvPr>
            <p:ph type="title" orient="vert"/>
          </p:nvPr>
        </p:nvSpPr>
        <p:spPr>
          <a:xfrm>
            <a:off x="8724901" y="365126"/>
            <a:ext cx="2628900" cy="581183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7BA6BF-8859-0A9D-42F9-B51215A84A65}"/>
              </a:ext>
            </a:extLst>
          </p:cNvPr>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93E2C5-70BD-A427-027E-783D0973F9D2}"/>
              </a:ext>
            </a:extLst>
          </p:cNvPr>
          <p:cNvSpPr>
            <a:spLocks noGrp="1"/>
          </p:cNvSpPr>
          <p:nvPr>
            <p:ph type="dt" sz="half" idx="10"/>
          </p:nvPr>
        </p:nvSpPr>
        <p:spPr/>
        <p:txBody>
          <a:bodyPr/>
          <a:lstStyle/>
          <a:p>
            <a:fld id="{062953E0-8A16-0E44-BEDE-582B17F0DE13}" type="datetimeFigureOut">
              <a:rPr lang="en-US" smtClean="0"/>
              <a:t>9/23/26</a:t>
            </a:fld>
            <a:endParaRPr lang="en-US"/>
          </a:p>
        </p:txBody>
      </p:sp>
      <p:sp>
        <p:nvSpPr>
          <p:cNvPr id="5" name="Footer Placeholder 4">
            <a:extLst>
              <a:ext uri="{FF2B5EF4-FFF2-40B4-BE49-F238E27FC236}">
                <a16:creationId xmlns:a16="http://schemas.microsoft.com/office/drawing/2014/main" id="{2B6F37F6-572C-4694-5F89-207E9D9040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189BEA-0871-7FA8-00B2-A5B4066F3CFC}"/>
              </a:ext>
            </a:extLst>
          </p:cNvPr>
          <p:cNvSpPr>
            <a:spLocks noGrp="1"/>
          </p:cNvSpPr>
          <p:nvPr>
            <p:ph type="sldNum" sz="quarter" idx="12"/>
          </p:nvPr>
        </p:nvSpPr>
        <p:spPr/>
        <p:txBody>
          <a:bodyPr/>
          <a:lstStyle/>
          <a:p>
            <a:fld id="{0A15EACB-325C-734F-8BDE-FF6F1085496A}" type="slidenum">
              <a:rPr lang="en-US" smtClean="0"/>
              <a:t>‹#›</a:t>
            </a:fld>
            <a:endParaRPr lang="en-US"/>
          </a:p>
        </p:txBody>
      </p:sp>
    </p:spTree>
    <p:extLst>
      <p:ext uri="{BB962C8B-B14F-4D97-AF65-F5344CB8AC3E}">
        <p14:creationId xmlns:p14="http://schemas.microsoft.com/office/powerpoint/2010/main" val="21064124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6712224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theme" Target="../theme/theme2.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3.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lt2"/>
              </a:buClr>
              <a:buSzPts val="1800"/>
              <a:buChar char="●"/>
              <a:defRPr sz="1800">
                <a:solidFill>
                  <a:schemeClr val="lt2"/>
                </a:solidFill>
              </a:defRPr>
            </a:lvl1pPr>
            <a:lvl2pPr marL="914400" lvl="1" indent="-317500">
              <a:lnSpc>
                <a:spcPct val="115000"/>
              </a:lnSpc>
              <a:spcBef>
                <a:spcPts val="0"/>
              </a:spcBef>
              <a:spcAft>
                <a:spcPts val="0"/>
              </a:spcAft>
              <a:buClr>
                <a:schemeClr val="lt2"/>
              </a:buClr>
              <a:buSzPts val="1400"/>
              <a:buChar char="○"/>
              <a:defRPr>
                <a:solidFill>
                  <a:schemeClr val="lt2"/>
                </a:solidFill>
              </a:defRPr>
            </a:lvl2pPr>
            <a:lvl3pPr marL="1371600" lvl="2" indent="-317500">
              <a:lnSpc>
                <a:spcPct val="115000"/>
              </a:lnSpc>
              <a:spcBef>
                <a:spcPts val="0"/>
              </a:spcBef>
              <a:spcAft>
                <a:spcPts val="0"/>
              </a:spcAft>
              <a:buClr>
                <a:schemeClr val="lt2"/>
              </a:buClr>
              <a:buSzPts val="1400"/>
              <a:buChar char="■"/>
              <a:defRPr>
                <a:solidFill>
                  <a:schemeClr val="lt2"/>
                </a:solidFill>
              </a:defRPr>
            </a:lvl3pPr>
            <a:lvl4pPr marL="1828800" lvl="3" indent="-317500">
              <a:lnSpc>
                <a:spcPct val="115000"/>
              </a:lnSpc>
              <a:spcBef>
                <a:spcPts val="0"/>
              </a:spcBef>
              <a:spcAft>
                <a:spcPts val="0"/>
              </a:spcAft>
              <a:buClr>
                <a:schemeClr val="lt2"/>
              </a:buClr>
              <a:buSzPts val="1400"/>
              <a:buChar char="●"/>
              <a:defRPr>
                <a:solidFill>
                  <a:schemeClr val="lt2"/>
                </a:solidFill>
              </a:defRPr>
            </a:lvl4pPr>
            <a:lvl5pPr marL="2286000" lvl="4" indent="-317500">
              <a:lnSpc>
                <a:spcPct val="115000"/>
              </a:lnSpc>
              <a:spcBef>
                <a:spcPts val="0"/>
              </a:spcBef>
              <a:spcAft>
                <a:spcPts val="0"/>
              </a:spcAft>
              <a:buClr>
                <a:schemeClr val="lt2"/>
              </a:buClr>
              <a:buSzPts val="1400"/>
              <a:buChar char="○"/>
              <a:defRPr>
                <a:solidFill>
                  <a:schemeClr val="lt2"/>
                </a:solidFill>
              </a:defRPr>
            </a:lvl5pPr>
            <a:lvl6pPr marL="2743200" lvl="5" indent="-317500">
              <a:lnSpc>
                <a:spcPct val="115000"/>
              </a:lnSpc>
              <a:spcBef>
                <a:spcPts val="0"/>
              </a:spcBef>
              <a:spcAft>
                <a:spcPts val="0"/>
              </a:spcAft>
              <a:buClr>
                <a:schemeClr val="lt2"/>
              </a:buClr>
              <a:buSzPts val="1400"/>
              <a:buChar char="■"/>
              <a:defRPr>
                <a:solidFill>
                  <a:schemeClr val="lt2"/>
                </a:solidFill>
              </a:defRPr>
            </a:lvl6pPr>
            <a:lvl7pPr marL="3200400" lvl="6" indent="-317500">
              <a:lnSpc>
                <a:spcPct val="115000"/>
              </a:lnSpc>
              <a:spcBef>
                <a:spcPts val="0"/>
              </a:spcBef>
              <a:spcAft>
                <a:spcPts val="0"/>
              </a:spcAft>
              <a:buClr>
                <a:schemeClr val="lt2"/>
              </a:buClr>
              <a:buSzPts val="1400"/>
              <a:buChar char="●"/>
              <a:defRPr>
                <a:solidFill>
                  <a:schemeClr val="lt2"/>
                </a:solidFill>
              </a:defRPr>
            </a:lvl7pPr>
            <a:lvl8pPr marL="3657600" lvl="7" indent="-317500">
              <a:lnSpc>
                <a:spcPct val="115000"/>
              </a:lnSpc>
              <a:spcBef>
                <a:spcPts val="0"/>
              </a:spcBef>
              <a:spcAft>
                <a:spcPts val="0"/>
              </a:spcAft>
              <a:buClr>
                <a:schemeClr val="lt2"/>
              </a:buClr>
              <a:buSzPts val="1400"/>
              <a:buChar char="○"/>
              <a:defRPr>
                <a:solidFill>
                  <a:schemeClr val="lt2"/>
                </a:solidFill>
              </a:defRPr>
            </a:lvl8pPr>
            <a:lvl9pPr marL="4114800" lvl="8" indent="-317500">
              <a:lnSpc>
                <a:spcPct val="115000"/>
              </a:lnSpc>
              <a:spcBef>
                <a:spcPts val="0"/>
              </a:spcBef>
              <a:spcAft>
                <a:spcPts val="0"/>
              </a:spcAft>
              <a:buClr>
                <a:schemeClr val="lt2"/>
              </a:buClr>
              <a:buSzPts val="1400"/>
              <a:buChar char="■"/>
              <a:defRPr>
                <a:solidFill>
                  <a:schemeClr val="lt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lt2"/>
                </a:solidFill>
              </a:defRPr>
            </a:lvl1pPr>
            <a:lvl2pPr lvl="1" algn="r">
              <a:buNone/>
              <a:defRPr sz="1333">
                <a:solidFill>
                  <a:schemeClr val="lt2"/>
                </a:solidFill>
              </a:defRPr>
            </a:lvl2pPr>
            <a:lvl3pPr lvl="2" algn="r">
              <a:buNone/>
              <a:defRPr sz="1333">
                <a:solidFill>
                  <a:schemeClr val="lt2"/>
                </a:solidFill>
              </a:defRPr>
            </a:lvl3pPr>
            <a:lvl4pPr lvl="3" algn="r">
              <a:buNone/>
              <a:defRPr sz="1333">
                <a:solidFill>
                  <a:schemeClr val="lt2"/>
                </a:solidFill>
              </a:defRPr>
            </a:lvl4pPr>
            <a:lvl5pPr lvl="4" algn="r">
              <a:buNone/>
              <a:defRPr sz="1333">
                <a:solidFill>
                  <a:schemeClr val="lt2"/>
                </a:solidFill>
              </a:defRPr>
            </a:lvl5pPr>
            <a:lvl6pPr lvl="5" algn="r">
              <a:buNone/>
              <a:defRPr sz="1333">
                <a:solidFill>
                  <a:schemeClr val="lt2"/>
                </a:solidFill>
              </a:defRPr>
            </a:lvl6pPr>
            <a:lvl7pPr lvl="6" algn="r">
              <a:buNone/>
              <a:defRPr sz="1333">
                <a:solidFill>
                  <a:schemeClr val="lt2"/>
                </a:solidFill>
              </a:defRPr>
            </a:lvl7pPr>
            <a:lvl8pPr lvl="7" algn="r">
              <a:buNone/>
              <a:defRPr sz="1333">
                <a:solidFill>
                  <a:schemeClr val="lt2"/>
                </a:solidFill>
              </a:defRPr>
            </a:lvl8pPr>
            <a:lvl9pPr lvl="8" algn="r">
              <a:buNone/>
              <a:defRPr sz="1333">
                <a:solidFill>
                  <a:schemeClr val="lt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225714864"/>
      </p:ext>
    </p:extLst>
  </p:cSld>
  <p:clrMap bg1="lt1" tx1="dk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D1772C-3AEB-FCB4-6657-35961CD5A9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5923E0C-5208-D6DB-168D-030EA316C85B}"/>
              </a:ext>
            </a:extLst>
          </p:cNvPr>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FFDD7FF-DAF2-AC86-B8D6-CEE6592F0CD8}"/>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2953E0-8A16-0E44-BEDE-582B17F0DE13}" type="datetimeFigureOut">
              <a:rPr lang="en-US" smtClean="0"/>
              <a:t>9/23/26</a:t>
            </a:fld>
            <a:endParaRPr lang="en-US"/>
          </a:p>
        </p:txBody>
      </p:sp>
      <p:sp>
        <p:nvSpPr>
          <p:cNvPr id="5" name="Footer Placeholder 4">
            <a:extLst>
              <a:ext uri="{FF2B5EF4-FFF2-40B4-BE49-F238E27FC236}">
                <a16:creationId xmlns:a16="http://schemas.microsoft.com/office/drawing/2014/main" id="{FA4A087C-2378-9150-BF31-7EABCB150ACC}"/>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1FBD8D-8DB5-CDD5-4B3A-56B7A00FFEAC}"/>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15EACB-325C-734F-8BDE-FF6F1085496A}" type="slidenum">
              <a:rPr lang="en-US" smtClean="0"/>
              <a:t>‹#›</a:t>
            </a:fld>
            <a:endParaRPr lang="en-US"/>
          </a:p>
        </p:txBody>
      </p:sp>
    </p:spTree>
    <p:extLst>
      <p:ext uri="{BB962C8B-B14F-4D97-AF65-F5344CB8AC3E}">
        <p14:creationId xmlns:p14="http://schemas.microsoft.com/office/powerpoint/2010/main" val="2441388615"/>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b="0" i="0" kern="1200">
          <a:solidFill>
            <a:schemeClr val="tx1"/>
          </a:solidFill>
          <a:latin typeface="Century Gothic" panose="020B0502020202020204" pitchFamily="34" charset="0"/>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b="0" i="0" kern="1200">
          <a:solidFill>
            <a:schemeClr val="tx1"/>
          </a:solidFill>
          <a:latin typeface="Century Gothic" panose="020B0502020202020204" pitchFamily="34" charset="0"/>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b="0" i="0" kern="1200">
          <a:solidFill>
            <a:schemeClr val="tx1"/>
          </a:solidFill>
          <a:latin typeface="Century Gothic" panose="020B0502020202020204" pitchFamily="34" charset="0"/>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b="0" i="0" kern="1200">
          <a:solidFill>
            <a:schemeClr val="tx1"/>
          </a:solidFill>
          <a:latin typeface="Century Gothic" panose="020B0502020202020204" pitchFamily="34" charset="0"/>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b="0" i="0" kern="1200">
          <a:solidFill>
            <a:schemeClr val="tx1"/>
          </a:solidFill>
          <a:latin typeface="Century Gothic" panose="020B0502020202020204" pitchFamily="34"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8" Type="http://schemas.openxmlformats.org/officeDocument/2006/relationships/image" Target="../media/image4.svg"/><Relationship Id="rId13" Type="http://schemas.openxmlformats.org/officeDocument/2006/relationships/image" Target="../media/image7.png"/><Relationship Id="rId3" Type="http://schemas.openxmlformats.org/officeDocument/2006/relationships/tags" Target="../tags/tag4.xml"/><Relationship Id="rId7" Type="http://schemas.openxmlformats.org/officeDocument/2006/relationships/image" Target="../media/image3.png"/><Relationship Id="rId12" Type="http://schemas.openxmlformats.org/officeDocument/2006/relationships/hyperlink" Target="https://www.slido.com/support/ppi/how-to-change-the-design" TargetMode="Externa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Layout" Target="../slideLayouts/slideLayout2.xml"/><Relationship Id="rId11" Type="http://schemas.openxmlformats.org/officeDocument/2006/relationships/image" Target="../media/image6.svg"/><Relationship Id="rId5" Type="http://schemas.openxmlformats.org/officeDocument/2006/relationships/tags" Target="../tags/tag6.xml"/><Relationship Id="rId10" Type="http://schemas.openxmlformats.org/officeDocument/2006/relationships/image" Target="../media/image5.png"/><Relationship Id="rId4" Type="http://schemas.openxmlformats.org/officeDocument/2006/relationships/tags" Target="../tags/tag5.xml"/><Relationship Id="rId9" Type="http://schemas.openxmlformats.org/officeDocument/2006/relationships/hyperlink" Target="https://www.slido.com/powerpoint-polling?utm_source=powerpoint&amp;utm_medium=placeholder-slide" TargetMode="External"/><Relationship Id="rId14"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4.svg"/><Relationship Id="rId13" Type="http://schemas.openxmlformats.org/officeDocument/2006/relationships/image" Target="../media/image7.png"/><Relationship Id="rId3" Type="http://schemas.openxmlformats.org/officeDocument/2006/relationships/tags" Target="../tags/tag9.xml"/><Relationship Id="rId7" Type="http://schemas.openxmlformats.org/officeDocument/2006/relationships/image" Target="../media/image3.png"/><Relationship Id="rId12" Type="http://schemas.openxmlformats.org/officeDocument/2006/relationships/hyperlink" Target="https://www.slido.com/support/ppi/how-to-change-the-design" TargetMode="Externa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Layout" Target="../slideLayouts/slideLayout2.xml"/><Relationship Id="rId11" Type="http://schemas.openxmlformats.org/officeDocument/2006/relationships/image" Target="../media/image6.svg"/><Relationship Id="rId5" Type="http://schemas.openxmlformats.org/officeDocument/2006/relationships/tags" Target="../tags/tag11.xml"/><Relationship Id="rId10" Type="http://schemas.openxmlformats.org/officeDocument/2006/relationships/image" Target="../media/image5.png"/><Relationship Id="rId4" Type="http://schemas.openxmlformats.org/officeDocument/2006/relationships/tags" Target="../tags/tag10.xml"/><Relationship Id="rId9" Type="http://schemas.openxmlformats.org/officeDocument/2006/relationships/hyperlink" Target="https://www.slido.com/powerpoint-polling?utm_source=powerpoint&amp;utm_medium=placeholder-slide" TargetMode="External"/><Relationship Id="rId14"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image" Target="../media/image12.png"/><Relationship Id="rId5" Type="http://schemas.openxmlformats.org/officeDocument/2006/relationships/image" Target="../media/image11.jpg"/><Relationship Id="rId4" Type="http://schemas.openxmlformats.org/officeDocument/2006/relationships/image" Target="../media/image10.jpg"/></Relationships>
</file>

<file path=ppt/slides/_rels/slide7.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image" Target="../media/image13.emf"/><Relationship Id="rId7" Type="http://schemas.openxmlformats.org/officeDocument/2006/relationships/image" Target="../media/image17.emf"/><Relationship Id="rId2" Type="http://schemas.openxmlformats.org/officeDocument/2006/relationships/notesSlide" Target="../notesSlides/notesSlide3.xml"/><Relationship Id="rId1" Type="http://schemas.openxmlformats.org/officeDocument/2006/relationships/slideLayout" Target="../slideLayouts/slideLayout19.xml"/><Relationship Id="rId6" Type="http://schemas.openxmlformats.org/officeDocument/2006/relationships/image" Target="../media/image16.emf"/><Relationship Id="rId5" Type="http://schemas.openxmlformats.org/officeDocument/2006/relationships/image" Target="../media/image15.emf"/><Relationship Id="rId4" Type="http://schemas.openxmlformats.org/officeDocument/2006/relationships/image" Target="../media/image14.emf"/><Relationship Id="rId9" Type="http://schemas.openxmlformats.org/officeDocument/2006/relationships/image" Target="../media/image19.emf"/></Relationships>
</file>

<file path=ppt/slides/_rels/slide8.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20.emf"/><Relationship Id="rId7" Type="http://schemas.openxmlformats.org/officeDocument/2006/relationships/image" Target="../media/image17.emf"/><Relationship Id="rId2" Type="http://schemas.openxmlformats.org/officeDocument/2006/relationships/notesSlide" Target="../notesSlides/notesSlide4.xml"/><Relationship Id="rId1" Type="http://schemas.openxmlformats.org/officeDocument/2006/relationships/slideLayout" Target="../slideLayouts/slideLayout19.xml"/><Relationship Id="rId6" Type="http://schemas.openxmlformats.org/officeDocument/2006/relationships/image" Target="../media/image16.emf"/><Relationship Id="rId5" Type="http://schemas.openxmlformats.org/officeDocument/2006/relationships/image" Target="../media/image21.emf"/><Relationship Id="rId4" Type="http://schemas.openxmlformats.org/officeDocument/2006/relationships/image" Target="../media/image14.emf"/><Relationship Id="rId9" Type="http://schemas.openxmlformats.org/officeDocument/2006/relationships/image" Target="../media/image22.emf"/></Relationships>
</file>

<file path=ppt/slides/_rels/slide9.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20.emf"/><Relationship Id="rId7" Type="http://schemas.openxmlformats.org/officeDocument/2006/relationships/image" Target="../media/image17.emf"/><Relationship Id="rId2" Type="http://schemas.openxmlformats.org/officeDocument/2006/relationships/notesSlide" Target="../notesSlides/notesSlide5.xml"/><Relationship Id="rId1" Type="http://schemas.openxmlformats.org/officeDocument/2006/relationships/slideLayout" Target="../slideLayouts/slideLayout19.xml"/><Relationship Id="rId6" Type="http://schemas.openxmlformats.org/officeDocument/2006/relationships/image" Target="../media/image16.emf"/><Relationship Id="rId5" Type="http://schemas.openxmlformats.org/officeDocument/2006/relationships/image" Target="../media/image21.emf"/><Relationship Id="rId4" Type="http://schemas.openxmlformats.org/officeDocument/2006/relationships/image" Target="../media/image14.emf"/><Relationship Id="rId9" Type="http://schemas.openxmlformats.org/officeDocument/2006/relationships/image" Target="../media/image22.emf"/></Relationships>
</file>

<file path=ppt/slides/_rels/slide10.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20.emf"/><Relationship Id="rId7" Type="http://schemas.openxmlformats.org/officeDocument/2006/relationships/image" Target="../media/image17.emf"/><Relationship Id="rId2" Type="http://schemas.openxmlformats.org/officeDocument/2006/relationships/notesSlide" Target="../notesSlides/notesSlide6.xml"/><Relationship Id="rId1" Type="http://schemas.openxmlformats.org/officeDocument/2006/relationships/slideLayout" Target="../slideLayouts/slideLayout19.xml"/><Relationship Id="rId6" Type="http://schemas.openxmlformats.org/officeDocument/2006/relationships/image" Target="../media/image16.emf"/><Relationship Id="rId5" Type="http://schemas.openxmlformats.org/officeDocument/2006/relationships/image" Target="../media/image21.emf"/><Relationship Id="rId4" Type="http://schemas.openxmlformats.org/officeDocument/2006/relationships/image" Target="../media/image14.emf"/><Relationship Id="rId9" Type="http://schemas.openxmlformats.org/officeDocument/2006/relationships/image" Target="../media/image22.emf"/></Relationships>
</file>

<file path=ppt/slides/_rels/slide11.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20.emf"/><Relationship Id="rId7" Type="http://schemas.openxmlformats.org/officeDocument/2006/relationships/image" Target="../media/image17.emf"/><Relationship Id="rId2" Type="http://schemas.openxmlformats.org/officeDocument/2006/relationships/notesSlide" Target="../notesSlides/notesSlide7.xml"/><Relationship Id="rId1" Type="http://schemas.openxmlformats.org/officeDocument/2006/relationships/slideLayout" Target="../slideLayouts/slideLayout19.xml"/><Relationship Id="rId6" Type="http://schemas.openxmlformats.org/officeDocument/2006/relationships/image" Target="../media/image16.emf"/><Relationship Id="rId5" Type="http://schemas.openxmlformats.org/officeDocument/2006/relationships/image" Target="../media/image21.emf"/><Relationship Id="rId4" Type="http://schemas.openxmlformats.org/officeDocument/2006/relationships/image" Target="../media/image14.emf"/><Relationship Id="rId9" Type="http://schemas.openxmlformats.org/officeDocument/2006/relationships/image" Target="../media/image22.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hyperlink" Target="https://www.slido.com/support/ppi/how-to-change-the-design" TargetMode="External"/><Relationship Id="rId3" Type="http://schemas.openxmlformats.org/officeDocument/2006/relationships/tags" Target="../tags/tag14.xml"/><Relationship Id="rId7" Type="http://schemas.openxmlformats.org/officeDocument/2006/relationships/notesSlide" Target="../notesSlides/notesSlide23.xml"/><Relationship Id="rId12" Type="http://schemas.openxmlformats.org/officeDocument/2006/relationships/image" Target="../media/image6.sv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Layout" Target="../slideLayouts/slideLayout9.xml"/><Relationship Id="rId11" Type="http://schemas.openxmlformats.org/officeDocument/2006/relationships/image" Target="../media/image5.png"/><Relationship Id="rId5" Type="http://schemas.openxmlformats.org/officeDocument/2006/relationships/tags" Target="../tags/tag16.xml"/><Relationship Id="rId15" Type="http://schemas.openxmlformats.org/officeDocument/2006/relationships/image" Target="../media/image8.svg"/><Relationship Id="rId10" Type="http://schemas.openxmlformats.org/officeDocument/2006/relationships/hyperlink" Target="https://www.slido.com/powerpoint-polling?utm_source=powerpoint&amp;utm_medium=placeholder-slide" TargetMode="External"/><Relationship Id="rId4" Type="http://schemas.openxmlformats.org/officeDocument/2006/relationships/tags" Target="../tags/tag15.xml"/><Relationship Id="rId9" Type="http://schemas.openxmlformats.org/officeDocument/2006/relationships/image" Target="../media/image29.svg"/><Relationship Id="rId14"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tx1"/>
        </a:solidFill>
        <a:effectLst/>
      </p:bgPr>
    </p:bg>
    <p:spTree>
      <p:nvGrpSpPr>
        <p:cNvPr id="1" name=""/>
        <p:cNvGrpSpPr/>
        <p:nvPr/>
      </p:nvGrpSpPr>
      <p:grpSpPr>
        <a:xfrm>
          <a:off x="0" y="0"/>
          <a:ext cx="0" cy="0"/>
          <a:chOff x="0" y="0"/>
          <a:chExt cx="0" cy="0"/>
        </a:xfrm>
      </p:grpSpPr>
      <p:sp>
        <p:nvSpPr>
          <p:cNvPr id="2" name="Text 0"/>
          <p:cNvSpPr txBox="1"/>
          <p:nvPr/>
        </p:nvSpPr>
        <p:spPr>
          <a:xfrm>
            <a:off x="3773510" y="2331720"/>
            <a:ext cx="7595225" cy="640080"/>
          </a:xfrm>
          <a:prstGeom prst="rect">
            <a:avLst/>
          </a:prstGeom>
          <a:noFill/>
          <a:ln/>
        </p:spPr>
        <p:txBody>
          <a:bodyPr wrap="square" lIns="0" tIns="0" rIns="0" bIns="0" rtlCol="0" anchor="ctr"/>
          <a:lstStyle/>
          <a:p>
            <a:pPr marL="0" indent="0">
              <a:buNone/>
            </a:pPr>
            <a:r>
              <a:rPr lang="en-US" sz="3400" b="1" dirty="0">
                <a:solidFill>
                  <a:schemeClr val="accent4"/>
                </a:solidFill>
                <a:latin typeface="Consolas" panose="020B0609020204030204" pitchFamily="49" charset="0"/>
                <a:cs typeface="Consolas" panose="020B0609020204030204" pitchFamily="49" charset="0"/>
              </a:rPr>
              <a:t>module 1: </a:t>
            </a:r>
            <a:r>
              <a:rPr lang="en-US" sz="3400" b="1" dirty="0">
                <a:solidFill>
                  <a:srgbClr val="FF2F92"/>
                </a:solidFill>
                <a:latin typeface="Consolas" panose="020B0609020204030204" pitchFamily="49" charset="0"/>
                <a:cs typeface="Consolas" panose="020B0609020204030204" pitchFamily="49" charset="0"/>
              </a:rPr>
              <a:t>the politics of planetary scale data</a:t>
            </a:r>
            <a:endParaRPr lang="en-US" sz="3400" dirty="0">
              <a:solidFill>
                <a:srgbClr val="FF2F92"/>
              </a:solidFill>
              <a:latin typeface="Consolas" panose="020B0609020204030204" pitchFamily="49" charset="0"/>
              <a:cs typeface="Consolas" panose="020B0609020204030204" pitchFamily="49" charset="0"/>
            </a:endParaRPr>
          </a:p>
        </p:txBody>
      </p:sp>
      <p:sp>
        <p:nvSpPr>
          <p:cNvPr id="3" name="Text 1"/>
          <p:cNvSpPr txBox="1"/>
          <p:nvPr/>
        </p:nvSpPr>
        <p:spPr>
          <a:xfrm>
            <a:off x="3773509" y="3429001"/>
            <a:ext cx="7595225" cy="457200"/>
          </a:xfrm>
          <a:prstGeom prst="rect">
            <a:avLst/>
          </a:prstGeom>
          <a:noFill/>
          <a:ln/>
        </p:spPr>
        <p:txBody>
          <a:bodyPr wrap="square" lIns="0" tIns="0" rIns="0" bIns="0" rtlCol="0" anchor="ctr"/>
          <a:lstStyle/>
          <a:p>
            <a:pPr marL="0" indent="0">
              <a:buNone/>
            </a:pPr>
            <a:r>
              <a:rPr lang="en-US" sz="1700" b="1" dirty="0">
                <a:solidFill>
                  <a:schemeClr val="bg1"/>
                </a:solidFill>
                <a:latin typeface="Consolas" panose="020B0609020204030204" pitchFamily="49" charset="0"/>
                <a:ea typeface="Calibri" pitchFamily="34" charset="-122"/>
                <a:cs typeface="Consolas" panose="020B0609020204030204" pitchFamily="49" charset="0"/>
              </a:rPr>
              <a:t>Today: </a:t>
            </a:r>
            <a:r>
              <a:rPr lang="en-US" sz="1700" dirty="0">
                <a:solidFill>
                  <a:schemeClr val="bg1"/>
                </a:solidFill>
                <a:latin typeface="Consolas" panose="020B0609020204030204" pitchFamily="49" charset="0"/>
                <a:ea typeface="Calibri" pitchFamily="34" charset="-122"/>
                <a:cs typeface="Consolas" panose="020B0609020204030204" pitchFamily="49" charset="0"/>
              </a:rPr>
              <a:t>Intro to the module and working with large spatial data (without downloading all of it)</a:t>
            </a:r>
            <a:endParaRPr lang="en-US" sz="1700" dirty="0">
              <a:solidFill>
                <a:schemeClr val="bg1"/>
              </a:solidFill>
              <a:latin typeface="Consolas" panose="020B0609020204030204" pitchFamily="49" charset="0"/>
              <a:cs typeface="Consolas" panose="020B0609020204030204" pitchFamily="49" charset="0"/>
            </a:endParaRPr>
          </a:p>
        </p:txBody>
      </p:sp>
      <p:pic>
        <p:nvPicPr>
          <p:cNvPr id="7" name="Graphic 6">
            <a:extLst>
              <a:ext uri="{FF2B5EF4-FFF2-40B4-BE49-F238E27FC236}">
                <a16:creationId xmlns:a16="http://schemas.microsoft.com/office/drawing/2014/main" id="{B1D2ECE3-269D-8A0B-C7A0-A4D407AD6C3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08416" y="0"/>
            <a:ext cx="681228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7C008-F7E2-81E8-44A4-9598CE589AC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D82BE91-1BBF-511C-3A9E-91C93FCE1245}"/>
              </a:ext>
            </a:extLst>
          </p:cNvPr>
          <p:cNvSpPr txBox="1"/>
          <p:nvPr/>
        </p:nvSpPr>
        <p:spPr>
          <a:xfrm>
            <a:off x="1194619" y="2634936"/>
            <a:ext cx="4476266" cy="1588127"/>
          </a:xfrm>
          <a:prstGeom prst="rect">
            <a:avLst/>
          </a:prstGeom>
          <a:noFill/>
        </p:spPr>
        <p:txBody>
          <a:bodyPr wrap="square">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CC00"/>
                </a:solidFill>
                <a:effectLst/>
                <a:uLnTx/>
                <a:uFillTx/>
                <a:latin typeface="Consolas" panose="020B0609020204030204" pitchFamily="49" charset="0"/>
                <a:cs typeface="Consolas" panose="020B0609020204030204" pitchFamily="49" charset="0"/>
              </a:rPr>
              <a:t>Module 1</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3600" b="0" i="0" u="none" strike="noStrike" kern="1200" cap="none" spc="0" normalizeH="0" baseline="0" noProof="0" dirty="0">
                <a:ln>
                  <a:noFill/>
                </a:ln>
                <a:solidFill>
                  <a:prstClr val="white"/>
                </a:solidFill>
                <a:effectLst/>
                <a:uLnTx/>
                <a:uFillTx/>
                <a:latin typeface="Consolas" panose="020B0609020204030204" pitchFamily="49" charset="0"/>
                <a:cs typeface="Consolas" panose="020B0609020204030204" pitchFamily="49" charset="0"/>
              </a:rPr>
              <a:t>planetary scale data</a:t>
            </a:r>
          </a:p>
        </p:txBody>
      </p:sp>
      <p:sp>
        <p:nvSpPr>
          <p:cNvPr id="4" name="Plan">
            <a:extLst>
              <a:ext uri="{FF2B5EF4-FFF2-40B4-BE49-F238E27FC236}">
                <a16:creationId xmlns:a16="http://schemas.microsoft.com/office/drawing/2014/main" id="{46FB7DF8-D7CE-0D63-C526-56E0D4AA99ED}"/>
              </a:ext>
            </a:extLst>
          </p:cNvPr>
          <p:cNvSpPr txBox="1"/>
          <p:nvPr/>
        </p:nvSpPr>
        <p:spPr>
          <a:xfrm>
            <a:off x="5895474" y="1015999"/>
            <a:ext cx="5871928" cy="4826000"/>
          </a:xfrm>
          <a:prstGeom prst="rect">
            <a:avLst/>
          </a:prstGeom>
          <a:noFill/>
        </p:spPr>
        <p:txBody>
          <a:bodyPr wrap="square" lIns="91440" tIns="45720" rIns="91440" bIns="45720" anchor="ctr">
            <a:no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2400" b="0" i="0" u="none" strike="noStrike" kern="1200" cap="none" spc="0" normalizeH="0" baseline="0" noProof="0" dirty="0">
                <a:ln>
                  <a:noFill/>
                </a:ln>
                <a:solidFill>
                  <a:srgbClr val="FFCC00"/>
                </a:solidFill>
                <a:effectLst/>
                <a:uLnTx/>
                <a:uFillTx/>
                <a:latin typeface="Consolas" panose="020B0609020204030204" pitchFamily="49" charset="0"/>
                <a:cs typeface="Consolas" panose="020B0609020204030204" pitchFamily="49" charset="0"/>
              </a:rPr>
              <a:t>1. Global biodiversity data </a:t>
            </a:r>
          </a:p>
          <a:p>
            <a:pPr marL="0" marR="0" lvl="0" indent="0" algn="l" defTabSz="914400" rtl="0" eaLnBrk="1" fontAlgn="auto" latinLnBrk="0" hangingPunct="1">
              <a:lnSpc>
                <a:spcPct val="100000"/>
              </a:lnSpc>
              <a:spcBef>
                <a:spcPts val="0"/>
              </a:spcBef>
              <a:spcAft>
                <a:spcPts val="2400"/>
              </a:spcAft>
              <a:buClrTx/>
              <a:buSzTx/>
              <a:buFontTx/>
              <a:buNone/>
              <a:tabLst/>
              <a:defRPr/>
            </a:pPr>
            <a:r>
              <a:rPr kumimoji="0" lang="en-US" sz="1867" b="0" i="0" u="none" strike="noStrike" kern="1200" cap="none" spc="0" normalizeH="0" baseline="0" noProof="0" dirty="0">
                <a:ln>
                  <a:noFill/>
                </a:ln>
                <a:solidFill>
                  <a:srgbClr val="E9E9E9"/>
                </a:solidFill>
                <a:effectLst/>
                <a:uLnTx/>
                <a:uFillTx/>
                <a:latin typeface="Consolas" panose="020B0609020204030204" pitchFamily="49" charset="0"/>
                <a:cs typeface="Consolas" panose="020B0609020204030204" pitchFamily="49" charset="0"/>
              </a:rPr>
              <a:t>Where it lives and how it is distributed</a:t>
            </a: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2400" b="0" i="0" u="none" strike="noStrike" kern="1200" cap="none" spc="0" normalizeH="0" baseline="0" noProof="0" dirty="0">
                <a:ln>
                  <a:noFill/>
                </a:ln>
                <a:solidFill>
                  <a:srgbClr val="FFCC00"/>
                </a:solidFill>
                <a:effectLst/>
                <a:uLnTx/>
                <a:uFillTx/>
                <a:latin typeface="Consolas" panose="020B0609020204030204" pitchFamily="49" charset="0"/>
                <a:cs typeface="Consolas" panose="020B0609020204030204" pitchFamily="49" charset="0"/>
              </a:rPr>
              <a:t>2. Remote sensing data</a:t>
            </a:r>
          </a:p>
          <a:p>
            <a:pPr marL="0" marR="0" lvl="0" indent="0" algn="l" defTabSz="914400" rtl="0" eaLnBrk="1" fontAlgn="auto" latinLnBrk="0" hangingPunct="1">
              <a:lnSpc>
                <a:spcPct val="100000"/>
              </a:lnSpc>
              <a:spcBef>
                <a:spcPts val="0"/>
              </a:spcBef>
              <a:spcAft>
                <a:spcPts val="2400"/>
              </a:spcAft>
              <a:buClrTx/>
              <a:buSzTx/>
              <a:buFontTx/>
              <a:buNone/>
              <a:tabLst/>
              <a:defRPr/>
            </a:pPr>
            <a:r>
              <a:rPr kumimoji="0" lang="en-US" sz="1867" b="0" i="0" u="none" strike="noStrike" kern="1200" cap="none" spc="0" normalizeH="0" baseline="0" noProof="0" dirty="0">
                <a:ln>
                  <a:noFill/>
                </a:ln>
                <a:solidFill>
                  <a:srgbClr val="E9E9E9"/>
                </a:solidFill>
                <a:effectLst/>
                <a:uLnTx/>
                <a:uFillTx/>
                <a:latin typeface="Consolas" panose="020B0609020204030204" pitchFamily="49" charset="0"/>
                <a:cs typeface="Consolas" panose="020B0609020204030204" pitchFamily="49" charset="0"/>
              </a:rPr>
              <a:t>Assessing the greenness of landscapes</a:t>
            </a: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2400" b="0" i="0" u="none" strike="noStrike" kern="1200" cap="none" spc="0" normalizeH="0" baseline="0" noProof="0" dirty="0">
                <a:ln>
                  <a:noFill/>
                </a:ln>
                <a:solidFill>
                  <a:srgbClr val="FFCC00"/>
                </a:solidFill>
                <a:effectLst/>
                <a:uLnTx/>
                <a:uFillTx/>
                <a:latin typeface="Consolas" panose="020B0609020204030204" pitchFamily="49" charset="0"/>
                <a:cs typeface="Consolas" panose="020B0609020204030204" pitchFamily="49" charset="0"/>
              </a:rPr>
              <a:t>3. Sociopolitical 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67" b="0" i="0" u="none" strike="noStrike" kern="1200" cap="none" spc="0" normalizeH="0" baseline="0" noProof="0" dirty="0">
                <a:ln>
                  <a:noFill/>
                </a:ln>
                <a:solidFill>
                  <a:srgbClr val="E9E9E9"/>
                </a:solidFill>
                <a:effectLst/>
                <a:uLnTx/>
                <a:uFillTx/>
                <a:latin typeface="Consolas" panose="020B0609020204030204" pitchFamily="49" charset="0"/>
                <a:cs typeface="Consolas" panose="020B0609020204030204" pitchFamily="49" charset="0"/>
              </a:rPr>
              <a:t>Querying GDP and other governance indices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dirty="0">
              <a:ln>
                <a:noFill/>
              </a:ln>
              <a:solidFill>
                <a:srgbClr val="E9E9E9"/>
              </a:solidFill>
              <a:effectLst/>
              <a:uLnTx/>
              <a:uFillTx/>
              <a:latin typeface="Consolas" panose="020B0609020204030204" pitchFamily="49" charset="0"/>
              <a:cs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CC00"/>
                </a:solidFill>
                <a:effectLst/>
                <a:uLnTx/>
                <a:uFillTx/>
                <a:latin typeface="Consolas" panose="020B0609020204030204" pitchFamily="49" charset="0"/>
                <a:cs typeface="Consolas" panose="020B0609020204030204" pitchFamily="49" charset="0"/>
              </a:rPr>
              <a:t>4. Combine what you’ve learned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dirty="0">
              <a:ln>
                <a:noFill/>
              </a:ln>
              <a:solidFill>
                <a:srgbClr val="E9E9E9"/>
              </a:solidFill>
              <a:effectLst/>
              <a:uLnTx/>
              <a:uFillTx/>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566033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D5080-7F49-F6D4-21DA-DD7E629C48B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31090D6-9195-79EC-B659-DAF67102C8BC}"/>
              </a:ext>
            </a:extLst>
          </p:cNvPr>
          <p:cNvSpPr txBox="1"/>
          <p:nvPr/>
        </p:nvSpPr>
        <p:spPr>
          <a:xfrm>
            <a:off x="1194619" y="2634936"/>
            <a:ext cx="4476266" cy="1089529"/>
          </a:xfrm>
          <a:prstGeom prst="rect">
            <a:avLst/>
          </a:prstGeom>
          <a:noFill/>
        </p:spPr>
        <p:txBody>
          <a:bodyPr wrap="square">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CC00"/>
                </a:solidFill>
                <a:effectLst/>
                <a:uLnTx/>
                <a:uFillTx/>
                <a:latin typeface="Consolas" panose="020B0609020204030204" pitchFamily="49" charset="0"/>
                <a:cs typeface="Consolas" panose="020B0609020204030204" pitchFamily="49" charset="0"/>
              </a:rPr>
              <a:t>Module 1</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3600" b="0" i="0" u="none" strike="noStrike" kern="1200" cap="none" spc="0" normalizeH="0" baseline="0" noProof="0" dirty="0">
                <a:ln>
                  <a:noFill/>
                </a:ln>
                <a:solidFill>
                  <a:prstClr val="white"/>
                </a:solidFill>
                <a:effectLst/>
                <a:uLnTx/>
                <a:uFillTx/>
                <a:latin typeface="Consolas" panose="020B0609020204030204" pitchFamily="49" charset="0"/>
                <a:cs typeface="Consolas" panose="020B0609020204030204" pitchFamily="49" charset="0"/>
              </a:rPr>
              <a:t>objectives</a:t>
            </a:r>
          </a:p>
        </p:txBody>
      </p:sp>
      <p:sp>
        <p:nvSpPr>
          <p:cNvPr id="4" name="Plan">
            <a:extLst>
              <a:ext uri="{FF2B5EF4-FFF2-40B4-BE49-F238E27FC236}">
                <a16:creationId xmlns:a16="http://schemas.microsoft.com/office/drawing/2014/main" id="{F9012DB8-7B90-8DC3-F938-8735049F7F94}"/>
              </a:ext>
            </a:extLst>
          </p:cNvPr>
          <p:cNvSpPr txBox="1"/>
          <p:nvPr/>
        </p:nvSpPr>
        <p:spPr>
          <a:xfrm>
            <a:off x="4829577" y="649706"/>
            <a:ext cx="6937825" cy="5871410"/>
          </a:xfrm>
          <a:prstGeom prst="rect">
            <a:avLst/>
          </a:prstGeom>
          <a:noFill/>
        </p:spPr>
        <p:txBody>
          <a:bodyPr wrap="square" lIns="91440" tIns="45720" rIns="91440" bIns="45720" anchor="ctr">
            <a:no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2400" b="0" i="0" u="none" strike="noStrike" kern="1200" cap="none" spc="0" normalizeH="0" baseline="0" noProof="0" dirty="0">
                <a:ln>
                  <a:noFill/>
                </a:ln>
                <a:solidFill>
                  <a:srgbClr val="FFCC00"/>
                </a:solidFill>
                <a:effectLst/>
                <a:uLnTx/>
                <a:uFillTx/>
                <a:latin typeface="Consolas" panose="020B0609020204030204" pitchFamily="49" charset="0"/>
                <a:cs typeface="Consolas" panose="020B0609020204030204" pitchFamily="49" charset="0"/>
              </a:rPr>
              <a:t>1. Work with different types of global data</a:t>
            </a:r>
          </a:p>
          <a:p>
            <a:pPr marL="0" marR="0" lvl="0" indent="0" algn="l" defTabSz="914400" rtl="0" eaLnBrk="1" fontAlgn="auto" latinLnBrk="0" hangingPunct="1">
              <a:lnSpc>
                <a:spcPct val="100000"/>
              </a:lnSpc>
              <a:spcBef>
                <a:spcPts val="0"/>
              </a:spcBef>
              <a:spcAft>
                <a:spcPts val="2400"/>
              </a:spcAft>
              <a:buClrTx/>
              <a:buSzTx/>
              <a:buFontTx/>
              <a:buNone/>
              <a:tabLst/>
              <a:defRPr/>
            </a:pPr>
            <a:r>
              <a:rPr kumimoji="0" lang="en-US" sz="1867" b="0" i="0" u="none" strike="noStrike" kern="1200" cap="none" spc="0" normalizeH="0" baseline="0" noProof="0" dirty="0">
                <a:ln>
                  <a:noFill/>
                </a:ln>
                <a:solidFill>
                  <a:srgbClr val="E9E9E9"/>
                </a:solidFill>
                <a:effectLst/>
                <a:uLnTx/>
                <a:uFillTx/>
                <a:latin typeface="Consolas" panose="020B0609020204030204" pitchFamily="49" charset="0"/>
                <a:cs typeface="Consolas" panose="020B0609020204030204" pitchFamily="49" charset="0"/>
              </a:rPr>
              <a:t>Understand the scope of tools and data formats you might run into </a:t>
            </a: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2400" b="0" i="0" u="none" strike="noStrike" kern="1200" cap="none" spc="0" normalizeH="0" baseline="0" noProof="0" dirty="0">
                <a:ln>
                  <a:noFill/>
                </a:ln>
                <a:solidFill>
                  <a:srgbClr val="FFCC00"/>
                </a:solidFill>
                <a:effectLst/>
                <a:uLnTx/>
                <a:uFillTx/>
                <a:latin typeface="Consolas" panose="020B0609020204030204" pitchFamily="49" charset="0"/>
                <a:cs typeface="Consolas" panose="020B0609020204030204" pitchFamily="49" charset="0"/>
              </a:rPr>
              <a:t>2. Understand cloud native workflows and why they are important for big data analysis</a:t>
            </a:r>
          </a:p>
          <a:p>
            <a:pPr marL="0" marR="0" lvl="0" indent="0" algn="l" defTabSz="914400" rtl="0" eaLnBrk="1" fontAlgn="auto" latinLnBrk="0" hangingPunct="1">
              <a:lnSpc>
                <a:spcPct val="100000"/>
              </a:lnSpc>
              <a:spcBef>
                <a:spcPts val="0"/>
              </a:spcBef>
              <a:spcAft>
                <a:spcPts val="200"/>
              </a:spcAft>
              <a:buClrTx/>
              <a:buSzTx/>
              <a:buFontTx/>
              <a:buNone/>
              <a:tabLst/>
              <a:defRPr/>
            </a:pPr>
            <a:endParaRPr kumimoji="0" lang="en-US" sz="2400" b="0" i="0" u="none" strike="noStrike" kern="1200" cap="none" spc="0" normalizeH="0" baseline="0" noProof="0" dirty="0">
              <a:ln>
                <a:noFill/>
              </a:ln>
              <a:solidFill>
                <a:srgbClr val="FFCC00"/>
              </a:solidFill>
              <a:effectLst/>
              <a:uLnTx/>
              <a:uFillTx/>
              <a:latin typeface="Consolas" panose="020B0609020204030204" pitchFamily="49" charset="0"/>
              <a:cs typeface="Consolas" panose="020B0609020204030204" pitchFamily="49" charset="0"/>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2400" b="0" i="0" u="none" strike="noStrike" kern="1200" cap="none" spc="0" normalizeH="0" baseline="0" noProof="0" dirty="0">
                <a:ln>
                  <a:noFill/>
                </a:ln>
                <a:solidFill>
                  <a:srgbClr val="FFCC00"/>
                </a:solidFill>
                <a:effectLst/>
                <a:uLnTx/>
                <a:uFillTx/>
                <a:latin typeface="Consolas" panose="020B0609020204030204" pitchFamily="49" charset="0"/>
                <a:cs typeface="Consolas" panose="020B0609020204030204" pitchFamily="49" charset="0"/>
              </a:rPr>
              <a:t>3. Collaboratively create reproducible analyses</a:t>
            </a:r>
          </a:p>
          <a:p>
            <a:pPr marL="0" marR="0" lvl="0" indent="0" algn="l" defTabSz="914400" rtl="0" eaLnBrk="1" fontAlgn="auto" latinLnBrk="0" hangingPunct="1">
              <a:lnSpc>
                <a:spcPct val="100000"/>
              </a:lnSpc>
              <a:spcBef>
                <a:spcPts val="0"/>
              </a:spcBef>
              <a:spcAft>
                <a:spcPts val="200"/>
              </a:spcAft>
              <a:buClrTx/>
              <a:buSzTx/>
              <a:buFontTx/>
              <a:buNone/>
              <a:tabLst/>
              <a:defRPr/>
            </a:pPr>
            <a:endParaRPr kumimoji="0" lang="en-US" sz="2400" b="0" i="0" u="none" strike="noStrike" kern="1200" cap="none" spc="0" normalizeH="0" baseline="0" noProof="0" dirty="0">
              <a:ln>
                <a:noFill/>
              </a:ln>
              <a:solidFill>
                <a:srgbClr val="FFCC00"/>
              </a:solidFill>
              <a:effectLst/>
              <a:uLnTx/>
              <a:uFillTx/>
              <a:latin typeface="Consolas" panose="020B0609020204030204" pitchFamily="49" charset="0"/>
              <a:cs typeface="Consolas" panose="020B0609020204030204" pitchFamily="49" charset="0"/>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2400" b="0" i="0" u="none" strike="noStrike" kern="1200" cap="none" spc="0" normalizeH="0" baseline="0" noProof="0" dirty="0">
                <a:ln>
                  <a:noFill/>
                </a:ln>
                <a:solidFill>
                  <a:srgbClr val="FFCC00"/>
                </a:solidFill>
                <a:effectLst/>
                <a:uLnTx/>
                <a:uFillTx/>
                <a:latin typeface="Consolas" panose="020B0609020204030204" pitchFamily="49" charset="0"/>
                <a:cs typeface="Consolas" panose="020B0609020204030204" pitchFamily="49" charset="0"/>
              </a:rPr>
              <a:t>4. Think critically about the politics of planetary scale 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67" b="0" i="0" u="none" strike="noStrike" kern="1200" cap="none" spc="0" normalizeH="0" baseline="0" noProof="0" dirty="0">
                <a:ln>
                  <a:noFill/>
                </a:ln>
                <a:solidFill>
                  <a:srgbClr val="E9E9E9"/>
                </a:solidFill>
                <a:effectLst/>
                <a:uLnTx/>
                <a:uFillTx/>
                <a:latin typeface="Consolas" panose="020B0609020204030204" pitchFamily="49" charset="0"/>
                <a:cs typeface="Consolas" panose="020B0609020204030204" pitchFamily="49" charset="0"/>
              </a:rPr>
              <a:t>Who it represents and who it gives power to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dirty="0">
              <a:ln>
                <a:noFill/>
              </a:ln>
              <a:solidFill>
                <a:srgbClr val="E9E9E9"/>
              </a:solidFill>
              <a:effectLst/>
              <a:uLnTx/>
              <a:uFillTx/>
              <a:latin typeface="Consolas" panose="020B0609020204030204" pitchFamily="49" charset="0"/>
              <a:cs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dirty="0">
              <a:ln>
                <a:noFill/>
              </a:ln>
              <a:solidFill>
                <a:srgbClr val="E9E9E9"/>
              </a:solidFill>
              <a:effectLst/>
              <a:uLnTx/>
              <a:uFillTx/>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725684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84ABFE-B77D-AA5E-69DB-66B543958503}"/>
              </a:ext>
            </a:extLst>
          </p:cNvPr>
          <p:cNvSpPr/>
          <p:nvPr>
            <p:custDataLst>
              <p:tags r:id="rId2"/>
            </p:custDataLst>
          </p:nvPr>
        </p:nvSpPr>
        <p:spPr>
          <a:xfrm>
            <a:off x="444693" y="1742703"/>
            <a:ext cx="2371696" cy="2371696"/>
          </a:xfrm>
          <a:prstGeom prst="rect">
            <a:avLst/>
          </a:prstGeom>
          <a:blipFill>
            <a:blip r:embed="rId7">
              <a:extLst>
                <a:ext uri="{96DAC541-7B7A-43D3-8B79-37D633B846F1}">
                  <asvg:svgBlip xmlns:asvg="http://schemas.microsoft.com/office/drawing/2016/SVG/main" r:embed="rId8"/>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rgbClr val="FFFFFF"/>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94FC44B-B10D-A388-C982-FBEF204E27DB}"/>
              </a:ext>
            </a:extLst>
          </p:cNvPr>
          <p:cNvSpPr/>
          <p:nvPr>
            <p:custDataLst>
              <p:tags r:id="rId3"/>
            </p:custDataLst>
          </p:nvPr>
        </p:nvSpPr>
        <p:spPr>
          <a:xfrm>
            <a:off x="3112851" y="1000897"/>
            <a:ext cx="8486226" cy="3855308"/>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rgbClr val="FFFFFF"/>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000000"/>
                </a:solidFill>
              </a:rPr>
              <a:t>Tech setup status check</a:t>
            </a:r>
          </a:p>
        </p:txBody>
      </p:sp>
      <p:sp>
        <p:nvSpPr>
          <p:cNvPr id="4" name="Rectangle 3">
            <a:extLst>
              <a:ext uri="{FF2B5EF4-FFF2-40B4-BE49-F238E27FC236}">
                <a16:creationId xmlns:a16="http://schemas.microsoft.com/office/drawing/2014/main" id="{02D99BD1-DFD7-85A5-E758-F3AC6D6A9622}"/>
              </a:ext>
            </a:extLst>
          </p:cNvPr>
          <p:cNvSpPr/>
          <p:nvPr>
            <p:custDataLst>
              <p:tags r:id="rId4"/>
            </p:custDataLst>
          </p:nvPr>
        </p:nvSpPr>
        <p:spPr>
          <a:xfrm>
            <a:off x="0" y="5820032"/>
            <a:ext cx="12192001" cy="1037968"/>
          </a:xfrm>
          <a:prstGeom prst="rect">
            <a:avLst/>
          </a:prstGeom>
          <a:solidFill>
            <a:srgbClr val="19803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92" rIns="1852888" bIns="203886" rtlCol="0" anchor="ctr">
            <a:normAutofit fontScale="92500"/>
          </a:bodyPr>
          <a:lstStyle/>
          <a:p>
            <a:r>
              <a:rPr lang="en-US" sz="2600">
                <a:solidFill>
                  <a:srgbClr val="FFFFFF"/>
                </a:solidFill>
              </a:rPr>
              <a:t>The </a:t>
            </a:r>
            <a:r>
              <a:rPr lang="en-US" sz="2600">
                <a:solidFill>
                  <a:srgbClr val="FFFFFF"/>
                </a:solidFill>
                <a:hlinkClick r:id="rId9">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1E8A9A5F-114A-B30F-98C9-1F414FF57EC5}"/>
              </a:ext>
            </a:extLst>
          </p:cNvPr>
          <p:cNvPicPr>
            <a:picLocks/>
          </p:cNvPicPr>
          <p:nvPr/>
        </p:nvPicPr>
        <p:blipFill>
          <a:blip r:embed="rId10">
            <a:extLst>
              <a:ext uri="{96DAC541-7B7A-43D3-8B79-37D633B846F1}">
                <asvg:svgBlip xmlns:asvg="http://schemas.microsoft.com/office/drawing/2016/SVG/main" r:embed="rId11"/>
              </a:ext>
            </a:extLst>
          </a:blip>
          <a:stretch>
            <a:fillRect/>
          </a:stretch>
        </p:blipFill>
        <p:spPr>
          <a:xfrm>
            <a:off x="296462" y="6190785"/>
            <a:ext cx="296462" cy="296462"/>
          </a:xfrm>
          <a:prstGeom prst="rect">
            <a:avLst/>
          </a:prstGeom>
        </p:spPr>
      </p:pic>
      <p:sp>
        <p:nvSpPr>
          <p:cNvPr id="7" name="Trapezoid 6">
            <a:extLst>
              <a:ext uri="{FF2B5EF4-FFF2-40B4-BE49-F238E27FC236}">
                <a16:creationId xmlns:a16="http://schemas.microsoft.com/office/drawing/2014/main" id="{B80262B8-1B2B-CBF9-40D7-27BF5EE144AD}"/>
              </a:ext>
            </a:extLst>
          </p:cNvPr>
          <p:cNvSpPr/>
          <p:nvPr>
            <p:custDataLst>
              <p:tags r:id="rId5"/>
            </p:custDataLst>
          </p:nvPr>
        </p:nvSpPr>
        <p:spPr>
          <a:xfrm rot="2700000">
            <a:off x="9620371" y="514924"/>
            <a:ext cx="3335198" cy="778213"/>
          </a:xfrm>
          <a:prstGeom prst="trapezoid">
            <a:avLst>
              <a:gd name="adj" fmla="val 100000"/>
            </a:avLst>
          </a:prstGeom>
          <a:solidFill>
            <a:srgbClr val="EDFA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12">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EA32FCD5-12E8-69A0-6A15-6F99617E5DB2}"/>
              </a:ext>
            </a:extLst>
          </p:cNvPr>
          <p:cNvPicPr>
            <a:picLocks/>
          </p:cNvPicPr>
          <p:nvPr/>
        </p:nvPicPr>
        <p:blipFill>
          <a:blip r:embed="rId13">
            <a:extLst>
              <a:ext uri="{96DAC541-7B7A-43D3-8B79-37D633B846F1}">
                <asvg:svgBlip xmlns:asvg="http://schemas.microsoft.com/office/drawing/2016/SVG/main" r:embed="rId14"/>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3767946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B79D770-32A7-751E-E915-4567AB531AB2}"/>
              </a:ext>
            </a:extLst>
          </p:cNvPr>
          <p:cNvSpPr/>
          <p:nvPr>
            <p:custDataLst>
              <p:tags r:id="rId2"/>
            </p:custDataLst>
          </p:nvPr>
        </p:nvSpPr>
        <p:spPr>
          <a:xfrm>
            <a:off x="444693" y="1742703"/>
            <a:ext cx="2371696" cy="2371696"/>
          </a:xfrm>
          <a:prstGeom prst="rect">
            <a:avLst/>
          </a:prstGeom>
          <a:blipFill>
            <a:blip r:embed="rId7">
              <a:extLst>
                <a:ext uri="{96DAC541-7B7A-43D3-8B79-37D633B846F1}">
                  <asvg:svgBlip xmlns:asvg="http://schemas.microsoft.com/office/drawing/2016/SVG/main" r:embed="rId8"/>
                </a:ext>
              </a:extLst>
            </a:blip>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rgbClr val="FFFFFF"/>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20A53DF-DF33-DC05-0F65-F7EC1A18B7C2}"/>
              </a:ext>
            </a:extLst>
          </p:cNvPr>
          <p:cNvSpPr/>
          <p:nvPr>
            <p:custDataLst>
              <p:tags r:id="rId3"/>
            </p:custDataLst>
          </p:nvPr>
        </p:nvSpPr>
        <p:spPr>
          <a:xfrm>
            <a:off x="3112851" y="1000897"/>
            <a:ext cx="8486226" cy="3855308"/>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rgbClr val="FFFFFF"/>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000000"/>
                </a:solidFill>
              </a:rPr>
              <a:t>Have you done analysis with spatial data before today?</a:t>
            </a:r>
          </a:p>
        </p:txBody>
      </p:sp>
      <p:sp>
        <p:nvSpPr>
          <p:cNvPr id="4" name="Rectangle 3">
            <a:extLst>
              <a:ext uri="{FF2B5EF4-FFF2-40B4-BE49-F238E27FC236}">
                <a16:creationId xmlns:a16="http://schemas.microsoft.com/office/drawing/2014/main" id="{47F7365D-6F18-FFAB-65F8-8988E58AFA19}"/>
              </a:ext>
            </a:extLst>
          </p:cNvPr>
          <p:cNvSpPr/>
          <p:nvPr>
            <p:custDataLst>
              <p:tags r:id="rId4"/>
            </p:custDataLst>
          </p:nvPr>
        </p:nvSpPr>
        <p:spPr>
          <a:xfrm>
            <a:off x="0" y="5820032"/>
            <a:ext cx="12192001" cy="1037968"/>
          </a:xfrm>
          <a:prstGeom prst="rect">
            <a:avLst/>
          </a:prstGeom>
          <a:solidFill>
            <a:srgbClr val="19803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92" rIns="1852888" bIns="203886" rtlCol="0" anchor="ctr">
            <a:normAutofit fontScale="92500"/>
          </a:bodyPr>
          <a:lstStyle/>
          <a:p>
            <a:r>
              <a:rPr lang="en-US" sz="2600">
                <a:solidFill>
                  <a:srgbClr val="FFFFFF"/>
                </a:solidFill>
              </a:rPr>
              <a:t>The </a:t>
            </a:r>
            <a:r>
              <a:rPr lang="en-US" sz="2600">
                <a:solidFill>
                  <a:srgbClr val="FFFFFF"/>
                </a:solidFill>
                <a:hlinkClick r:id="rId9">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AE661820-4A0E-A914-F9E6-4DD6E1AE5BDE}"/>
              </a:ext>
            </a:extLst>
          </p:cNvPr>
          <p:cNvPicPr>
            <a:picLocks/>
          </p:cNvPicPr>
          <p:nvPr/>
        </p:nvPicPr>
        <p:blipFill>
          <a:blip r:embed="rId10">
            <a:extLst>
              <a:ext uri="{96DAC541-7B7A-43D3-8B79-37D633B846F1}">
                <asvg:svgBlip xmlns:asvg="http://schemas.microsoft.com/office/drawing/2016/SVG/main" r:embed="rId11"/>
              </a:ext>
            </a:extLst>
          </a:blip>
          <a:stretch>
            <a:fillRect/>
          </a:stretch>
        </p:blipFill>
        <p:spPr>
          <a:xfrm>
            <a:off x="296462" y="6190785"/>
            <a:ext cx="296462" cy="296462"/>
          </a:xfrm>
          <a:prstGeom prst="rect">
            <a:avLst/>
          </a:prstGeom>
        </p:spPr>
      </p:pic>
      <p:sp>
        <p:nvSpPr>
          <p:cNvPr id="7" name="Trapezoid 6">
            <a:extLst>
              <a:ext uri="{FF2B5EF4-FFF2-40B4-BE49-F238E27FC236}">
                <a16:creationId xmlns:a16="http://schemas.microsoft.com/office/drawing/2014/main" id="{5F4F619B-FE57-BE61-4429-DFFC9CC94F57}"/>
              </a:ext>
            </a:extLst>
          </p:cNvPr>
          <p:cNvSpPr/>
          <p:nvPr>
            <p:custDataLst>
              <p:tags r:id="rId5"/>
            </p:custDataLst>
          </p:nvPr>
        </p:nvSpPr>
        <p:spPr>
          <a:xfrm rot="2700000">
            <a:off x="9620371" y="514924"/>
            <a:ext cx="3335198" cy="778213"/>
          </a:xfrm>
          <a:prstGeom prst="trapezoid">
            <a:avLst>
              <a:gd name="adj" fmla="val 100000"/>
            </a:avLst>
          </a:prstGeom>
          <a:solidFill>
            <a:srgbClr val="EDFA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12">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937394E2-721A-D326-B212-E03D68444F84}"/>
              </a:ext>
            </a:extLst>
          </p:cNvPr>
          <p:cNvPicPr>
            <a:picLocks/>
          </p:cNvPicPr>
          <p:nvPr/>
        </p:nvPicPr>
        <p:blipFill>
          <a:blip r:embed="rId13">
            <a:extLst>
              <a:ext uri="{96DAC541-7B7A-43D3-8B79-37D633B846F1}">
                <asvg:svgBlip xmlns:asvg="http://schemas.microsoft.com/office/drawing/2016/SVG/main" r:embed="rId14"/>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3132373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 space satellite hovering above the coastline">
            <a:extLst>
              <a:ext uri="{FF2B5EF4-FFF2-40B4-BE49-F238E27FC236}">
                <a16:creationId xmlns:a16="http://schemas.microsoft.com/office/drawing/2014/main" id="{EE4F658A-0FC7-B866-75CA-272DD016CCE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425" t="12134" r="34004" b="3596"/>
          <a:stretch/>
        </p:blipFill>
        <p:spPr bwMode="auto">
          <a:xfrm>
            <a:off x="-14644" y="0"/>
            <a:ext cx="4107673" cy="6882525"/>
          </a:xfrm>
          <a:prstGeom prst="rect">
            <a:avLst/>
          </a:prstGeom>
          <a:solidFill>
            <a:srgbClr val="FFFFFF"/>
          </a:solidFill>
        </p:spPr>
      </p:pic>
      <p:pic>
        <p:nvPicPr>
          <p:cNvPr id="3" name="Picture 2" descr="A drone flying through the air&#10;&#10;Description automatically generated">
            <a:extLst>
              <a:ext uri="{FF2B5EF4-FFF2-40B4-BE49-F238E27FC236}">
                <a16:creationId xmlns:a16="http://schemas.microsoft.com/office/drawing/2014/main" id="{EA359328-21DC-C9FF-E8E7-307C8602230F}"/>
              </a:ext>
            </a:extLst>
          </p:cNvPr>
          <p:cNvPicPr>
            <a:picLocks noChangeAspect="1"/>
          </p:cNvPicPr>
          <p:nvPr/>
        </p:nvPicPr>
        <p:blipFill rotWithShape="1">
          <a:blip r:embed="rId4"/>
          <a:srcRect l="7202" r="3275"/>
          <a:stretch/>
        </p:blipFill>
        <p:spPr>
          <a:xfrm>
            <a:off x="4093028" y="24525"/>
            <a:ext cx="4093027" cy="6858000"/>
          </a:xfrm>
          <a:prstGeom prst="rect">
            <a:avLst/>
          </a:prstGeom>
        </p:spPr>
      </p:pic>
      <p:pic>
        <p:nvPicPr>
          <p:cNvPr id="5" name="Picture 4" descr="A hand holding a cell phone&#10;&#10;Description automatically generated">
            <a:extLst>
              <a:ext uri="{FF2B5EF4-FFF2-40B4-BE49-F238E27FC236}">
                <a16:creationId xmlns:a16="http://schemas.microsoft.com/office/drawing/2014/main" id="{EAD942B3-F156-89FF-498F-38353D733024}"/>
              </a:ext>
            </a:extLst>
          </p:cNvPr>
          <p:cNvPicPr>
            <a:picLocks noChangeAspect="1"/>
          </p:cNvPicPr>
          <p:nvPr/>
        </p:nvPicPr>
        <p:blipFill rotWithShape="1">
          <a:blip r:embed="rId5"/>
          <a:srcRect l="30710" r="35542"/>
          <a:stretch/>
        </p:blipFill>
        <p:spPr>
          <a:xfrm>
            <a:off x="8186054" y="24526"/>
            <a:ext cx="4093025" cy="6808951"/>
          </a:xfrm>
          <a:prstGeom prst="rect">
            <a:avLst/>
          </a:prstGeom>
        </p:spPr>
      </p:pic>
      <p:pic>
        <p:nvPicPr>
          <p:cNvPr id="2" name="Picture 1" descr="A screenshot of a computer&#10;&#10;Description automatically generated">
            <a:extLst>
              <a:ext uri="{FF2B5EF4-FFF2-40B4-BE49-F238E27FC236}">
                <a16:creationId xmlns:a16="http://schemas.microsoft.com/office/drawing/2014/main" id="{2C4C67A6-CB34-7129-D057-FA6EBE0056D4}"/>
              </a:ext>
            </a:extLst>
          </p:cNvPr>
          <p:cNvPicPr>
            <a:picLocks noChangeAspect="1"/>
          </p:cNvPicPr>
          <p:nvPr/>
        </p:nvPicPr>
        <p:blipFill>
          <a:blip r:embed="rId6"/>
          <a:stretch>
            <a:fillRect/>
          </a:stretch>
        </p:blipFill>
        <p:spPr>
          <a:xfrm>
            <a:off x="360219" y="3429000"/>
            <a:ext cx="9245600" cy="3022131"/>
          </a:xfrm>
          <a:prstGeom prst="rect">
            <a:avLst/>
          </a:prstGeom>
        </p:spPr>
      </p:pic>
    </p:spTree>
    <p:extLst>
      <p:ext uri="{BB962C8B-B14F-4D97-AF65-F5344CB8AC3E}">
        <p14:creationId xmlns:p14="http://schemas.microsoft.com/office/powerpoint/2010/main" val="30440147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C264833-0344-B354-DC43-84D82C1941A0}"/>
              </a:ext>
            </a:extLst>
          </p:cNvPr>
          <p:cNvSpPr/>
          <p:nvPr/>
        </p:nvSpPr>
        <p:spPr>
          <a:xfrm>
            <a:off x="3658115" y="142859"/>
            <a:ext cx="8358215" cy="6594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endParaRPr lang="en-US" sz="1867" kern="0" dirty="0">
              <a:solidFill>
                <a:prstClr val="white"/>
              </a:solidFill>
              <a:latin typeface="Century Gothic" panose="020B0502020202020204" pitchFamily="34" charset="0"/>
              <a:sym typeface="Arial"/>
            </a:endParaRPr>
          </a:p>
        </p:txBody>
      </p:sp>
      <p:sp>
        <p:nvSpPr>
          <p:cNvPr id="26" name="Rectangle 25">
            <a:extLst>
              <a:ext uri="{FF2B5EF4-FFF2-40B4-BE49-F238E27FC236}">
                <a16:creationId xmlns:a16="http://schemas.microsoft.com/office/drawing/2014/main" id="{C42AE818-44EE-0537-C3AB-D0600642F4BD}"/>
              </a:ext>
            </a:extLst>
          </p:cNvPr>
          <p:cNvSpPr/>
          <p:nvPr/>
        </p:nvSpPr>
        <p:spPr>
          <a:xfrm>
            <a:off x="635000" y="1872831"/>
            <a:ext cx="2362200" cy="66555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r>
              <a:rPr lang="en-US" dirty="0">
                <a:solidFill>
                  <a:prstClr val="white"/>
                </a:solidFill>
                <a:latin typeface="Century Gothic" panose="020B0502020202020204" pitchFamily="34" charset="0"/>
                <a:sym typeface="Arial"/>
              </a:rPr>
              <a:t>Biodiversity data</a:t>
            </a:r>
          </a:p>
        </p:txBody>
      </p:sp>
      <p:sp>
        <p:nvSpPr>
          <p:cNvPr id="27" name="Rectangle 26">
            <a:extLst>
              <a:ext uri="{FF2B5EF4-FFF2-40B4-BE49-F238E27FC236}">
                <a16:creationId xmlns:a16="http://schemas.microsoft.com/office/drawing/2014/main" id="{94CF2449-B36C-E520-4C6D-734116F0ED5E}"/>
              </a:ext>
            </a:extLst>
          </p:cNvPr>
          <p:cNvSpPr/>
          <p:nvPr/>
        </p:nvSpPr>
        <p:spPr>
          <a:xfrm>
            <a:off x="635000" y="3017881"/>
            <a:ext cx="2362200" cy="665559"/>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r>
              <a:rPr lang="en-US" dirty="0">
                <a:solidFill>
                  <a:prstClr val="white"/>
                </a:solidFill>
                <a:latin typeface="Century Gothic" panose="020B0502020202020204" pitchFamily="34" charset="0"/>
                <a:sym typeface="Arial"/>
              </a:rPr>
              <a:t> Species Distribution Models</a:t>
            </a:r>
          </a:p>
        </p:txBody>
      </p:sp>
      <p:sp>
        <p:nvSpPr>
          <p:cNvPr id="28" name="Rectangle 27">
            <a:extLst>
              <a:ext uri="{FF2B5EF4-FFF2-40B4-BE49-F238E27FC236}">
                <a16:creationId xmlns:a16="http://schemas.microsoft.com/office/drawing/2014/main" id="{90A3C046-1ABA-8ABD-33F2-D0937B740E4E}"/>
              </a:ext>
            </a:extLst>
          </p:cNvPr>
          <p:cNvSpPr/>
          <p:nvPr/>
        </p:nvSpPr>
        <p:spPr>
          <a:xfrm>
            <a:off x="508801" y="4163106"/>
            <a:ext cx="2679689" cy="6655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r>
              <a:rPr lang="en-US" sz="1600" dirty="0">
                <a:solidFill>
                  <a:srgbClr val="FFC000">
                    <a:lumMod val="60000"/>
                    <a:lumOff val="40000"/>
                  </a:srgbClr>
                </a:solidFill>
                <a:latin typeface="Century Gothic" panose="020B0502020202020204" pitchFamily="34" charset="0"/>
                <a:sym typeface="Arial"/>
              </a:rPr>
              <a:t>conservation/restoration priorities</a:t>
            </a:r>
          </a:p>
        </p:txBody>
      </p:sp>
      <p:cxnSp>
        <p:nvCxnSpPr>
          <p:cNvPr id="30" name="Straight Arrow Connector 29">
            <a:extLst>
              <a:ext uri="{FF2B5EF4-FFF2-40B4-BE49-F238E27FC236}">
                <a16:creationId xmlns:a16="http://schemas.microsoft.com/office/drawing/2014/main" id="{44EEC939-7DD5-DF5C-37E2-B9CD899C7A90}"/>
              </a:ext>
            </a:extLst>
          </p:cNvPr>
          <p:cNvCxnSpPr>
            <a:cxnSpLocks/>
          </p:cNvCxnSpPr>
          <p:nvPr/>
        </p:nvCxnSpPr>
        <p:spPr>
          <a:xfrm>
            <a:off x="1816100" y="2593573"/>
            <a:ext cx="0" cy="354017"/>
          </a:xfrm>
          <a:prstGeom prst="straightConnector1">
            <a:avLst/>
          </a:prstGeom>
          <a:ln w="3810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DA578D64-EF0A-5A1E-87A9-797F7470BE3B}"/>
              </a:ext>
            </a:extLst>
          </p:cNvPr>
          <p:cNvCxnSpPr>
            <a:cxnSpLocks/>
          </p:cNvCxnSpPr>
          <p:nvPr/>
        </p:nvCxnSpPr>
        <p:spPr>
          <a:xfrm>
            <a:off x="1816100" y="3721540"/>
            <a:ext cx="0" cy="354017"/>
          </a:xfrm>
          <a:prstGeom prst="straightConnector1">
            <a:avLst/>
          </a:prstGeom>
          <a:ln w="3810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2EE75E32-30AE-59F7-C4BA-2883255DEC97}"/>
              </a:ext>
            </a:extLst>
          </p:cNvPr>
          <p:cNvSpPr/>
          <p:nvPr/>
        </p:nvSpPr>
        <p:spPr>
          <a:xfrm>
            <a:off x="482601" y="1765658"/>
            <a:ext cx="2679700" cy="863084"/>
          </a:xfrm>
          <a:prstGeom prst="rect">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prstClr val="white"/>
              </a:solidFill>
              <a:latin typeface="Century Gothic" panose="020B0502020202020204" pitchFamily="34" charset="0"/>
              <a:sym typeface="Arial"/>
            </a:endParaRPr>
          </a:p>
        </p:txBody>
      </p:sp>
      <p:sp>
        <p:nvSpPr>
          <p:cNvPr id="4" name="TextBox 3">
            <a:extLst>
              <a:ext uri="{FF2B5EF4-FFF2-40B4-BE49-F238E27FC236}">
                <a16:creationId xmlns:a16="http://schemas.microsoft.com/office/drawing/2014/main" id="{0F7B7349-1CF7-98B4-9CA6-D03A268BBA57}"/>
              </a:ext>
            </a:extLst>
          </p:cNvPr>
          <p:cNvSpPr txBox="1"/>
          <p:nvPr/>
        </p:nvSpPr>
        <p:spPr>
          <a:xfrm>
            <a:off x="44450" y="6364067"/>
            <a:ext cx="8450473" cy="338554"/>
          </a:xfrm>
          <a:prstGeom prst="rect">
            <a:avLst/>
          </a:prstGeom>
          <a:noFill/>
        </p:spPr>
        <p:txBody>
          <a:bodyPr wrap="square" rtlCol="0">
            <a:spAutoFit/>
          </a:bodyPr>
          <a:lstStyle/>
          <a:p>
            <a:pPr defTabSz="1219170">
              <a:buClr>
                <a:srgbClr val="000000"/>
              </a:buClr>
              <a:defRPr/>
            </a:pPr>
            <a:r>
              <a:rPr lang="en-US" sz="1600" kern="0" dirty="0">
                <a:solidFill>
                  <a:srgbClr val="FFFFFF"/>
                </a:solidFill>
                <a:latin typeface="Century Gothic" panose="020B0502020202020204" pitchFamily="34" charset="0"/>
                <a:cs typeface="Arial"/>
                <a:sym typeface="Arial"/>
              </a:rPr>
              <a:t>Chapman, et al. (2024) Science.</a:t>
            </a:r>
          </a:p>
        </p:txBody>
      </p:sp>
      <p:pic>
        <p:nvPicPr>
          <p:cNvPr id="6" name="Picture 5">
            <a:extLst>
              <a:ext uri="{FF2B5EF4-FFF2-40B4-BE49-F238E27FC236}">
                <a16:creationId xmlns:a16="http://schemas.microsoft.com/office/drawing/2014/main" id="{E8BD21F0-8E82-0240-A8AB-70A19BB21C07}"/>
              </a:ext>
            </a:extLst>
          </p:cNvPr>
          <p:cNvPicPr>
            <a:picLocks noChangeAspect="1"/>
          </p:cNvPicPr>
          <p:nvPr/>
        </p:nvPicPr>
        <p:blipFill>
          <a:blip r:embed="rId3"/>
          <a:stretch>
            <a:fillRect/>
          </a:stretch>
        </p:blipFill>
        <p:spPr>
          <a:xfrm>
            <a:off x="9103167" y="224278"/>
            <a:ext cx="2717084" cy="2717084"/>
          </a:xfrm>
          <a:prstGeom prst="rect">
            <a:avLst/>
          </a:prstGeom>
        </p:spPr>
      </p:pic>
      <p:pic>
        <p:nvPicPr>
          <p:cNvPr id="7" name="Picture 6">
            <a:extLst>
              <a:ext uri="{FF2B5EF4-FFF2-40B4-BE49-F238E27FC236}">
                <a16:creationId xmlns:a16="http://schemas.microsoft.com/office/drawing/2014/main" id="{C40D0501-AED9-E058-07FE-094AF9822DC2}"/>
              </a:ext>
            </a:extLst>
          </p:cNvPr>
          <p:cNvPicPr>
            <a:picLocks noChangeAspect="1"/>
          </p:cNvPicPr>
          <p:nvPr/>
        </p:nvPicPr>
        <p:blipFill rotWithShape="1">
          <a:blip r:embed="rId4"/>
          <a:srcRect l="4170"/>
          <a:stretch/>
        </p:blipFill>
        <p:spPr>
          <a:xfrm>
            <a:off x="3684305" y="2428746"/>
            <a:ext cx="4141233" cy="3167071"/>
          </a:xfrm>
          <a:prstGeom prst="rect">
            <a:avLst/>
          </a:prstGeom>
        </p:spPr>
      </p:pic>
      <p:pic>
        <p:nvPicPr>
          <p:cNvPr id="5" name="Picture 4">
            <a:extLst>
              <a:ext uri="{FF2B5EF4-FFF2-40B4-BE49-F238E27FC236}">
                <a16:creationId xmlns:a16="http://schemas.microsoft.com/office/drawing/2014/main" id="{80233C7D-0F2E-6EC0-F1C2-E07FC7C5A0F8}"/>
              </a:ext>
            </a:extLst>
          </p:cNvPr>
          <p:cNvPicPr>
            <a:picLocks noChangeAspect="1"/>
          </p:cNvPicPr>
          <p:nvPr/>
        </p:nvPicPr>
        <p:blipFill>
          <a:blip r:embed="rId5"/>
          <a:stretch>
            <a:fillRect/>
          </a:stretch>
        </p:blipFill>
        <p:spPr>
          <a:xfrm>
            <a:off x="3721101" y="0"/>
            <a:ext cx="5863167" cy="2551149"/>
          </a:xfrm>
          <a:prstGeom prst="rect">
            <a:avLst/>
          </a:prstGeom>
        </p:spPr>
      </p:pic>
      <p:pic>
        <p:nvPicPr>
          <p:cNvPr id="8" name="Picture 7">
            <a:extLst>
              <a:ext uri="{FF2B5EF4-FFF2-40B4-BE49-F238E27FC236}">
                <a16:creationId xmlns:a16="http://schemas.microsoft.com/office/drawing/2014/main" id="{56FF17AB-8729-EAA3-05BB-90CA2221A21C}"/>
              </a:ext>
            </a:extLst>
          </p:cNvPr>
          <p:cNvPicPr>
            <a:picLocks noChangeAspect="1"/>
          </p:cNvPicPr>
          <p:nvPr/>
        </p:nvPicPr>
        <p:blipFill>
          <a:blip r:embed="rId6"/>
          <a:stretch>
            <a:fillRect/>
          </a:stretch>
        </p:blipFill>
        <p:spPr>
          <a:xfrm>
            <a:off x="3804616" y="4183978"/>
            <a:ext cx="3556181" cy="2408569"/>
          </a:xfrm>
          <a:prstGeom prst="rect">
            <a:avLst/>
          </a:prstGeom>
        </p:spPr>
      </p:pic>
      <p:pic>
        <p:nvPicPr>
          <p:cNvPr id="11" name="Picture 10">
            <a:extLst>
              <a:ext uri="{FF2B5EF4-FFF2-40B4-BE49-F238E27FC236}">
                <a16:creationId xmlns:a16="http://schemas.microsoft.com/office/drawing/2014/main" id="{50B378DC-B651-70D0-62CC-1897C67C115C}"/>
              </a:ext>
            </a:extLst>
          </p:cNvPr>
          <p:cNvPicPr>
            <a:picLocks noChangeAspect="1"/>
          </p:cNvPicPr>
          <p:nvPr/>
        </p:nvPicPr>
        <p:blipFill>
          <a:blip r:embed="rId7"/>
          <a:stretch>
            <a:fillRect/>
          </a:stretch>
        </p:blipFill>
        <p:spPr>
          <a:xfrm>
            <a:off x="7773420" y="2552667"/>
            <a:ext cx="3850752" cy="2134656"/>
          </a:xfrm>
          <a:prstGeom prst="rect">
            <a:avLst/>
          </a:prstGeom>
        </p:spPr>
      </p:pic>
      <p:sp>
        <p:nvSpPr>
          <p:cNvPr id="20" name="Rectangle 19">
            <a:extLst>
              <a:ext uri="{FF2B5EF4-FFF2-40B4-BE49-F238E27FC236}">
                <a16:creationId xmlns:a16="http://schemas.microsoft.com/office/drawing/2014/main" id="{C6493CC6-D1B8-89A2-131F-AFA2CF5224E7}"/>
              </a:ext>
            </a:extLst>
          </p:cNvPr>
          <p:cNvSpPr/>
          <p:nvPr/>
        </p:nvSpPr>
        <p:spPr>
          <a:xfrm>
            <a:off x="7738303" y="3037925"/>
            <a:ext cx="337055" cy="13854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endParaRPr lang="en-US" sz="1867" kern="0" dirty="0">
              <a:solidFill>
                <a:prstClr val="white"/>
              </a:solidFill>
              <a:latin typeface="Century Gothic" panose="020B0502020202020204" pitchFamily="34" charset="0"/>
              <a:sym typeface="Arial"/>
            </a:endParaRPr>
          </a:p>
        </p:txBody>
      </p:sp>
      <p:pic>
        <p:nvPicPr>
          <p:cNvPr id="25" name="Picture 24">
            <a:extLst>
              <a:ext uri="{FF2B5EF4-FFF2-40B4-BE49-F238E27FC236}">
                <a16:creationId xmlns:a16="http://schemas.microsoft.com/office/drawing/2014/main" id="{0B2EE7E5-B2D4-713F-89CD-5083C2613F9E}"/>
              </a:ext>
            </a:extLst>
          </p:cNvPr>
          <p:cNvPicPr>
            <a:picLocks noChangeAspect="1"/>
          </p:cNvPicPr>
          <p:nvPr/>
        </p:nvPicPr>
        <p:blipFill>
          <a:blip r:embed="rId8"/>
          <a:stretch>
            <a:fillRect/>
          </a:stretch>
        </p:blipFill>
        <p:spPr>
          <a:xfrm>
            <a:off x="7552857" y="4711729"/>
            <a:ext cx="4055055" cy="1852872"/>
          </a:xfrm>
          <a:prstGeom prst="rect">
            <a:avLst/>
          </a:prstGeom>
        </p:spPr>
      </p:pic>
      <p:pic>
        <p:nvPicPr>
          <p:cNvPr id="29" name="Picture 28">
            <a:extLst>
              <a:ext uri="{FF2B5EF4-FFF2-40B4-BE49-F238E27FC236}">
                <a16:creationId xmlns:a16="http://schemas.microsoft.com/office/drawing/2014/main" id="{F45A3A83-C7CA-278B-1F66-63450B4CE2E9}"/>
              </a:ext>
            </a:extLst>
          </p:cNvPr>
          <p:cNvPicPr>
            <a:picLocks noChangeAspect="1"/>
          </p:cNvPicPr>
          <p:nvPr/>
        </p:nvPicPr>
        <p:blipFill>
          <a:blip r:embed="rId9"/>
          <a:stretch>
            <a:fillRect/>
          </a:stretch>
        </p:blipFill>
        <p:spPr>
          <a:xfrm>
            <a:off x="7782239" y="3246225"/>
            <a:ext cx="205884" cy="968868"/>
          </a:xfrm>
          <a:prstGeom prst="rect">
            <a:avLst/>
          </a:prstGeom>
        </p:spPr>
      </p:pic>
      <p:cxnSp>
        <p:nvCxnSpPr>
          <p:cNvPr id="9" name="Straight Connector 8">
            <a:extLst>
              <a:ext uri="{FF2B5EF4-FFF2-40B4-BE49-F238E27FC236}">
                <a16:creationId xmlns:a16="http://schemas.microsoft.com/office/drawing/2014/main" id="{0E37BBBF-4C36-FAF1-D1DC-9AF578C9AC90}"/>
              </a:ext>
            </a:extLst>
          </p:cNvPr>
          <p:cNvCxnSpPr/>
          <p:nvPr/>
        </p:nvCxnSpPr>
        <p:spPr>
          <a:xfrm>
            <a:off x="4264411" y="4357431"/>
            <a:ext cx="125480" cy="475044"/>
          </a:xfrm>
          <a:prstGeom prst="line">
            <a:avLst/>
          </a:prstGeom>
          <a:ln w="28575">
            <a:solidFill>
              <a:srgbClr val="BB7371"/>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EDCA224F-1B52-AD7E-811C-C05804D02526}"/>
              </a:ext>
            </a:extLst>
          </p:cNvPr>
          <p:cNvSpPr/>
          <p:nvPr/>
        </p:nvSpPr>
        <p:spPr>
          <a:xfrm>
            <a:off x="8021713" y="5975233"/>
            <a:ext cx="807940" cy="151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467" kern="0" dirty="0">
                <a:solidFill>
                  <a:prstClr val="white"/>
                </a:solidFill>
                <a:latin typeface="Century Gothic" panose="020B0502020202020204" pitchFamily="34" charset="0"/>
                <a:sym typeface="Arial"/>
              </a:rPr>
              <a:t>NG</a:t>
            </a:r>
          </a:p>
        </p:txBody>
      </p:sp>
      <p:sp>
        <p:nvSpPr>
          <p:cNvPr id="12" name="Rectangle 11">
            <a:extLst>
              <a:ext uri="{FF2B5EF4-FFF2-40B4-BE49-F238E27FC236}">
                <a16:creationId xmlns:a16="http://schemas.microsoft.com/office/drawing/2014/main" id="{43FBF013-89F0-3767-88C2-5A6D2D68AA9C}"/>
              </a:ext>
            </a:extLst>
          </p:cNvPr>
          <p:cNvSpPr/>
          <p:nvPr/>
        </p:nvSpPr>
        <p:spPr>
          <a:xfrm>
            <a:off x="7773421" y="5460313"/>
            <a:ext cx="807940" cy="151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467" kern="0" dirty="0">
                <a:solidFill>
                  <a:prstClr val="white"/>
                </a:solidFill>
                <a:latin typeface="Century Gothic" panose="020B0502020202020204" pitchFamily="34" charset="0"/>
                <a:sym typeface="Arial"/>
              </a:rPr>
              <a:t>GB</a:t>
            </a:r>
          </a:p>
        </p:txBody>
      </p:sp>
      <p:sp>
        <p:nvSpPr>
          <p:cNvPr id="13" name="Rectangle 12">
            <a:extLst>
              <a:ext uri="{FF2B5EF4-FFF2-40B4-BE49-F238E27FC236}">
                <a16:creationId xmlns:a16="http://schemas.microsoft.com/office/drawing/2014/main" id="{0BAB32DD-E56F-A047-CAC0-F813BFC9DE5A}"/>
              </a:ext>
            </a:extLst>
          </p:cNvPr>
          <p:cNvSpPr/>
          <p:nvPr/>
        </p:nvSpPr>
        <p:spPr>
          <a:xfrm>
            <a:off x="8321353" y="4882697"/>
            <a:ext cx="807940" cy="151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467" kern="0" dirty="0">
                <a:solidFill>
                  <a:prstClr val="white"/>
                </a:solidFill>
                <a:latin typeface="Century Gothic" panose="020B0502020202020204" pitchFamily="34" charset="0"/>
                <a:sym typeface="Arial"/>
              </a:rPr>
              <a:t>other</a:t>
            </a:r>
          </a:p>
        </p:txBody>
      </p:sp>
      <p:sp>
        <p:nvSpPr>
          <p:cNvPr id="14" name="Rectangle 13">
            <a:extLst>
              <a:ext uri="{FF2B5EF4-FFF2-40B4-BE49-F238E27FC236}">
                <a16:creationId xmlns:a16="http://schemas.microsoft.com/office/drawing/2014/main" id="{B2C73916-3E21-51E9-225E-A72DB01B5A38}"/>
              </a:ext>
            </a:extLst>
          </p:cNvPr>
          <p:cNvSpPr/>
          <p:nvPr/>
        </p:nvSpPr>
        <p:spPr>
          <a:xfrm>
            <a:off x="9781903" y="5083997"/>
            <a:ext cx="807940" cy="151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467" kern="0" dirty="0">
                <a:solidFill>
                  <a:prstClr val="white"/>
                </a:solidFill>
                <a:latin typeface="Century Gothic" panose="020B0502020202020204" pitchFamily="34" charset="0"/>
                <a:sym typeface="Arial"/>
              </a:rPr>
              <a:t>other</a:t>
            </a:r>
          </a:p>
        </p:txBody>
      </p:sp>
      <p:sp>
        <p:nvSpPr>
          <p:cNvPr id="15" name="Rectangle 14">
            <a:extLst>
              <a:ext uri="{FF2B5EF4-FFF2-40B4-BE49-F238E27FC236}">
                <a16:creationId xmlns:a16="http://schemas.microsoft.com/office/drawing/2014/main" id="{2A28E6A3-758A-5B54-4919-DF392CBF6CB0}"/>
              </a:ext>
            </a:extLst>
          </p:cNvPr>
          <p:cNvSpPr/>
          <p:nvPr/>
        </p:nvSpPr>
        <p:spPr>
          <a:xfrm>
            <a:off x="9927691" y="6247663"/>
            <a:ext cx="807940" cy="151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467" kern="0" dirty="0">
                <a:solidFill>
                  <a:prstClr val="white"/>
                </a:solidFill>
                <a:latin typeface="Century Gothic" panose="020B0502020202020204" pitchFamily="34" charset="0"/>
                <a:sym typeface="Arial"/>
              </a:rPr>
              <a:t>NG</a:t>
            </a:r>
          </a:p>
        </p:txBody>
      </p:sp>
      <p:sp>
        <p:nvSpPr>
          <p:cNvPr id="16" name="Rectangle 15">
            <a:extLst>
              <a:ext uri="{FF2B5EF4-FFF2-40B4-BE49-F238E27FC236}">
                <a16:creationId xmlns:a16="http://schemas.microsoft.com/office/drawing/2014/main" id="{9561AA95-59F3-0722-2E56-2AF9306E7C5D}"/>
              </a:ext>
            </a:extLst>
          </p:cNvPr>
          <p:cNvSpPr/>
          <p:nvPr/>
        </p:nvSpPr>
        <p:spPr>
          <a:xfrm>
            <a:off x="9312754" y="5520246"/>
            <a:ext cx="807940" cy="151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467" kern="0" dirty="0">
                <a:solidFill>
                  <a:prstClr val="white"/>
                </a:solidFill>
                <a:latin typeface="Century Gothic" panose="020B0502020202020204" pitchFamily="34" charset="0"/>
                <a:sym typeface="Arial"/>
              </a:rPr>
              <a:t>GB</a:t>
            </a:r>
          </a:p>
        </p:txBody>
      </p:sp>
    </p:spTree>
    <p:extLst>
      <p:ext uri="{BB962C8B-B14F-4D97-AF65-F5344CB8AC3E}">
        <p14:creationId xmlns:p14="http://schemas.microsoft.com/office/powerpoint/2010/main" val="2128567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p:bldP spid="3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C264833-0344-B354-DC43-84D82C1941A0}"/>
              </a:ext>
            </a:extLst>
          </p:cNvPr>
          <p:cNvSpPr/>
          <p:nvPr/>
        </p:nvSpPr>
        <p:spPr>
          <a:xfrm>
            <a:off x="3658115" y="142859"/>
            <a:ext cx="8358215" cy="6594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endParaRPr lang="en-US" sz="1867" kern="0" dirty="0">
              <a:solidFill>
                <a:prstClr val="white"/>
              </a:solidFill>
              <a:latin typeface="Century Gothic" panose="020B0502020202020204" pitchFamily="34" charset="0"/>
              <a:sym typeface="Arial"/>
            </a:endParaRPr>
          </a:p>
        </p:txBody>
      </p:sp>
      <p:sp>
        <p:nvSpPr>
          <p:cNvPr id="26" name="Rectangle 25">
            <a:extLst>
              <a:ext uri="{FF2B5EF4-FFF2-40B4-BE49-F238E27FC236}">
                <a16:creationId xmlns:a16="http://schemas.microsoft.com/office/drawing/2014/main" id="{C42AE818-44EE-0537-C3AB-D0600642F4BD}"/>
              </a:ext>
            </a:extLst>
          </p:cNvPr>
          <p:cNvSpPr/>
          <p:nvPr/>
        </p:nvSpPr>
        <p:spPr>
          <a:xfrm>
            <a:off x="635000" y="1872831"/>
            <a:ext cx="2362200" cy="66555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r>
              <a:rPr lang="en-US" dirty="0">
                <a:solidFill>
                  <a:prstClr val="white"/>
                </a:solidFill>
                <a:latin typeface="Century Gothic" panose="020B0502020202020204" pitchFamily="34" charset="0"/>
                <a:sym typeface="Arial"/>
              </a:rPr>
              <a:t>Biodiversity data</a:t>
            </a:r>
          </a:p>
        </p:txBody>
      </p:sp>
      <p:sp>
        <p:nvSpPr>
          <p:cNvPr id="27" name="Rectangle 26">
            <a:extLst>
              <a:ext uri="{FF2B5EF4-FFF2-40B4-BE49-F238E27FC236}">
                <a16:creationId xmlns:a16="http://schemas.microsoft.com/office/drawing/2014/main" id="{94CF2449-B36C-E520-4C6D-734116F0ED5E}"/>
              </a:ext>
            </a:extLst>
          </p:cNvPr>
          <p:cNvSpPr/>
          <p:nvPr/>
        </p:nvSpPr>
        <p:spPr>
          <a:xfrm>
            <a:off x="635000" y="3017881"/>
            <a:ext cx="2362200" cy="665559"/>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r>
              <a:rPr lang="en-US" dirty="0">
                <a:solidFill>
                  <a:prstClr val="white"/>
                </a:solidFill>
                <a:latin typeface="Century Gothic" panose="020B0502020202020204" pitchFamily="34" charset="0"/>
                <a:sym typeface="Arial"/>
              </a:rPr>
              <a:t> Species Distribution Models</a:t>
            </a:r>
          </a:p>
        </p:txBody>
      </p:sp>
      <p:cxnSp>
        <p:nvCxnSpPr>
          <p:cNvPr id="30" name="Straight Arrow Connector 29">
            <a:extLst>
              <a:ext uri="{FF2B5EF4-FFF2-40B4-BE49-F238E27FC236}">
                <a16:creationId xmlns:a16="http://schemas.microsoft.com/office/drawing/2014/main" id="{44EEC939-7DD5-DF5C-37E2-B9CD899C7A90}"/>
              </a:ext>
            </a:extLst>
          </p:cNvPr>
          <p:cNvCxnSpPr>
            <a:cxnSpLocks/>
          </p:cNvCxnSpPr>
          <p:nvPr/>
        </p:nvCxnSpPr>
        <p:spPr>
          <a:xfrm>
            <a:off x="1816100" y="2593573"/>
            <a:ext cx="0" cy="354017"/>
          </a:xfrm>
          <a:prstGeom prst="straightConnector1">
            <a:avLst/>
          </a:prstGeom>
          <a:ln w="3810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DA578D64-EF0A-5A1E-87A9-797F7470BE3B}"/>
              </a:ext>
            </a:extLst>
          </p:cNvPr>
          <p:cNvCxnSpPr>
            <a:cxnSpLocks/>
          </p:cNvCxnSpPr>
          <p:nvPr/>
        </p:nvCxnSpPr>
        <p:spPr>
          <a:xfrm>
            <a:off x="1816100" y="3721540"/>
            <a:ext cx="0" cy="354017"/>
          </a:xfrm>
          <a:prstGeom prst="straightConnector1">
            <a:avLst/>
          </a:prstGeom>
          <a:ln w="3810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E8BD21F0-8E82-0240-A8AB-70A19BB21C07}"/>
              </a:ext>
            </a:extLst>
          </p:cNvPr>
          <p:cNvPicPr>
            <a:picLocks noChangeAspect="1"/>
          </p:cNvPicPr>
          <p:nvPr/>
        </p:nvPicPr>
        <p:blipFill>
          <a:blip r:embed="rId3"/>
          <a:stretch>
            <a:fillRect/>
          </a:stretch>
        </p:blipFill>
        <p:spPr>
          <a:xfrm>
            <a:off x="9100515" y="213571"/>
            <a:ext cx="2717084" cy="2717084"/>
          </a:xfrm>
          <a:prstGeom prst="rect">
            <a:avLst/>
          </a:prstGeom>
        </p:spPr>
      </p:pic>
      <p:pic>
        <p:nvPicPr>
          <p:cNvPr id="7" name="Picture 6">
            <a:extLst>
              <a:ext uri="{FF2B5EF4-FFF2-40B4-BE49-F238E27FC236}">
                <a16:creationId xmlns:a16="http://schemas.microsoft.com/office/drawing/2014/main" id="{C40D0501-AED9-E058-07FE-094AF9822DC2}"/>
              </a:ext>
            </a:extLst>
          </p:cNvPr>
          <p:cNvPicPr>
            <a:picLocks noChangeAspect="1"/>
          </p:cNvPicPr>
          <p:nvPr/>
        </p:nvPicPr>
        <p:blipFill rotWithShape="1">
          <a:blip r:embed="rId4"/>
          <a:srcRect l="4170"/>
          <a:stretch/>
        </p:blipFill>
        <p:spPr>
          <a:xfrm>
            <a:off x="3684305" y="2428746"/>
            <a:ext cx="4141233" cy="3167071"/>
          </a:xfrm>
          <a:prstGeom prst="rect">
            <a:avLst/>
          </a:prstGeom>
        </p:spPr>
      </p:pic>
      <p:pic>
        <p:nvPicPr>
          <p:cNvPr id="5" name="Picture 4">
            <a:extLst>
              <a:ext uri="{FF2B5EF4-FFF2-40B4-BE49-F238E27FC236}">
                <a16:creationId xmlns:a16="http://schemas.microsoft.com/office/drawing/2014/main" id="{80233C7D-0F2E-6EC0-F1C2-E07FC7C5A0F8}"/>
              </a:ext>
            </a:extLst>
          </p:cNvPr>
          <p:cNvPicPr>
            <a:picLocks noChangeAspect="1"/>
          </p:cNvPicPr>
          <p:nvPr/>
        </p:nvPicPr>
        <p:blipFill>
          <a:blip r:embed="rId5"/>
          <a:stretch>
            <a:fillRect/>
          </a:stretch>
        </p:blipFill>
        <p:spPr>
          <a:xfrm>
            <a:off x="3721101" y="0"/>
            <a:ext cx="5863167" cy="2551149"/>
          </a:xfrm>
          <a:prstGeom prst="rect">
            <a:avLst/>
          </a:prstGeom>
        </p:spPr>
      </p:pic>
      <p:pic>
        <p:nvPicPr>
          <p:cNvPr id="8" name="Picture 7">
            <a:extLst>
              <a:ext uri="{FF2B5EF4-FFF2-40B4-BE49-F238E27FC236}">
                <a16:creationId xmlns:a16="http://schemas.microsoft.com/office/drawing/2014/main" id="{56FF17AB-8729-EAA3-05BB-90CA2221A21C}"/>
              </a:ext>
            </a:extLst>
          </p:cNvPr>
          <p:cNvPicPr>
            <a:picLocks noChangeAspect="1"/>
          </p:cNvPicPr>
          <p:nvPr/>
        </p:nvPicPr>
        <p:blipFill>
          <a:blip r:embed="rId6"/>
          <a:stretch>
            <a:fillRect/>
          </a:stretch>
        </p:blipFill>
        <p:spPr>
          <a:xfrm>
            <a:off x="3804616" y="4183978"/>
            <a:ext cx="3556181" cy="2408569"/>
          </a:xfrm>
          <a:prstGeom prst="rect">
            <a:avLst/>
          </a:prstGeom>
        </p:spPr>
      </p:pic>
      <p:pic>
        <p:nvPicPr>
          <p:cNvPr id="11" name="Picture 10">
            <a:extLst>
              <a:ext uri="{FF2B5EF4-FFF2-40B4-BE49-F238E27FC236}">
                <a16:creationId xmlns:a16="http://schemas.microsoft.com/office/drawing/2014/main" id="{50B378DC-B651-70D0-62CC-1897C67C115C}"/>
              </a:ext>
            </a:extLst>
          </p:cNvPr>
          <p:cNvPicPr>
            <a:picLocks noChangeAspect="1"/>
          </p:cNvPicPr>
          <p:nvPr/>
        </p:nvPicPr>
        <p:blipFill>
          <a:blip r:embed="rId7"/>
          <a:stretch>
            <a:fillRect/>
          </a:stretch>
        </p:blipFill>
        <p:spPr>
          <a:xfrm>
            <a:off x="7773420" y="2552667"/>
            <a:ext cx="3850752" cy="2134656"/>
          </a:xfrm>
          <a:prstGeom prst="rect">
            <a:avLst/>
          </a:prstGeom>
        </p:spPr>
      </p:pic>
      <p:sp>
        <p:nvSpPr>
          <p:cNvPr id="20" name="Rectangle 19">
            <a:extLst>
              <a:ext uri="{FF2B5EF4-FFF2-40B4-BE49-F238E27FC236}">
                <a16:creationId xmlns:a16="http://schemas.microsoft.com/office/drawing/2014/main" id="{C6493CC6-D1B8-89A2-131F-AFA2CF5224E7}"/>
              </a:ext>
            </a:extLst>
          </p:cNvPr>
          <p:cNvSpPr/>
          <p:nvPr/>
        </p:nvSpPr>
        <p:spPr>
          <a:xfrm>
            <a:off x="7737802" y="3083681"/>
            <a:ext cx="337055" cy="13854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endParaRPr lang="en-US" sz="1867" kern="0" dirty="0">
              <a:solidFill>
                <a:prstClr val="white"/>
              </a:solidFill>
              <a:latin typeface="Century Gothic" panose="020B0502020202020204" pitchFamily="34" charset="0"/>
              <a:sym typeface="Arial"/>
            </a:endParaRPr>
          </a:p>
        </p:txBody>
      </p:sp>
      <p:pic>
        <p:nvPicPr>
          <p:cNvPr id="24" name="Picture 23">
            <a:extLst>
              <a:ext uri="{FF2B5EF4-FFF2-40B4-BE49-F238E27FC236}">
                <a16:creationId xmlns:a16="http://schemas.microsoft.com/office/drawing/2014/main" id="{ADB5744F-82EF-EB87-8295-F8D9AB6B85D6}"/>
              </a:ext>
            </a:extLst>
          </p:cNvPr>
          <p:cNvPicPr>
            <a:picLocks noChangeAspect="1"/>
          </p:cNvPicPr>
          <p:nvPr/>
        </p:nvPicPr>
        <p:blipFill>
          <a:blip r:embed="rId8"/>
          <a:stretch>
            <a:fillRect/>
          </a:stretch>
        </p:blipFill>
        <p:spPr>
          <a:xfrm>
            <a:off x="7782239" y="3246225"/>
            <a:ext cx="205884" cy="968868"/>
          </a:xfrm>
          <a:prstGeom prst="rect">
            <a:avLst/>
          </a:prstGeom>
        </p:spPr>
      </p:pic>
      <p:sp>
        <p:nvSpPr>
          <p:cNvPr id="13" name="Rectangle 12">
            <a:extLst>
              <a:ext uri="{FF2B5EF4-FFF2-40B4-BE49-F238E27FC236}">
                <a16:creationId xmlns:a16="http://schemas.microsoft.com/office/drawing/2014/main" id="{9AD5C7FB-F091-E0BB-50E1-1415A191EC1C}"/>
              </a:ext>
            </a:extLst>
          </p:cNvPr>
          <p:cNvSpPr/>
          <p:nvPr/>
        </p:nvSpPr>
        <p:spPr>
          <a:xfrm>
            <a:off x="482601" y="1765658"/>
            <a:ext cx="2679700" cy="863084"/>
          </a:xfrm>
          <a:prstGeom prst="rect">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prstClr val="white"/>
              </a:solidFill>
              <a:latin typeface="Century Gothic" panose="020B0502020202020204" pitchFamily="34" charset="0"/>
              <a:sym typeface="Arial"/>
            </a:endParaRPr>
          </a:p>
        </p:txBody>
      </p:sp>
      <p:sp>
        <p:nvSpPr>
          <p:cNvPr id="9" name="Rectangle 8">
            <a:extLst>
              <a:ext uri="{FF2B5EF4-FFF2-40B4-BE49-F238E27FC236}">
                <a16:creationId xmlns:a16="http://schemas.microsoft.com/office/drawing/2014/main" id="{5F85FE9E-0561-0B65-2476-0DE7BF4785D5}"/>
              </a:ext>
            </a:extLst>
          </p:cNvPr>
          <p:cNvSpPr/>
          <p:nvPr/>
        </p:nvSpPr>
        <p:spPr>
          <a:xfrm>
            <a:off x="508801" y="4163106"/>
            <a:ext cx="2679689" cy="6655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r>
              <a:rPr lang="en-US" sz="1600" dirty="0">
                <a:solidFill>
                  <a:srgbClr val="FFC000">
                    <a:lumMod val="60000"/>
                    <a:lumOff val="40000"/>
                  </a:srgbClr>
                </a:solidFill>
                <a:latin typeface="Century Gothic" panose="020B0502020202020204" pitchFamily="34" charset="0"/>
                <a:sym typeface="Arial"/>
              </a:rPr>
              <a:t>conservation/restoration priorities</a:t>
            </a:r>
          </a:p>
        </p:txBody>
      </p:sp>
      <p:pic>
        <p:nvPicPr>
          <p:cNvPr id="4" name="Picture 3">
            <a:extLst>
              <a:ext uri="{FF2B5EF4-FFF2-40B4-BE49-F238E27FC236}">
                <a16:creationId xmlns:a16="http://schemas.microsoft.com/office/drawing/2014/main" id="{AEBB4281-68D6-AF2E-2203-C42DD624D5B2}"/>
              </a:ext>
            </a:extLst>
          </p:cNvPr>
          <p:cNvPicPr>
            <a:picLocks noChangeAspect="1"/>
          </p:cNvPicPr>
          <p:nvPr/>
        </p:nvPicPr>
        <p:blipFill>
          <a:blip r:embed="rId9"/>
          <a:stretch>
            <a:fillRect/>
          </a:stretch>
        </p:blipFill>
        <p:spPr>
          <a:xfrm>
            <a:off x="7552857" y="4711729"/>
            <a:ext cx="4055055" cy="1852872"/>
          </a:xfrm>
          <a:prstGeom prst="rect">
            <a:avLst/>
          </a:prstGeom>
        </p:spPr>
      </p:pic>
      <p:sp>
        <p:nvSpPr>
          <p:cNvPr id="15" name="Rectangle 14">
            <a:extLst>
              <a:ext uri="{FF2B5EF4-FFF2-40B4-BE49-F238E27FC236}">
                <a16:creationId xmlns:a16="http://schemas.microsoft.com/office/drawing/2014/main" id="{39531000-7F49-4C26-21E6-E2900AB2EAB8}"/>
              </a:ext>
            </a:extLst>
          </p:cNvPr>
          <p:cNvSpPr/>
          <p:nvPr/>
        </p:nvSpPr>
        <p:spPr>
          <a:xfrm>
            <a:off x="8021713" y="5975233"/>
            <a:ext cx="807940" cy="151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467" kern="0" dirty="0">
                <a:solidFill>
                  <a:prstClr val="white"/>
                </a:solidFill>
                <a:latin typeface="Century Gothic" panose="020B0502020202020204" pitchFamily="34" charset="0"/>
                <a:sym typeface="Arial"/>
              </a:rPr>
              <a:t>NG</a:t>
            </a:r>
          </a:p>
        </p:txBody>
      </p:sp>
      <p:sp>
        <p:nvSpPr>
          <p:cNvPr id="16" name="Rectangle 15">
            <a:extLst>
              <a:ext uri="{FF2B5EF4-FFF2-40B4-BE49-F238E27FC236}">
                <a16:creationId xmlns:a16="http://schemas.microsoft.com/office/drawing/2014/main" id="{BF03E883-7A7C-A8A7-7E48-1E8C14D54EA5}"/>
              </a:ext>
            </a:extLst>
          </p:cNvPr>
          <p:cNvSpPr/>
          <p:nvPr/>
        </p:nvSpPr>
        <p:spPr>
          <a:xfrm>
            <a:off x="7773421" y="5460313"/>
            <a:ext cx="807940" cy="151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467" kern="0" dirty="0">
                <a:solidFill>
                  <a:prstClr val="white"/>
                </a:solidFill>
                <a:latin typeface="Century Gothic" panose="020B0502020202020204" pitchFamily="34" charset="0"/>
                <a:sym typeface="Arial"/>
              </a:rPr>
              <a:t>GB</a:t>
            </a:r>
          </a:p>
        </p:txBody>
      </p:sp>
      <p:sp>
        <p:nvSpPr>
          <p:cNvPr id="17" name="Rectangle 16">
            <a:extLst>
              <a:ext uri="{FF2B5EF4-FFF2-40B4-BE49-F238E27FC236}">
                <a16:creationId xmlns:a16="http://schemas.microsoft.com/office/drawing/2014/main" id="{1485F5B9-CCF4-E76E-8ECF-A035EFD4A6F3}"/>
              </a:ext>
            </a:extLst>
          </p:cNvPr>
          <p:cNvSpPr/>
          <p:nvPr/>
        </p:nvSpPr>
        <p:spPr>
          <a:xfrm>
            <a:off x="8321353" y="4882697"/>
            <a:ext cx="807940" cy="151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467" kern="0" dirty="0">
                <a:solidFill>
                  <a:prstClr val="white"/>
                </a:solidFill>
                <a:latin typeface="Century Gothic" panose="020B0502020202020204" pitchFamily="34" charset="0"/>
                <a:sym typeface="Arial"/>
              </a:rPr>
              <a:t>other</a:t>
            </a:r>
          </a:p>
        </p:txBody>
      </p:sp>
      <p:sp>
        <p:nvSpPr>
          <p:cNvPr id="18" name="Rectangle 17">
            <a:extLst>
              <a:ext uri="{FF2B5EF4-FFF2-40B4-BE49-F238E27FC236}">
                <a16:creationId xmlns:a16="http://schemas.microsoft.com/office/drawing/2014/main" id="{69EBB5E5-F2A1-D8F1-0C52-4AFBF9A4BB37}"/>
              </a:ext>
            </a:extLst>
          </p:cNvPr>
          <p:cNvSpPr/>
          <p:nvPr/>
        </p:nvSpPr>
        <p:spPr>
          <a:xfrm>
            <a:off x="9781903" y="5083997"/>
            <a:ext cx="807940" cy="151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467" kern="0" dirty="0">
                <a:solidFill>
                  <a:prstClr val="white"/>
                </a:solidFill>
                <a:latin typeface="Century Gothic" panose="020B0502020202020204" pitchFamily="34" charset="0"/>
                <a:sym typeface="Arial"/>
              </a:rPr>
              <a:t>other</a:t>
            </a:r>
          </a:p>
        </p:txBody>
      </p:sp>
      <p:sp>
        <p:nvSpPr>
          <p:cNvPr id="19" name="Rectangle 18">
            <a:extLst>
              <a:ext uri="{FF2B5EF4-FFF2-40B4-BE49-F238E27FC236}">
                <a16:creationId xmlns:a16="http://schemas.microsoft.com/office/drawing/2014/main" id="{E41A85E2-458E-E33F-7F65-937689D6B513}"/>
              </a:ext>
            </a:extLst>
          </p:cNvPr>
          <p:cNvSpPr/>
          <p:nvPr/>
        </p:nvSpPr>
        <p:spPr>
          <a:xfrm>
            <a:off x="9927691" y="6247663"/>
            <a:ext cx="807940" cy="151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467" kern="0" dirty="0">
                <a:solidFill>
                  <a:prstClr val="white"/>
                </a:solidFill>
                <a:latin typeface="Century Gothic" panose="020B0502020202020204" pitchFamily="34" charset="0"/>
                <a:sym typeface="Arial"/>
              </a:rPr>
              <a:t>NG</a:t>
            </a:r>
          </a:p>
        </p:txBody>
      </p:sp>
      <p:sp>
        <p:nvSpPr>
          <p:cNvPr id="21" name="Rectangle 20">
            <a:extLst>
              <a:ext uri="{FF2B5EF4-FFF2-40B4-BE49-F238E27FC236}">
                <a16:creationId xmlns:a16="http://schemas.microsoft.com/office/drawing/2014/main" id="{0AEE89BB-18F7-0B71-EC81-5FF504A935F2}"/>
              </a:ext>
            </a:extLst>
          </p:cNvPr>
          <p:cNvSpPr/>
          <p:nvPr/>
        </p:nvSpPr>
        <p:spPr>
          <a:xfrm>
            <a:off x="9312754" y="5520246"/>
            <a:ext cx="807940" cy="151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467" kern="0" dirty="0">
                <a:solidFill>
                  <a:prstClr val="white"/>
                </a:solidFill>
                <a:latin typeface="Century Gothic" panose="020B0502020202020204" pitchFamily="34" charset="0"/>
                <a:sym typeface="Arial"/>
              </a:rPr>
              <a:t>GB</a:t>
            </a:r>
          </a:p>
        </p:txBody>
      </p:sp>
      <p:cxnSp>
        <p:nvCxnSpPr>
          <p:cNvPr id="12" name="Straight Connector 11">
            <a:extLst>
              <a:ext uri="{FF2B5EF4-FFF2-40B4-BE49-F238E27FC236}">
                <a16:creationId xmlns:a16="http://schemas.microsoft.com/office/drawing/2014/main" id="{FF1C5848-5924-F8FF-90AC-A4125E076888}"/>
              </a:ext>
            </a:extLst>
          </p:cNvPr>
          <p:cNvCxnSpPr/>
          <p:nvPr/>
        </p:nvCxnSpPr>
        <p:spPr>
          <a:xfrm>
            <a:off x="4264411" y="4357431"/>
            <a:ext cx="125480" cy="475044"/>
          </a:xfrm>
          <a:prstGeom prst="line">
            <a:avLst/>
          </a:prstGeom>
          <a:ln w="28575">
            <a:solidFill>
              <a:srgbClr val="BB7371"/>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38208F98-2A22-627B-F2DD-5649188BB840}"/>
              </a:ext>
            </a:extLst>
          </p:cNvPr>
          <p:cNvSpPr/>
          <p:nvPr/>
        </p:nvSpPr>
        <p:spPr>
          <a:xfrm>
            <a:off x="3603131" y="-86158"/>
            <a:ext cx="8588869" cy="6873633"/>
          </a:xfrm>
          <a:prstGeom prst="rect">
            <a:avLst/>
          </a:prstGeom>
          <a:solidFill>
            <a:srgbClr val="000000">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endParaRPr lang="en-US" sz="1867" kern="0" dirty="0">
              <a:solidFill>
                <a:prstClr val="white"/>
              </a:solidFill>
              <a:latin typeface="Century Gothic" panose="020B0502020202020204" pitchFamily="34" charset="0"/>
              <a:sym typeface="Arial"/>
            </a:endParaRPr>
          </a:p>
        </p:txBody>
      </p:sp>
      <p:sp>
        <p:nvSpPr>
          <p:cNvPr id="10" name="TextBox 9">
            <a:extLst>
              <a:ext uri="{FF2B5EF4-FFF2-40B4-BE49-F238E27FC236}">
                <a16:creationId xmlns:a16="http://schemas.microsoft.com/office/drawing/2014/main" id="{F90AD6A6-9BAE-64D1-C9B1-A7AA29D5EED1}"/>
              </a:ext>
            </a:extLst>
          </p:cNvPr>
          <p:cNvSpPr txBox="1"/>
          <p:nvPr/>
        </p:nvSpPr>
        <p:spPr>
          <a:xfrm>
            <a:off x="3657750" y="620657"/>
            <a:ext cx="8159849" cy="871905"/>
          </a:xfrm>
          <a:prstGeom prst="rect">
            <a:avLst/>
          </a:prstGeom>
          <a:noFill/>
        </p:spPr>
        <p:txBody>
          <a:bodyPr wrap="square">
            <a:spAutoFit/>
          </a:bodyPr>
          <a:lstStyle/>
          <a:p>
            <a:pPr defTabSz="1219170">
              <a:buClr>
                <a:srgbClr val="000000"/>
              </a:buClr>
              <a:defRPr/>
            </a:pPr>
            <a:r>
              <a:rPr lang="en-US" sz="2533" kern="0" dirty="0">
                <a:solidFill>
                  <a:prstClr val="white"/>
                </a:solidFill>
                <a:latin typeface="Century Gothic" panose="020B0502020202020204" pitchFamily="34" charset="0"/>
                <a:cs typeface="Arial"/>
                <a:sym typeface="Arial"/>
              </a:rPr>
              <a:t>How do the social, political, &amp; historical dimensions </a:t>
            </a:r>
          </a:p>
          <a:p>
            <a:pPr defTabSz="1219170">
              <a:buClr>
                <a:srgbClr val="000000"/>
              </a:buClr>
              <a:defRPr/>
            </a:pPr>
            <a:r>
              <a:rPr lang="en-US" sz="2533" kern="0" dirty="0">
                <a:solidFill>
                  <a:prstClr val="white"/>
                </a:solidFill>
                <a:latin typeface="Century Gothic" panose="020B0502020202020204" pitchFamily="34" charset="0"/>
                <a:cs typeface="Arial"/>
                <a:sym typeface="Arial"/>
              </a:rPr>
              <a:t>of biodiversity data impact …</a:t>
            </a:r>
            <a:endParaRPr lang="en-US" sz="2533" b="1" kern="0" dirty="0">
              <a:solidFill>
                <a:srgbClr val="000000"/>
              </a:solidFill>
              <a:latin typeface="Arial"/>
              <a:cs typeface="Arial"/>
              <a:sym typeface="Arial"/>
            </a:endParaRPr>
          </a:p>
        </p:txBody>
      </p:sp>
    </p:spTree>
    <p:extLst>
      <p:ext uri="{BB962C8B-B14F-4D97-AF65-F5344CB8AC3E}">
        <p14:creationId xmlns:p14="http://schemas.microsoft.com/office/powerpoint/2010/main" val="15701900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C264833-0344-B354-DC43-84D82C1941A0}"/>
              </a:ext>
            </a:extLst>
          </p:cNvPr>
          <p:cNvSpPr/>
          <p:nvPr/>
        </p:nvSpPr>
        <p:spPr>
          <a:xfrm>
            <a:off x="3658115" y="142859"/>
            <a:ext cx="8358215" cy="6594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endParaRPr lang="en-US" sz="1867" kern="0" dirty="0">
              <a:solidFill>
                <a:prstClr val="white"/>
              </a:solidFill>
              <a:latin typeface="Century Gothic" panose="020B0502020202020204" pitchFamily="34" charset="0"/>
              <a:sym typeface="Arial"/>
            </a:endParaRPr>
          </a:p>
        </p:txBody>
      </p:sp>
      <p:sp>
        <p:nvSpPr>
          <p:cNvPr id="26" name="Rectangle 25">
            <a:extLst>
              <a:ext uri="{FF2B5EF4-FFF2-40B4-BE49-F238E27FC236}">
                <a16:creationId xmlns:a16="http://schemas.microsoft.com/office/drawing/2014/main" id="{C42AE818-44EE-0537-C3AB-D0600642F4BD}"/>
              </a:ext>
            </a:extLst>
          </p:cNvPr>
          <p:cNvSpPr/>
          <p:nvPr/>
        </p:nvSpPr>
        <p:spPr>
          <a:xfrm>
            <a:off x="635000" y="1872831"/>
            <a:ext cx="2362200" cy="66555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r>
              <a:rPr lang="en-US" dirty="0">
                <a:solidFill>
                  <a:prstClr val="white"/>
                </a:solidFill>
                <a:latin typeface="Century Gothic" panose="020B0502020202020204" pitchFamily="34" charset="0"/>
                <a:sym typeface="Arial"/>
              </a:rPr>
              <a:t>Biodiversity data</a:t>
            </a:r>
          </a:p>
        </p:txBody>
      </p:sp>
      <p:sp>
        <p:nvSpPr>
          <p:cNvPr id="27" name="Rectangle 26">
            <a:extLst>
              <a:ext uri="{FF2B5EF4-FFF2-40B4-BE49-F238E27FC236}">
                <a16:creationId xmlns:a16="http://schemas.microsoft.com/office/drawing/2014/main" id="{94CF2449-B36C-E520-4C6D-734116F0ED5E}"/>
              </a:ext>
            </a:extLst>
          </p:cNvPr>
          <p:cNvSpPr/>
          <p:nvPr/>
        </p:nvSpPr>
        <p:spPr>
          <a:xfrm>
            <a:off x="635000" y="3017881"/>
            <a:ext cx="2362200" cy="665559"/>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r>
              <a:rPr lang="en-US" dirty="0">
                <a:solidFill>
                  <a:prstClr val="white"/>
                </a:solidFill>
                <a:latin typeface="Century Gothic" panose="020B0502020202020204" pitchFamily="34" charset="0"/>
                <a:sym typeface="Arial"/>
              </a:rPr>
              <a:t> Species Distribution Models</a:t>
            </a:r>
          </a:p>
        </p:txBody>
      </p:sp>
      <p:cxnSp>
        <p:nvCxnSpPr>
          <p:cNvPr id="30" name="Straight Arrow Connector 29">
            <a:extLst>
              <a:ext uri="{FF2B5EF4-FFF2-40B4-BE49-F238E27FC236}">
                <a16:creationId xmlns:a16="http://schemas.microsoft.com/office/drawing/2014/main" id="{44EEC939-7DD5-DF5C-37E2-B9CD899C7A90}"/>
              </a:ext>
            </a:extLst>
          </p:cNvPr>
          <p:cNvCxnSpPr>
            <a:cxnSpLocks/>
          </p:cNvCxnSpPr>
          <p:nvPr/>
        </p:nvCxnSpPr>
        <p:spPr>
          <a:xfrm>
            <a:off x="1816100" y="2593573"/>
            <a:ext cx="0" cy="354017"/>
          </a:xfrm>
          <a:prstGeom prst="straightConnector1">
            <a:avLst/>
          </a:prstGeom>
          <a:ln w="3810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DA578D64-EF0A-5A1E-87A9-797F7470BE3B}"/>
              </a:ext>
            </a:extLst>
          </p:cNvPr>
          <p:cNvCxnSpPr>
            <a:cxnSpLocks/>
          </p:cNvCxnSpPr>
          <p:nvPr/>
        </p:nvCxnSpPr>
        <p:spPr>
          <a:xfrm>
            <a:off x="1816100" y="3721540"/>
            <a:ext cx="0" cy="354017"/>
          </a:xfrm>
          <a:prstGeom prst="straightConnector1">
            <a:avLst/>
          </a:prstGeom>
          <a:ln w="3810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E8BD21F0-8E82-0240-A8AB-70A19BB21C07}"/>
              </a:ext>
            </a:extLst>
          </p:cNvPr>
          <p:cNvPicPr>
            <a:picLocks noChangeAspect="1"/>
          </p:cNvPicPr>
          <p:nvPr/>
        </p:nvPicPr>
        <p:blipFill>
          <a:blip r:embed="rId3"/>
          <a:stretch>
            <a:fillRect/>
          </a:stretch>
        </p:blipFill>
        <p:spPr>
          <a:xfrm>
            <a:off x="9100515" y="213571"/>
            <a:ext cx="2717084" cy="2717084"/>
          </a:xfrm>
          <a:prstGeom prst="rect">
            <a:avLst/>
          </a:prstGeom>
        </p:spPr>
      </p:pic>
      <p:pic>
        <p:nvPicPr>
          <p:cNvPr id="7" name="Picture 6">
            <a:extLst>
              <a:ext uri="{FF2B5EF4-FFF2-40B4-BE49-F238E27FC236}">
                <a16:creationId xmlns:a16="http://schemas.microsoft.com/office/drawing/2014/main" id="{C40D0501-AED9-E058-07FE-094AF9822DC2}"/>
              </a:ext>
            </a:extLst>
          </p:cNvPr>
          <p:cNvPicPr>
            <a:picLocks noChangeAspect="1"/>
          </p:cNvPicPr>
          <p:nvPr/>
        </p:nvPicPr>
        <p:blipFill rotWithShape="1">
          <a:blip r:embed="rId4"/>
          <a:srcRect l="4170"/>
          <a:stretch/>
        </p:blipFill>
        <p:spPr>
          <a:xfrm>
            <a:off x="3684305" y="2428746"/>
            <a:ext cx="4141233" cy="3167071"/>
          </a:xfrm>
          <a:prstGeom prst="rect">
            <a:avLst/>
          </a:prstGeom>
        </p:spPr>
      </p:pic>
      <p:pic>
        <p:nvPicPr>
          <p:cNvPr id="5" name="Picture 4">
            <a:extLst>
              <a:ext uri="{FF2B5EF4-FFF2-40B4-BE49-F238E27FC236}">
                <a16:creationId xmlns:a16="http://schemas.microsoft.com/office/drawing/2014/main" id="{80233C7D-0F2E-6EC0-F1C2-E07FC7C5A0F8}"/>
              </a:ext>
            </a:extLst>
          </p:cNvPr>
          <p:cNvPicPr>
            <a:picLocks noChangeAspect="1"/>
          </p:cNvPicPr>
          <p:nvPr/>
        </p:nvPicPr>
        <p:blipFill>
          <a:blip r:embed="rId5"/>
          <a:stretch>
            <a:fillRect/>
          </a:stretch>
        </p:blipFill>
        <p:spPr>
          <a:xfrm>
            <a:off x="3721101" y="0"/>
            <a:ext cx="5863167" cy="2551149"/>
          </a:xfrm>
          <a:prstGeom prst="rect">
            <a:avLst/>
          </a:prstGeom>
        </p:spPr>
      </p:pic>
      <p:pic>
        <p:nvPicPr>
          <p:cNvPr id="8" name="Picture 7">
            <a:extLst>
              <a:ext uri="{FF2B5EF4-FFF2-40B4-BE49-F238E27FC236}">
                <a16:creationId xmlns:a16="http://schemas.microsoft.com/office/drawing/2014/main" id="{56FF17AB-8729-EAA3-05BB-90CA2221A21C}"/>
              </a:ext>
            </a:extLst>
          </p:cNvPr>
          <p:cNvPicPr>
            <a:picLocks noChangeAspect="1"/>
          </p:cNvPicPr>
          <p:nvPr/>
        </p:nvPicPr>
        <p:blipFill>
          <a:blip r:embed="rId6"/>
          <a:stretch>
            <a:fillRect/>
          </a:stretch>
        </p:blipFill>
        <p:spPr>
          <a:xfrm>
            <a:off x="3804616" y="4183978"/>
            <a:ext cx="3556181" cy="2408569"/>
          </a:xfrm>
          <a:prstGeom prst="rect">
            <a:avLst/>
          </a:prstGeom>
        </p:spPr>
      </p:pic>
      <p:pic>
        <p:nvPicPr>
          <p:cNvPr id="11" name="Picture 10">
            <a:extLst>
              <a:ext uri="{FF2B5EF4-FFF2-40B4-BE49-F238E27FC236}">
                <a16:creationId xmlns:a16="http://schemas.microsoft.com/office/drawing/2014/main" id="{50B378DC-B651-70D0-62CC-1897C67C115C}"/>
              </a:ext>
            </a:extLst>
          </p:cNvPr>
          <p:cNvPicPr>
            <a:picLocks noChangeAspect="1"/>
          </p:cNvPicPr>
          <p:nvPr/>
        </p:nvPicPr>
        <p:blipFill>
          <a:blip r:embed="rId7"/>
          <a:stretch>
            <a:fillRect/>
          </a:stretch>
        </p:blipFill>
        <p:spPr>
          <a:xfrm>
            <a:off x="7773420" y="2552667"/>
            <a:ext cx="3850752" cy="2134656"/>
          </a:xfrm>
          <a:prstGeom prst="rect">
            <a:avLst/>
          </a:prstGeom>
        </p:spPr>
      </p:pic>
      <p:sp>
        <p:nvSpPr>
          <p:cNvPr id="20" name="Rectangle 19">
            <a:extLst>
              <a:ext uri="{FF2B5EF4-FFF2-40B4-BE49-F238E27FC236}">
                <a16:creationId xmlns:a16="http://schemas.microsoft.com/office/drawing/2014/main" id="{C6493CC6-D1B8-89A2-131F-AFA2CF5224E7}"/>
              </a:ext>
            </a:extLst>
          </p:cNvPr>
          <p:cNvSpPr/>
          <p:nvPr/>
        </p:nvSpPr>
        <p:spPr>
          <a:xfrm>
            <a:off x="7737802" y="3083681"/>
            <a:ext cx="337055" cy="13854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endParaRPr lang="en-US" sz="1867" kern="0" dirty="0">
              <a:solidFill>
                <a:prstClr val="white"/>
              </a:solidFill>
              <a:latin typeface="Century Gothic" panose="020B0502020202020204" pitchFamily="34" charset="0"/>
              <a:sym typeface="Arial"/>
            </a:endParaRPr>
          </a:p>
        </p:txBody>
      </p:sp>
      <p:pic>
        <p:nvPicPr>
          <p:cNvPr id="24" name="Picture 23">
            <a:extLst>
              <a:ext uri="{FF2B5EF4-FFF2-40B4-BE49-F238E27FC236}">
                <a16:creationId xmlns:a16="http://schemas.microsoft.com/office/drawing/2014/main" id="{ADB5744F-82EF-EB87-8295-F8D9AB6B85D6}"/>
              </a:ext>
            </a:extLst>
          </p:cNvPr>
          <p:cNvPicPr>
            <a:picLocks noChangeAspect="1"/>
          </p:cNvPicPr>
          <p:nvPr/>
        </p:nvPicPr>
        <p:blipFill>
          <a:blip r:embed="rId8"/>
          <a:stretch>
            <a:fillRect/>
          </a:stretch>
        </p:blipFill>
        <p:spPr>
          <a:xfrm>
            <a:off x="7782239" y="3246225"/>
            <a:ext cx="205884" cy="968868"/>
          </a:xfrm>
          <a:prstGeom prst="rect">
            <a:avLst/>
          </a:prstGeom>
        </p:spPr>
      </p:pic>
      <p:sp>
        <p:nvSpPr>
          <p:cNvPr id="12" name="Rectangle 11">
            <a:extLst>
              <a:ext uri="{FF2B5EF4-FFF2-40B4-BE49-F238E27FC236}">
                <a16:creationId xmlns:a16="http://schemas.microsoft.com/office/drawing/2014/main" id="{D301F47C-4667-CC7F-5729-30BC594811DF}"/>
              </a:ext>
            </a:extLst>
          </p:cNvPr>
          <p:cNvSpPr/>
          <p:nvPr/>
        </p:nvSpPr>
        <p:spPr>
          <a:xfrm>
            <a:off x="476250" y="2913330"/>
            <a:ext cx="2679700" cy="863084"/>
          </a:xfrm>
          <a:prstGeom prst="rect">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prstClr val="white"/>
              </a:solidFill>
              <a:latin typeface="Century Gothic" panose="020B0502020202020204" pitchFamily="34" charset="0"/>
              <a:sym typeface="Arial"/>
            </a:endParaRPr>
          </a:p>
        </p:txBody>
      </p:sp>
      <p:sp>
        <p:nvSpPr>
          <p:cNvPr id="15" name="Rectangle 14">
            <a:extLst>
              <a:ext uri="{FF2B5EF4-FFF2-40B4-BE49-F238E27FC236}">
                <a16:creationId xmlns:a16="http://schemas.microsoft.com/office/drawing/2014/main" id="{3827E092-1787-6FD9-9C0E-F0B2AF55CD53}"/>
              </a:ext>
            </a:extLst>
          </p:cNvPr>
          <p:cNvSpPr/>
          <p:nvPr/>
        </p:nvSpPr>
        <p:spPr>
          <a:xfrm>
            <a:off x="508801" y="4163106"/>
            <a:ext cx="2679689" cy="6655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r>
              <a:rPr lang="en-US" sz="1600" dirty="0">
                <a:solidFill>
                  <a:srgbClr val="FFC000">
                    <a:lumMod val="60000"/>
                    <a:lumOff val="40000"/>
                  </a:srgbClr>
                </a:solidFill>
                <a:latin typeface="Century Gothic" panose="020B0502020202020204" pitchFamily="34" charset="0"/>
                <a:sym typeface="Arial"/>
              </a:rPr>
              <a:t>conservation/restoration priorities</a:t>
            </a:r>
          </a:p>
        </p:txBody>
      </p:sp>
      <p:pic>
        <p:nvPicPr>
          <p:cNvPr id="4" name="Picture 3">
            <a:extLst>
              <a:ext uri="{FF2B5EF4-FFF2-40B4-BE49-F238E27FC236}">
                <a16:creationId xmlns:a16="http://schemas.microsoft.com/office/drawing/2014/main" id="{2F7ABB67-8A61-D003-691F-8B1EF941A833}"/>
              </a:ext>
            </a:extLst>
          </p:cNvPr>
          <p:cNvPicPr>
            <a:picLocks noChangeAspect="1"/>
          </p:cNvPicPr>
          <p:nvPr/>
        </p:nvPicPr>
        <p:blipFill>
          <a:blip r:embed="rId9"/>
          <a:stretch>
            <a:fillRect/>
          </a:stretch>
        </p:blipFill>
        <p:spPr>
          <a:xfrm>
            <a:off x="7552857" y="4711729"/>
            <a:ext cx="4055055" cy="1852872"/>
          </a:xfrm>
          <a:prstGeom prst="rect">
            <a:avLst/>
          </a:prstGeom>
        </p:spPr>
      </p:pic>
      <p:sp>
        <p:nvSpPr>
          <p:cNvPr id="16" name="Rectangle 15">
            <a:extLst>
              <a:ext uri="{FF2B5EF4-FFF2-40B4-BE49-F238E27FC236}">
                <a16:creationId xmlns:a16="http://schemas.microsoft.com/office/drawing/2014/main" id="{92A70340-0048-33C4-50B0-0B31B1D07EFD}"/>
              </a:ext>
            </a:extLst>
          </p:cNvPr>
          <p:cNvSpPr/>
          <p:nvPr/>
        </p:nvSpPr>
        <p:spPr>
          <a:xfrm>
            <a:off x="8021713" y="5975233"/>
            <a:ext cx="807940" cy="151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467" kern="0" dirty="0">
                <a:solidFill>
                  <a:prstClr val="white"/>
                </a:solidFill>
                <a:latin typeface="Century Gothic" panose="020B0502020202020204" pitchFamily="34" charset="0"/>
                <a:sym typeface="Arial"/>
              </a:rPr>
              <a:t>NG</a:t>
            </a:r>
          </a:p>
        </p:txBody>
      </p:sp>
      <p:sp>
        <p:nvSpPr>
          <p:cNvPr id="17" name="Rectangle 16">
            <a:extLst>
              <a:ext uri="{FF2B5EF4-FFF2-40B4-BE49-F238E27FC236}">
                <a16:creationId xmlns:a16="http://schemas.microsoft.com/office/drawing/2014/main" id="{3A220353-DD13-4938-7C48-498246C0FCEC}"/>
              </a:ext>
            </a:extLst>
          </p:cNvPr>
          <p:cNvSpPr/>
          <p:nvPr/>
        </p:nvSpPr>
        <p:spPr>
          <a:xfrm>
            <a:off x="7773421" y="5460313"/>
            <a:ext cx="807940" cy="151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467" kern="0" dirty="0">
                <a:solidFill>
                  <a:prstClr val="white"/>
                </a:solidFill>
                <a:latin typeface="Century Gothic" panose="020B0502020202020204" pitchFamily="34" charset="0"/>
                <a:sym typeface="Arial"/>
              </a:rPr>
              <a:t>GB</a:t>
            </a:r>
          </a:p>
        </p:txBody>
      </p:sp>
      <p:sp>
        <p:nvSpPr>
          <p:cNvPr id="18" name="Rectangle 17">
            <a:extLst>
              <a:ext uri="{FF2B5EF4-FFF2-40B4-BE49-F238E27FC236}">
                <a16:creationId xmlns:a16="http://schemas.microsoft.com/office/drawing/2014/main" id="{A3451580-ADCE-78D1-AE08-A929F6E1C420}"/>
              </a:ext>
            </a:extLst>
          </p:cNvPr>
          <p:cNvSpPr/>
          <p:nvPr/>
        </p:nvSpPr>
        <p:spPr>
          <a:xfrm>
            <a:off x="8321353" y="4882697"/>
            <a:ext cx="807940" cy="151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467" kern="0" dirty="0">
                <a:solidFill>
                  <a:prstClr val="white"/>
                </a:solidFill>
                <a:latin typeface="Century Gothic" panose="020B0502020202020204" pitchFamily="34" charset="0"/>
                <a:sym typeface="Arial"/>
              </a:rPr>
              <a:t>other</a:t>
            </a:r>
          </a:p>
        </p:txBody>
      </p:sp>
      <p:sp>
        <p:nvSpPr>
          <p:cNvPr id="19" name="Rectangle 18">
            <a:extLst>
              <a:ext uri="{FF2B5EF4-FFF2-40B4-BE49-F238E27FC236}">
                <a16:creationId xmlns:a16="http://schemas.microsoft.com/office/drawing/2014/main" id="{E7DB0021-3AFC-32A9-E705-A7F2B547D3AE}"/>
              </a:ext>
            </a:extLst>
          </p:cNvPr>
          <p:cNvSpPr/>
          <p:nvPr/>
        </p:nvSpPr>
        <p:spPr>
          <a:xfrm>
            <a:off x="9781903" y="5083997"/>
            <a:ext cx="807940" cy="151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467" kern="0" dirty="0">
                <a:solidFill>
                  <a:prstClr val="white"/>
                </a:solidFill>
                <a:latin typeface="Century Gothic" panose="020B0502020202020204" pitchFamily="34" charset="0"/>
                <a:sym typeface="Arial"/>
              </a:rPr>
              <a:t>other</a:t>
            </a:r>
          </a:p>
        </p:txBody>
      </p:sp>
      <p:sp>
        <p:nvSpPr>
          <p:cNvPr id="21" name="Rectangle 20">
            <a:extLst>
              <a:ext uri="{FF2B5EF4-FFF2-40B4-BE49-F238E27FC236}">
                <a16:creationId xmlns:a16="http://schemas.microsoft.com/office/drawing/2014/main" id="{C175716B-977B-F936-3AF9-9BE9B0E74AE7}"/>
              </a:ext>
            </a:extLst>
          </p:cNvPr>
          <p:cNvSpPr/>
          <p:nvPr/>
        </p:nvSpPr>
        <p:spPr>
          <a:xfrm>
            <a:off x="9927691" y="6247663"/>
            <a:ext cx="807940" cy="151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467" kern="0" dirty="0">
                <a:solidFill>
                  <a:prstClr val="white"/>
                </a:solidFill>
                <a:latin typeface="Century Gothic" panose="020B0502020202020204" pitchFamily="34" charset="0"/>
                <a:sym typeface="Arial"/>
              </a:rPr>
              <a:t>NG</a:t>
            </a:r>
          </a:p>
        </p:txBody>
      </p:sp>
      <p:sp>
        <p:nvSpPr>
          <p:cNvPr id="22" name="Rectangle 21">
            <a:extLst>
              <a:ext uri="{FF2B5EF4-FFF2-40B4-BE49-F238E27FC236}">
                <a16:creationId xmlns:a16="http://schemas.microsoft.com/office/drawing/2014/main" id="{D96D3401-A608-8EE3-70A8-CD0B3C6BAC13}"/>
              </a:ext>
            </a:extLst>
          </p:cNvPr>
          <p:cNvSpPr/>
          <p:nvPr/>
        </p:nvSpPr>
        <p:spPr>
          <a:xfrm>
            <a:off x="9312754" y="5520246"/>
            <a:ext cx="807940" cy="151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467" kern="0" dirty="0">
                <a:solidFill>
                  <a:prstClr val="white"/>
                </a:solidFill>
                <a:latin typeface="Century Gothic" panose="020B0502020202020204" pitchFamily="34" charset="0"/>
                <a:sym typeface="Arial"/>
              </a:rPr>
              <a:t>GB</a:t>
            </a:r>
          </a:p>
        </p:txBody>
      </p:sp>
      <p:cxnSp>
        <p:nvCxnSpPr>
          <p:cNvPr id="13" name="Straight Connector 12">
            <a:extLst>
              <a:ext uri="{FF2B5EF4-FFF2-40B4-BE49-F238E27FC236}">
                <a16:creationId xmlns:a16="http://schemas.microsoft.com/office/drawing/2014/main" id="{B71C2CC0-8BDE-B7E3-8D4C-4D39882872A7}"/>
              </a:ext>
            </a:extLst>
          </p:cNvPr>
          <p:cNvCxnSpPr/>
          <p:nvPr/>
        </p:nvCxnSpPr>
        <p:spPr>
          <a:xfrm>
            <a:off x="4264411" y="4357431"/>
            <a:ext cx="125480" cy="475044"/>
          </a:xfrm>
          <a:prstGeom prst="line">
            <a:avLst/>
          </a:prstGeom>
          <a:ln w="28575">
            <a:solidFill>
              <a:srgbClr val="BB7371"/>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38208F98-2A22-627B-F2DD-5649188BB840}"/>
              </a:ext>
            </a:extLst>
          </p:cNvPr>
          <p:cNvSpPr/>
          <p:nvPr/>
        </p:nvSpPr>
        <p:spPr>
          <a:xfrm>
            <a:off x="3603131" y="-86158"/>
            <a:ext cx="8588869" cy="6873633"/>
          </a:xfrm>
          <a:prstGeom prst="rect">
            <a:avLst/>
          </a:prstGeom>
          <a:solidFill>
            <a:srgbClr val="000000">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endParaRPr lang="en-US" sz="1867" kern="0" dirty="0">
              <a:solidFill>
                <a:prstClr val="white"/>
              </a:solidFill>
              <a:latin typeface="Century Gothic" panose="020B0502020202020204" pitchFamily="34" charset="0"/>
              <a:sym typeface="Arial"/>
            </a:endParaRPr>
          </a:p>
        </p:txBody>
      </p:sp>
      <p:sp>
        <p:nvSpPr>
          <p:cNvPr id="9" name="TextBox 8">
            <a:extLst>
              <a:ext uri="{FF2B5EF4-FFF2-40B4-BE49-F238E27FC236}">
                <a16:creationId xmlns:a16="http://schemas.microsoft.com/office/drawing/2014/main" id="{15917B84-5ED7-FA9D-69A6-B43A2C72D65A}"/>
              </a:ext>
            </a:extLst>
          </p:cNvPr>
          <p:cNvSpPr txBox="1"/>
          <p:nvPr/>
        </p:nvSpPr>
        <p:spPr>
          <a:xfrm>
            <a:off x="3658115" y="3113956"/>
            <a:ext cx="8336701" cy="1261692"/>
          </a:xfrm>
          <a:prstGeom prst="rect">
            <a:avLst/>
          </a:prstGeom>
          <a:noFill/>
        </p:spPr>
        <p:txBody>
          <a:bodyPr wrap="square" rtlCol="0">
            <a:spAutoFit/>
          </a:bodyPr>
          <a:lstStyle/>
          <a:p>
            <a:pPr defTabSz="1219170">
              <a:buClr>
                <a:srgbClr val="000000"/>
              </a:buClr>
              <a:defRPr/>
            </a:pPr>
            <a:r>
              <a:rPr lang="en-US" sz="2533" kern="0" dirty="0">
                <a:solidFill>
                  <a:prstClr val="white"/>
                </a:solidFill>
                <a:latin typeface="Century Gothic" panose="020B0502020202020204" pitchFamily="34" charset="0"/>
                <a:cs typeface="Arial"/>
                <a:sym typeface="Arial"/>
              </a:rPr>
              <a:t>the ecological insights derived from these data?</a:t>
            </a:r>
          </a:p>
          <a:p>
            <a:pPr defTabSz="1219170">
              <a:buClr>
                <a:srgbClr val="000000"/>
              </a:buClr>
              <a:defRPr/>
            </a:pPr>
            <a:endParaRPr lang="en-US" sz="2533" kern="0" dirty="0">
              <a:solidFill>
                <a:prstClr val="white">
                  <a:lumMod val="85000"/>
                </a:prstClr>
              </a:solidFill>
              <a:latin typeface="Century Gothic" panose="020B0502020202020204" pitchFamily="34" charset="0"/>
              <a:cs typeface="Arial"/>
              <a:sym typeface="Arial"/>
            </a:endParaRPr>
          </a:p>
          <a:p>
            <a:pPr defTabSz="1219170">
              <a:buClr>
                <a:srgbClr val="000000"/>
              </a:buClr>
              <a:defRPr/>
            </a:pPr>
            <a:endParaRPr lang="en-US" sz="2533" kern="0" dirty="0">
              <a:solidFill>
                <a:prstClr val="white">
                  <a:lumMod val="85000"/>
                </a:prstClr>
              </a:solidFill>
              <a:latin typeface="Century Gothic" panose="020B0502020202020204" pitchFamily="34" charset="0"/>
              <a:cs typeface="Arial"/>
              <a:sym typeface="Arial"/>
            </a:endParaRPr>
          </a:p>
        </p:txBody>
      </p:sp>
      <p:sp>
        <p:nvSpPr>
          <p:cNvPr id="10" name="TextBox 9">
            <a:extLst>
              <a:ext uri="{FF2B5EF4-FFF2-40B4-BE49-F238E27FC236}">
                <a16:creationId xmlns:a16="http://schemas.microsoft.com/office/drawing/2014/main" id="{F90AD6A6-9BAE-64D1-C9B1-A7AA29D5EED1}"/>
              </a:ext>
            </a:extLst>
          </p:cNvPr>
          <p:cNvSpPr txBox="1"/>
          <p:nvPr/>
        </p:nvSpPr>
        <p:spPr>
          <a:xfrm>
            <a:off x="3657750" y="620657"/>
            <a:ext cx="8159849" cy="871905"/>
          </a:xfrm>
          <a:prstGeom prst="rect">
            <a:avLst/>
          </a:prstGeom>
          <a:noFill/>
        </p:spPr>
        <p:txBody>
          <a:bodyPr wrap="square">
            <a:spAutoFit/>
          </a:bodyPr>
          <a:lstStyle/>
          <a:p>
            <a:pPr defTabSz="1219170">
              <a:buClr>
                <a:srgbClr val="000000"/>
              </a:buClr>
              <a:defRPr/>
            </a:pPr>
            <a:r>
              <a:rPr lang="en-US" sz="2533" kern="0" dirty="0">
                <a:solidFill>
                  <a:prstClr val="white"/>
                </a:solidFill>
                <a:latin typeface="Century Gothic" panose="020B0502020202020204" pitchFamily="34" charset="0"/>
                <a:cs typeface="Arial"/>
                <a:sym typeface="Arial"/>
              </a:rPr>
              <a:t>How do the social, political, &amp; historical dimensions </a:t>
            </a:r>
          </a:p>
          <a:p>
            <a:pPr defTabSz="1219170">
              <a:buClr>
                <a:srgbClr val="000000"/>
              </a:buClr>
              <a:defRPr/>
            </a:pPr>
            <a:r>
              <a:rPr lang="en-US" sz="2533" kern="0" dirty="0">
                <a:solidFill>
                  <a:prstClr val="white"/>
                </a:solidFill>
                <a:latin typeface="Century Gothic" panose="020B0502020202020204" pitchFamily="34" charset="0"/>
                <a:cs typeface="Arial"/>
                <a:sym typeface="Arial"/>
              </a:rPr>
              <a:t>of biodiversity data impact …</a:t>
            </a:r>
            <a:endParaRPr lang="en-US" sz="2533" b="1" kern="0" dirty="0">
              <a:solidFill>
                <a:srgbClr val="000000"/>
              </a:solidFill>
              <a:latin typeface="Arial"/>
              <a:cs typeface="Arial"/>
              <a:sym typeface="Arial"/>
            </a:endParaRPr>
          </a:p>
        </p:txBody>
      </p:sp>
    </p:spTree>
    <p:extLst>
      <p:ext uri="{BB962C8B-B14F-4D97-AF65-F5344CB8AC3E}">
        <p14:creationId xmlns:p14="http://schemas.microsoft.com/office/powerpoint/2010/main" val="34197663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C264833-0344-B354-DC43-84D82C1941A0}"/>
              </a:ext>
            </a:extLst>
          </p:cNvPr>
          <p:cNvSpPr/>
          <p:nvPr/>
        </p:nvSpPr>
        <p:spPr>
          <a:xfrm>
            <a:off x="3658115" y="142859"/>
            <a:ext cx="8358215" cy="6594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endParaRPr lang="en-US" sz="1867" kern="0" dirty="0">
              <a:solidFill>
                <a:prstClr val="white"/>
              </a:solidFill>
              <a:latin typeface="Century Gothic" panose="020B0502020202020204" pitchFamily="34" charset="0"/>
              <a:sym typeface="Arial"/>
            </a:endParaRPr>
          </a:p>
        </p:txBody>
      </p:sp>
      <p:sp>
        <p:nvSpPr>
          <p:cNvPr id="26" name="Rectangle 25">
            <a:extLst>
              <a:ext uri="{FF2B5EF4-FFF2-40B4-BE49-F238E27FC236}">
                <a16:creationId xmlns:a16="http://schemas.microsoft.com/office/drawing/2014/main" id="{C42AE818-44EE-0537-C3AB-D0600642F4BD}"/>
              </a:ext>
            </a:extLst>
          </p:cNvPr>
          <p:cNvSpPr/>
          <p:nvPr/>
        </p:nvSpPr>
        <p:spPr>
          <a:xfrm>
            <a:off x="635000" y="1872831"/>
            <a:ext cx="2362200" cy="66555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r>
              <a:rPr lang="en-US" dirty="0">
                <a:solidFill>
                  <a:prstClr val="white"/>
                </a:solidFill>
                <a:latin typeface="Century Gothic" panose="020B0502020202020204" pitchFamily="34" charset="0"/>
                <a:sym typeface="Arial"/>
              </a:rPr>
              <a:t>Biodiversity data</a:t>
            </a:r>
          </a:p>
        </p:txBody>
      </p:sp>
      <p:sp>
        <p:nvSpPr>
          <p:cNvPr id="27" name="Rectangle 26">
            <a:extLst>
              <a:ext uri="{FF2B5EF4-FFF2-40B4-BE49-F238E27FC236}">
                <a16:creationId xmlns:a16="http://schemas.microsoft.com/office/drawing/2014/main" id="{94CF2449-B36C-E520-4C6D-734116F0ED5E}"/>
              </a:ext>
            </a:extLst>
          </p:cNvPr>
          <p:cNvSpPr/>
          <p:nvPr/>
        </p:nvSpPr>
        <p:spPr>
          <a:xfrm>
            <a:off x="635000" y="3017881"/>
            <a:ext cx="2362200" cy="665559"/>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r>
              <a:rPr lang="en-US" dirty="0">
                <a:solidFill>
                  <a:prstClr val="white"/>
                </a:solidFill>
                <a:latin typeface="Century Gothic" panose="020B0502020202020204" pitchFamily="34" charset="0"/>
                <a:sym typeface="Arial"/>
              </a:rPr>
              <a:t> Species Distribution Models</a:t>
            </a:r>
          </a:p>
        </p:txBody>
      </p:sp>
      <p:cxnSp>
        <p:nvCxnSpPr>
          <p:cNvPr id="30" name="Straight Arrow Connector 29">
            <a:extLst>
              <a:ext uri="{FF2B5EF4-FFF2-40B4-BE49-F238E27FC236}">
                <a16:creationId xmlns:a16="http://schemas.microsoft.com/office/drawing/2014/main" id="{44EEC939-7DD5-DF5C-37E2-B9CD899C7A90}"/>
              </a:ext>
            </a:extLst>
          </p:cNvPr>
          <p:cNvCxnSpPr>
            <a:cxnSpLocks/>
          </p:cNvCxnSpPr>
          <p:nvPr/>
        </p:nvCxnSpPr>
        <p:spPr>
          <a:xfrm>
            <a:off x="1816100" y="2593573"/>
            <a:ext cx="0" cy="354017"/>
          </a:xfrm>
          <a:prstGeom prst="straightConnector1">
            <a:avLst/>
          </a:prstGeom>
          <a:ln w="3810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DA578D64-EF0A-5A1E-87A9-797F7470BE3B}"/>
              </a:ext>
            </a:extLst>
          </p:cNvPr>
          <p:cNvCxnSpPr>
            <a:cxnSpLocks/>
          </p:cNvCxnSpPr>
          <p:nvPr/>
        </p:nvCxnSpPr>
        <p:spPr>
          <a:xfrm>
            <a:off x="1816100" y="3721540"/>
            <a:ext cx="0" cy="354017"/>
          </a:xfrm>
          <a:prstGeom prst="straightConnector1">
            <a:avLst/>
          </a:prstGeom>
          <a:ln w="3810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E8BD21F0-8E82-0240-A8AB-70A19BB21C07}"/>
              </a:ext>
            </a:extLst>
          </p:cNvPr>
          <p:cNvPicPr>
            <a:picLocks noChangeAspect="1"/>
          </p:cNvPicPr>
          <p:nvPr/>
        </p:nvPicPr>
        <p:blipFill>
          <a:blip r:embed="rId3"/>
          <a:stretch>
            <a:fillRect/>
          </a:stretch>
        </p:blipFill>
        <p:spPr>
          <a:xfrm>
            <a:off x="9100515" y="213571"/>
            <a:ext cx="2717084" cy="2717084"/>
          </a:xfrm>
          <a:prstGeom prst="rect">
            <a:avLst/>
          </a:prstGeom>
        </p:spPr>
      </p:pic>
      <p:pic>
        <p:nvPicPr>
          <p:cNvPr id="7" name="Picture 6">
            <a:extLst>
              <a:ext uri="{FF2B5EF4-FFF2-40B4-BE49-F238E27FC236}">
                <a16:creationId xmlns:a16="http://schemas.microsoft.com/office/drawing/2014/main" id="{C40D0501-AED9-E058-07FE-094AF9822DC2}"/>
              </a:ext>
            </a:extLst>
          </p:cNvPr>
          <p:cNvPicPr>
            <a:picLocks noChangeAspect="1"/>
          </p:cNvPicPr>
          <p:nvPr/>
        </p:nvPicPr>
        <p:blipFill rotWithShape="1">
          <a:blip r:embed="rId4"/>
          <a:srcRect l="4170"/>
          <a:stretch/>
        </p:blipFill>
        <p:spPr>
          <a:xfrm>
            <a:off x="3684305" y="2428746"/>
            <a:ext cx="4141233" cy="3167071"/>
          </a:xfrm>
          <a:prstGeom prst="rect">
            <a:avLst/>
          </a:prstGeom>
        </p:spPr>
      </p:pic>
      <p:pic>
        <p:nvPicPr>
          <p:cNvPr id="5" name="Picture 4">
            <a:extLst>
              <a:ext uri="{FF2B5EF4-FFF2-40B4-BE49-F238E27FC236}">
                <a16:creationId xmlns:a16="http://schemas.microsoft.com/office/drawing/2014/main" id="{80233C7D-0F2E-6EC0-F1C2-E07FC7C5A0F8}"/>
              </a:ext>
            </a:extLst>
          </p:cNvPr>
          <p:cNvPicPr>
            <a:picLocks noChangeAspect="1"/>
          </p:cNvPicPr>
          <p:nvPr/>
        </p:nvPicPr>
        <p:blipFill>
          <a:blip r:embed="rId5"/>
          <a:stretch>
            <a:fillRect/>
          </a:stretch>
        </p:blipFill>
        <p:spPr>
          <a:xfrm>
            <a:off x="3721101" y="0"/>
            <a:ext cx="5863167" cy="2551149"/>
          </a:xfrm>
          <a:prstGeom prst="rect">
            <a:avLst/>
          </a:prstGeom>
        </p:spPr>
      </p:pic>
      <p:pic>
        <p:nvPicPr>
          <p:cNvPr id="8" name="Picture 7">
            <a:extLst>
              <a:ext uri="{FF2B5EF4-FFF2-40B4-BE49-F238E27FC236}">
                <a16:creationId xmlns:a16="http://schemas.microsoft.com/office/drawing/2014/main" id="{56FF17AB-8729-EAA3-05BB-90CA2221A21C}"/>
              </a:ext>
            </a:extLst>
          </p:cNvPr>
          <p:cNvPicPr>
            <a:picLocks noChangeAspect="1"/>
          </p:cNvPicPr>
          <p:nvPr/>
        </p:nvPicPr>
        <p:blipFill>
          <a:blip r:embed="rId6"/>
          <a:stretch>
            <a:fillRect/>
          </a:stretch>
        </p:blipFill>
        <p:spPr>
          <a:xfrm>
            <a:off x="3804616" y="4183978"/>
            <a:ext cx="3556181" cy="2408569"/>
          </a:xfrm>
          <a:prstGeom prst="rect">
            <a:avLst/>
          </a:prstGeom>
        </p:spPr>
      </p:pic>
      <p:pic>
        <p:nvPicPr>
          <p:cNvPr id="11" name="Picture 10">
            <a:extLst>
              <a:ext uri="{FF2B5EF4-FFF2-40B4-BE49-F238E27FC236}">
                <a16:creationId xmlns:a16="http://schemas.microsoft.com/office/drawing/2014/main" id="{50B378DC-B651-70D0-62CC-1897C67C115C}"/>
              </a:ext>
            </a:extLst>
          </p:cNvPr>
          <p:cNvPicPr>
            <a:picLocks noChangeAspect="1"/>
          </p:cNvPicPr>
          <p:nvPr/>
        </p:nvPicPr>
        <p:blipFill>
          <a:blip r:embed="rId7"/>
          <a:stretch>
            <a:fillRect/>
          </a:stretch>
        </p:blipFill>
        <p:spPr>
          <a:xfrm>
            <a:off x="7773420" y="2552667"/>
            <a:ext cx="3850752" cy="2134656"/>
          </a:xfrm>
          <a:prstGeom prst="rect">
            <a:avLst/>
          </a:prstGeom>
        </p:spPr>
      </p:pic>
      <p:sp>
        <p:nvSpPr>
          <p:cNvPr id="20" name="Rectangle 19">
            <a:extLst>
              <a:ext uri="{FF2B5EF4-FFF2-40B4-BE49-F238E27FC236}">
                <a16:creationId xmlns:a16="http://schemas.microsoft.com/office/drawing/2014/main" id="{C6493CC6-D1B8-89A2-131F-AFA2CF5224E7}"/>
              </a:ext>
            </a:extLst>
          </p:cNvPr>
          <p:cNvSpPr/>
          <p:nvPr/>
        </p:nvSpPr>
        <p:spPr>
          <a:xfrm>
            <a:off x="7737802" y="3083681"/>
            <a:ext cx="337055" cy="13854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endParaRPr lang="en-US" sz="1867" kern="0" dirty="0">
              <a:solidFill>
                <a:prstClr val="white"/>
              </a:solidFill>
              <a:latin typeface="Century Gothic" panose="020B0502020202020204" pitchFamily="34" charset="0"/>
              <a:sym typeface="Arial"/>
            </a:endParaRPr>
          </a:p>
        </p:txBody>
      </p:sp>
      <p:pic>
        <p:nvPicPr>
          <p:cNvPr id="24" name="Picture 23">
            <a:extLst>
              <a:ext uri="{FF2B5EF4-FFF2-40B4-BE49-F238E27FC236}">
                <a16:creationId xmlns:a16="http://schemas.microsoft.com/office/drawing/2014/main" id="{ADB5744F-82EF-EB87-8295-F8D9AB6B85D6}"/>
              </a:ext>
            </a:extLst>
          </p:cNvPr>
          <p:cNvPicPr>
            <a:picLocks noChangeAspect="1"/>
          </p:cNvPicPr>
          <p:nvPr/>
        </p:nvPicPr>
        <p:blipFill>
          <a:blip r:embed="rId8"/>
          <a:stretch>
            <a:fillRect/>
          </a:stretch>
        </p:blipFill>
        <p:spPr>
          <a:xfrm>
            <a:off x="7782239" y="3246225"/>
            <a:ext cx="205884" cy="968868"/>
          </a:xfrm>
          <a:prstGeom prst="rect">
            <a:avLst/>
          </a:prstGeom>
        </p:spPr>
      </p:pic>
      <p:sp>
        <p:nvSpPr>
          <p:cNvPr id="12" name="Rectangle 11">
            <a:extLst>
              <a:ext uri="{FF2B5EF4-FFF2-40B4-BE49-F238E27FC236}">
                <a16:creationId xmlns:a16="http://schemas.microsoft.com/office/drawing/2014/main" id="{D301F47C-4667-CC7F-5729-30BC594811DF}"/>
              </a:ext>
            </a:extLst>
          </p:cNvPr>
          <p:cNvSpPr/>
          <p:nvPr/>
        </p:nvSpPr>
        <p:spPr>
          <a:xfrm>
            <a:off x="508795" y="4094765"/>
            <a:ext cx="2679700" cy="863084"/>
          </a:xfrm>
          <a:prstGeom prst="rect">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prstClr val="white"/>
              </a:solidFill>
              <a:latin typeface="Century Gothic" panose="020B0502020202020204" pitchFamily="34" charset="0"/>
              <a:sym typeface="Arial"/>
            </a:endParaRPr>
          </a:p>
        </p:txBody>
      </p:sp>
      <p:sp>
        <p:nvSpPr>
          <p:cNvPr id="9" name="Rectangle 8">
            <a:extLst>
              <a:ext uri="{FF2B5EF4-FFF2-40B4-BE49-F238E27FC236}">
                <a16:creationId xmlns:a16="http://schemas.microsoft.com/office/drawing/2014/main" id="{E1C7485E-02AD-ACBA-1DF6-E7EC7F0B9E00}"/>
              </a:ext>
            </a:extLst>
          </p:cNvPr>
          <p:cNvSpPr/>
          <p:nvPr/>
        </p:nvSpPr>
        <p:spPr>
          <a:xfrm>
            <a:off x="508801" y="4163106"/>
            <a:ext cx="2679689" cy="6655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r>
              <a:rPr lang="en-US" sz="1600" dirty="0">
                <a:solidFill>
                  <a:srgbClr val="FFC000">
                    <a:lumMod val="60000"/>
                    <a:lumOff val="40000"/>
                  </a:srgbClr>
                </a:solidFill>
                <a:latin typeface="Century Gothic" panose="020B0502020202020204" pitchFamily="34" charset="0"/>
                <a:sym typeface="Arial"/>
              </a:rPr>
              <a:t>conservation/restoration priorities</a:t>
            </a:r>
          </a:p>
        </p:txBody>
      </p:sp>
      <p:pic>
        <p:nvPicPr>
          <p:cNvPr id="3" name="Picture 2">
            <a:extLst>
              <a:ext uri="{FF2B5EF4-FFF2-40B4-BE49-F238E27FC236}">
                <a16:creationId xmlns:a16="http://schemas.microsoft.com/office/drawing/2014/main" id="{237D2B10-9A2A-119D-F87A-5C9BCC064EEC}"/>
              </a:ext>
            </a:extLst>
          </p:cNvPr>
          <p:cNvPicPr>
            <a:picLocks noChangeAspect="1"/>
          </p:cNvPicPr>
          <p:nvPr/>
        </p:nvPicPr>
        <p:blipFill>
          <a:blip r:embed="rId9"/>
          <a:stretch>
            <a:fillRect/>
          </a:stretch>
        </p:blipFill>
        <p:spPr>
          <a:xfrm>
            <a:off x="7552857" y="4711729"/>
            <a:ext cx="4055055" cy="1852872"/>
          </a:xfrm>
          <a:prstGeom prst="rect">
            <a:avLst/>
          </a:prstGeom>
        </p:spPr>
      </p:pic>
      <p:sp>
        <p:nvSpPr>
          <p:cNvPr id="13" name="Rectangle 12">
            <a:extLst>
              <a:ext uri="{FF2B5EF4-FFF2-40B4-BE49-F238E27FC236}">
                <a16:creationId xmlns:a16="http://schemas.microsoft.com/office/drawing/2014/main" id="{08319076-8317-757C-3A7C-DCD51073B32C}"/>
              </a:ext>
            </a:extLst>
          </p:cNvPr>
          <p:cNvSpPr/>
          <p:nvPr/>
        </p:nvSpPr>
        <p:spPr>
          <a:xfrm>
            <a:off x="8021713" y="5975233"/>
            <a:ext cx="807940" cy="151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467" kern="0" dirty="0">
                <a:solidFill>
                  <a:prstClr val="white"/>
                </a:solidFill>
                <a:latin typeface="Century Gothic" panose="020B0502020202020204" pitchFamily="34" charset="0"/>
                <a:sym typeface="Arial"/>
              </a:rPr>
              <a:t>NG</a:t>
            </a:r>
          </a:p>
        </p:txBody>
      </p:sp>
      <p:sp>
        <p:nvSpPr>
          <p:cNvPr id="17" name="Rectangle 16">
            <a:extLst>
              <a:ext uri="{FF2B5EF4-FFF2-40B4-BE49-F238E27FC236}">
                <a16:creationId xmlns:a16="http://schemas.microsoft.com/office/drawing/2014/main" id="{ED3BED14-D5A6-4BE7-3C26-DB88FA6F4BA7}"/>
              </a:ext>
            </a:extLst>
          </p:cNvPr>
          <p:cNvSpPr/>
          <p:nvPr/>
        </p:nvSpPr>
        <p:spPr>
          <a:xfrm>
            <a:off x="7773421" y="5460313"/>
            <a:ext cx="807940" cy="151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467" kern="0" dirty="0">
                <a:solidFill>
                  <a:prstClr val="white"/>
                </a:solidFill>
                <a:latin typeface="Century Gothic" panose="020B0502020202020204" pitchFamily="34" charset="0"/>
                <a:sym typeface="Arial"/>
              </a:rPr>
              <a:t>GB</a:t>
            </a:r>
          </a:p>
        </p:txBody>
      </p:sp>
      <p:sp>
        <p:nvSpPr>
          <p:cNvPr id="18" name="Rectangle 17">
            <a:extLst>
              <a:ext uri="{FF2B5EF4-FFF2-40B4-BE49-F238E27FC236}">
                <a16:creationId xmlns:a16="http://schemas.microsoft.com/office/drawing/2014/main" id="{B76FE1CC-E4A9-3BE8-57C7-92E85D2CCF45}"/>
              </a:ext>
            </a:extLst>
          </p:cNvPr>
          <p:cNvSpPr/>
          <p:nvPr/>
        </p:nvSpPr>
        <p:spPr>
          <a:xfrm>
            <a:off x="8321353" y="4882697"/>
            <a:ext cx="807940" cy="151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467" kern="0" dirty="0">
                <a:solidFill>
                  <a:prstClr val="white"/>
                </a:solidFill>
                <a:latin typeface="Century Gothic" panose="020B0502020202020204" pitchFamily="34" charset="0"/>
                <a:sym typeface="Arial"/>
              </a:rPr>
              <a:t>other</a:t>
            </a:r>
          </a:p>
        </p:txBody>
      </p:sp>
      <p:sp>
        <p:nvSpPr>
          <p:cNvPr id="19" name="Rectangle 18">
            <a:extLst>
              <a:ext uri="{FF2B5EF4-FFF2-40B4-BE49-F238E27FC236}">
                <a16:creationId xmlns:a16="http://schemas.microsoft.com/office/drawing/2014/main" id="{B9AE2BDB-F802-EF4E-1101-45D8D8C18B97}"/>
              </a:ext>
            </a:extLst>
          </p:cNvPr>
          <p:cNvSpPr/>
          <p:nvPr/>
        </p:nvSpPr>
        <p:spPr>
          <a:xfrm>
            <a:off x="9781903" y="5083997"/>
            <a:ext cx="807940" cy="151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467" kern="0" dirty="0">
                <a:solidFill>
                  <a:prstClr val="white"/>
                </a:solidFill>
                <a:latin typeface="Century Gothic" panose="020B0502020202020204" pitchFamily="34" charset="0"/>
                <a:sym typeface="Arial"/>
              </a:rPr>
              <a:t>other</a:t>
            </a:r>
          </a:p>
        </p:txBody>
      </p:sp>
      <p:sp>
        <p:nvSpPr>
          <p:cNvPr id="21" name="Rectangle 20">
            <a:extLst>
              <a:ext uri="{FF2B5EF4-FFF2-40B4-BE49-F238E27FC236}">
                <a16:creationId xmlns:a16="http://schemas.microsoft.com/office/drawing/2014/main" id="{20830C55-2C06-E9FB-111B-F44B52592058}"/>
              </a:ext>
            </a:extLst>
          </p:cNvPr>
          <p:cNvSpPr/>
          <p:nvPr/>
        </p:nvSpPr>
        <p:spPr>
          <a:xfrm>
            <a:off x="9927691" y="6247663"/>
            <a:ext cx="807940" cy="151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467" kern="0" dirty="0">
                <a:solidFill>
                  <a:prstClr val="white"/>
                </a:solidFill>
                <a:latin typeface="Century Gothic" panose="020B0502020202020204" pitchFamily="34" charset="0"/>
                <a:sym typeface="Arial"/>
              </a:rPr>
              <a:t>NG</a:t>
            </a:r>
          </a:p>
        </p:txBody>
      </p:sp>
      <p:sp>
        <p:nvSpPr>
          <p:cNvPr id="22" name="Rectangle 21">
            <a:extLst>
              <a:ext uri="{FF2B5EF4-FFF2-40B4-BE49-F238E27FC236}">
                <a16:creationId xmlns:a16="http://schemas.microsoft.com/office/drawing/2014/main" id="{DB97824F-FD55-64C9-2E8F-8848A8577B45}"/>
              </a:ext>
            </a:extLst>
          </p:cNvPr>
          <p:cNvSpPr/>
          <p:nvPr/>
        </p:nvSpPr>
        <p:spPr>
          <a:xfrm>
            <a:off x="9312754" y="5520246"/>
            <a:ext cx="807940" cy="151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467" kern="0" dirty="0">
                <a:solidFill>
                  <a:prstClr val="white"/>
                </a:solidFill>
                <a:latin typeface="Century Gothic" panose="020B0502020202020204" pitchFamily="34" charset="0"/>
                <a:sym typeface="Arial"/>
              </a:rPr>
              <a:t>GB</a:t>
            </a:r>
          </a:p>
        </p:txBody>
      </p:sp>
      <p:cxnSp>
        <p:nvCxnSpPr>
          <p:cNvPr id="4" name="Straight Connector 3">
            <a:extLst>
              <a:ext uri="{FF2B5EF4-FFF2-40B4-BE49-F238E27FC236}">
                <a16:creationId xmlns:a16="http://schemas.microsoft.com/office/drawing/2014/main" id="{BEDB37FB-6058-44D1-621A-906EA7A94D96}"/>
              </a:ext>
            </a:extLst>
          </p:cNvPr>
          <p:cNvCxnSpPr/>
          <p:nvPr/>
        </p:nvCxnSpPr>
        <p:spPr>
          <a:xfrm>
            <a:off x="4264411" y="4357431"/>
            <a:ext cx="125480" cy="475044"/>
          </a:xfrm>
          <a:prstGeom prst="line">
            <a:avLst/>
          </a:prstGeom>
          <a:ln w="28575">
            <a:solidFill>
              <a:srgbClr val="BB7371"/>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F062D730-3458-9F29-E78B-561CDDC7ACC1}"/>
              </a:ext>
            </a:extLst>
          </p:cNvPr>
          <p:cNvSpPr/>
          <p:nvPr/>
        </p:nvSpPr>
        <p:spPr>
          <a:xfrm>
            <a:off x="3603131" y="131928"/>
            <a:ext cx="8588869" cy="6726072"/>
          </a:xfrm>
          <a:prstGeom prst="rect">
            <a:avLst/>
          </a:prstGeom>
          <a:solidFill>
            <a:srgbClr val="00000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endParaRPr lang="en-US" sz="1867" kern="0" dirty="0">
              <a:solidFill>
                <a:prstClr val="white"/>
              </a:solidFill>
              <a:latin typeface="Century Gothic" panose="020B0502020202020204" pitchFamily="34" charset="0"/>
              <a:sym typeface="Arial"/>
            </a:endParaRPr>
          </a:p>
        </p:txBody>
      </p:sp>
      <p:sp>
        <p:nvSpPr>
          <p:cNvPr id="10" name="TextBox 9">
            <a:extLst>
              <a:ext uri="{FF2B5EF4-FFF2-40B4-BE49-F238E27FC236}">
                <a16:creationId xmlns:a16="http://schemas.microsoft.com/office/drawing/2014/main" id="{FE9FFB1A-500A-18E4-B9DB-8774DB1EE5D9}"/>
              </a:ext>
            </a:extLst>
          </p:cNvPr>
          <p:cNvSpPr txBox="1"/>
          <p:nvPr/>
        </p:nvSpPr>
        <p:spPr>
          <a:xfrm>
            <a:off x="3658115" y="4075556"/>
            <a:ext cx="8787275" cy="1651478"/>
          </a:xfrm>
          <a:prstGeom prst="rect">
            <a:avLst/>
          </a:prstGeom>
          <a:noFill/>
        </p:spPr>
        <p:txBody>
          <a:bodyPr wrap="square" rtlCol="0">
            <a:spAutoFit/>
          </a:bodyPr>
          <a:lstStyle/>
          <a:p>
            <a:pPr defTabSz="1219170">
              <a:buClr>
                <a:srgbClr val="000000"/>
              </a:buClr>
              <a:defRPr/>
            </a:pPr>
            <a:r>
              <a:rPr lang="en-US" sz="2533" kern="0" dirty="0">
                <a:solidFill>
                  <a:prstClr val="white"/>
                </a:solidFill>
                <a:latin typeface="Century Gothic" panose="020B0502020202020204" pitchFamily="34" charset="0"/>
                <a:cs typeface="Arial"/>
                <a:sym typeface="Arial"/>
              </a:rPr>
              <a:t>the distributional equity of decision strategies and priorities for conservation investment?</a:t>
            </a:r>
          </a:p>
          <a:p>
            <a:pPr defTabSz="1219170">
              <a:buClr>
                <a:srgbClr val="000000"/>
              </a:buClr>
              <a:defRPr/>
            </a:pPr>
            <a:endParaRPr lang="en-US" sz="2533" kern="0" dirty="0">
              <a:solidFill>
                <a:prstClr val="white">
                  <a:lumMod val="85000"/>
                </a:prstClr>
              </a:solidFill>
              <a:latin typeface="Century Gothic" panose="020B0502020202020204" pitchFamily="34" charset="0"/>
              <a:cs typeface="Arial"/>
              <a:sym typeface="Arial"/>
            </a:endParaRPr>
          </a:p>
          <a:p>
            <a:pPr defTabSz="1219170">
              <a:buClr>
                <a:srgbClr val="000000"/>
              </a:buClr>
              <a:defRPr/>
            </a:pPr>
            <a:endParaRPr lang="en-US" sz="2533" kern="0" dirty="0">
              <a:solidFill>
                <a:prstClr val="white">
                  <a:lumMod val="85000"/>
                </a:prstClr>
              </a:solidFill>
              <a:latin typeface="Century Gothic" panose="020B0502020202020204" pitchFamily="34" charset="0"/>
              <a:cs typeface="Arial"/>
              <a:sym typeface="Arial"/>
            </a:endParaRPr>
          </a:p>
        </p:txBody>
      </p:sp>
      <p:sp>
        <p:nvSpPr>
          <p:cNvPr id="16" name="TextBox 15">
            <a:extLst>
              <a:ext uri="{FF2B5EF4-FFF2-40B4-BE49-F238E27FC236}">
                <a16:creationId xmlns:a16="http://schemas.microsoft.com/office/drawing/2014/main" id="{37E747C6-E6FA-424F-7FF0-E97D9DAB095A}"/>
              </a:ext>
            </a:extLst>
          </p:cNvPr>
          <p:cNvSpPr txBox="1"/>
          <p:nvPr/>
        </p:nvSpPr>
        <p:spPr>
          <a:xfrm>
            <a:off x="3657750" y="620657"/>
            <a:ext cx="8159849" cy="871905"/>
          </a:xfrm>
          <a:prstGeom prst="rect">
            <a:avLst/>
          </a:prstGeom>
          <a:noFill/>
        </p:spPr>
        <p:txBody>
          <a:bodyPr wrap="square">
            <a:spAutoFit/>
          </a:bodyPr>
          <a:lstStyle/>
          <a:p>
            <a:pPr defTabSz="1219170">
              <a:buClr>
                <a:srgbClr val="000000"/>
              </a:buClr>
              <a:defRPr/>
            </a:pPr>
            <a:r>
              <a:rPr lang="en-US" sz="2533" kern="0" dirty="0">
                <a:solidFill>
                  <a:prstClr val="white"/>
                </a:solidFill>
                <a:latin typeface="Century Gothic" panose="020B0502020202020204" pitchFamily="34" charset="0"/>
                <a:cs typeface="Arial"/>
                <a:sym typeface="Arial"/>
              </a:rPr>
              <a:t>How do the social, political, &amp; historical dimensions </a:t>
            </a:r>
          </a:p>
          <a:p>
            <a:pPr defTabSz="1219170">
              <a:buClr>
                <a:srgbClr val="000000"/>
              </a:buClr>
              <a:defRPr/>
            </a:pPr>
            <a:r>
              <a:rPr lang="en-US" sz="2533" kern="0" dirty="0">
                <a:solidFill>
                  <a:prstClr val="white"/>
                </a:solidFill>
                <a:latin typeface="Century Gothic" panose="020B0502020202020204" pitchFamily="34" charset="0"/>
                <a:cs typeface="Arial"/>
                <a:sym typeface="Arial"/>
              </a:rPr>
              <a:t>of biodiversity data impact …</a:t>
            </a:r>
            <a:endParaRPr lang="en-US" sz="2533" b="1" kern="0" dirty="0">
              <a:solidFill>
                <a:srgbClr val="000000"/>
              </a:solidFill>
              <a:latin typeface="Arial"/>
              <a:cs typeface="Arial"/>
              <a:sym typeface="Arial"/>
            </a:endParaRPr>
          </a:p>
        </p:txBody>
      </p:sp>
    </p:spTree>
    <p:extLst>
      <p:ext uri="{BB962C8B-B14F-4D97-AF65-F5344CB8AC3E}">
        <p14:creationId xmlns:p14="http://schemas.microsoft.com/office/powerpoint/2010/main" val="31960443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C264833-0344-B354-DC43-84D82C1941A0}"/>
              </a:ext>
            </a:extLst>
          </p:cNvPr>
          <p:cNvSpPr/>
          <p:nvPr/>
        </p:nvSpPr>
        <p:spPr>
          <a:xfrm>
            <a:off x="3658115" y="142859"/>
            <a:ext cx="8358215" cy="6594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endParaRPr lang="en-US" sz="1867" kern="0" dirty="0">
              <a:solidFill>
                <a:prstClr val="white"/>
              </a:solidFill>
              <a:latin typeface="Century Gothic" panose="020B0502020202020204" pitchFamily="34" charset="0"/>
              <a:sym typeface="Arial"/>
            </a:endParaRPr>
          </a:p>
        </p:txBody>
      </p:sp>
      <p:sp>
        <p:nvSpPr>
          <p:cNvPr id="26" name="Rectangle 25">
            <a:extLst>
              <a:ext uri="{FF2B5EF4-FFF2-40B4-BE49-F238E27FC236}">
                <a16:creationId xmlns:a16="http://schemas.microsoft.com/office/drawing/2014/main" id="{C42AE818-44EE-0537-C3AB-D0600642F4BD}"/>
              </a:ext>
            </a:extLst>
          </p:cNvPr>
          <p:cNvSpPr/>
          <p:nvPr/>
        </p:nvSpPr>
        <p:spPr>
          <a:xfrm>
            <a:off x="635000" y="1872831"/>
            <a:ext cx="2362200" cy="66555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r>
              <a:rPr lang="en-US" dirty="0">
                <a:solidFill>
                  <a:prstClr val="white"/>
                </a:solidFill>
                <a:latin typeface="Century Gothic" panose="020B0502020202020204" pitchFamily="34" charset="0"/>
                <a:sym typeface="Arial"/>
              </a:rPr>
              <a:t>Biodiversity data</a:t>
            </a:r>
          </a:p>
        </p:txBody>
      </p:sp>
      <p:sp>
        <p:nvSpPr>
          <p:cNvPr id="27" name="Rectangle 26">
            <a:extLst>
              <a:ext uri="{FF2B5EF4-FFF2-40B4-BE49-F238E27FC236}">
                <a16:creationId xmlns:a16="http://schemas.microsoft.com/office/drawing/2014/main" id="{94CF2449-B36C-E520-4C6D-734116F0ED5E}"/>
              </a:ext>
            </a:extLst>
          </p:cNvPr>
          <p:cNvSpPr/>
          <p:nvPr/>
        </p:nvSpPr>
        <p:spPr>
          <a:xfrm>
            <a:off x="635000" y="3017881"/>
            <a:ext cx="2362200" cy="665559"/>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r>
              <a:rPr lang="en-US" dirty="0">
                <a:solidFill>
                  <a:prstClr val="white"/>
                </a:solidFill>
                <a:latin typeface="Century Gothic" panose="020B0502020202020204" pitchFamily="34" charset="0"/>
                <a:sym typeface="Arial"/>
              </a:rPr>
              <a:t> Species Distribution Models</a:t>
            </a:r>
          </a:p>
        </p:txBody>
      </p:sp>
      <p:cxnSp>
        <p:nvCxnSpPr>
          <p:cNvPr id="30" name="Straight Arrow Connector 29">
            <a:extLst>
              <a:ext uri="{FF2B5EF4-FFF2-40B4-BE49-F238E27FC236}">
                <a16:creationId xmlns:a16="http://schemas.microsoft.com/office/drawing/2014/main" id="{44EEC939-7DD5-DF5C-37E2-B9CD899C7A90}"/>
              </a:ext>
            </a:extLst>
          </p:cNvPr>
          <p:cNvCxnSpPr>
            <a:cxnSpLocks/>
          </p:cNvCxnSpPr>
          <p:nvPr/>
        </p:nvCxnSpPr>
        <p:spPr>
          <a:xfrm>
            <a:off x="1816100" y="2593573"/>
            <a:ext cx="0" cy="354017"/>
          </a:xfrm>
          <a:prstGeom prst="straightConnector1">
            <a:avLst/>
          </a:prstGeom>
          <a:ln w="3810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DA578D64-EF0A-5A1E-87A9-797F7470BE3B}"/>
              </a:ext>
            </a:extLst>
          </p:cNvPr>
          <p:cNvCxnSpPr>
            <a:cxnSpLocks/>
          </p:cNvCxnSpPr>
          <p:nvPr/>
        </p:nvCxnSpPr>
        <p:spPr>
          <a:xfrm>
            <a:off x="1816100" y="3721540"/>
            <a:ext cx="0" cy="354017"/>
          </a:xfrm>
          <a:prstGeom prst="straightConnector1">
            <a:avLst/>
          </a:prstGeom>
          <a:ln w="3810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E8BD21F0-8E82-0240-A8AB-70A19BB21C07}"/>
              </a:ext>
            </a:extLst>
          </p:cNvPr>
          <p:cNvPicPr>
            <a:picLocks noChangeAspect="1"/>
          </p:cNvPicPr>
          <p:nvPr/>
        </p:nvPicPr>
        <p:blipFill>
          <a:blip r:embed="rId3"/>
          <a:stretch>
            <a:fillRect/>
          </a:stretch>
        </p:blipFill>
        <p:spPr>
          <a:xfrm>
            <a:off x="9100515" y="213571"/>
            <a:ext cx="2717084" cy="2717084"/>
          </a:xfrm>
          <a:prstGeom prst="rect">
            <a:avLst/>
          </a:prstGeom>
        </p:spPr>
      </p:pic>
      <p:pic>
        <p:nvPicPr>
          <p:cNvPr id="7" name="Picture 6">
            <a:extLst>
              <a:ext uri="{FF2B5EF4-FFF2-40B4-BE49-F238E27FC236}">
                <a16:creationId xmlns:a16="http://schemas.microsoft.com/office/drawing/2014/main" id="{C40D0501-AED9-E058-07FE-094AF9822DC2}"/>
              </a:ext>
            </a:extLst>
          </p:cNvPr>
          <p:cNvPicPr>
            <a:picLocks noChangeAspect="1"/>
          </p:cNvPicPr>
          <p:nvPr/>
        </p:nvPicPr>
        <p:blipFill rotWithShape="1">
          <a:blip r:embed="rId4"/>
          <a:srcRect l="4170"/>
          <a:stretch/>
        </p:blipFill>
        <p:spPr>
          <a:xfrm>
            <a:off x="3684305" y="2428746"/>
            <a:ext cx="4141233" cy="3167071"/>
          </a:xfrm>
          <a:prstGeom prst="rect">
            <a:avLst/>
          </a:prstGeom>
        </p:spPr>
      </p:pic>
      <p:pic>
        <p:nvPicPr>
          <p:cNvPr id="5" name="Picture 4">
            <a:extLst>
              <a:ext uri="{FF2B5EF4-FFF2-40B4-BE49-F238E27FC236}">
                <a16:creationId xmlns:a16="http://schemas.microsoft.com/office/drawing/2014/main" id="{80233C7D-0F2E-6EC0-F1C2-E07FC7C5A0F8}"/>
              </a:ext>
            </a:extLst>
          </p:cNvPr>
          <p:cNvPicPr>
            <a:picLocks noChangeAspect="1"/>
          </p:cNvPicPr>
          <p:nvPr/>
        </p:nvPicPr>
        <p:blipFill>
          <a:blip r:embed="rId5"/>
          <a:stretch>
            <a:fillRect/>
          </a:stretch>
        </p:blipFill>
        <p:spPr>
          <a:xfrm>
            <a:off x="3721101" y="0"/>
            <a:ext cx="5863167" cy="2551149"/>
          </a:xfrm>
          <a:prstGeom prst="rect">
            <a:avLst/>
          </a:prstGeom>
        </p:spPr>
      </p:pic>
      <p:pic>
        <p:nvPicPr>
          <p:cNvPr id="8" name="Picture 7">
            <a:extLst>
              <a:ext uri="{FF2B5EF4-FFF2-40B4-BE49-F238E27FC236}">
                <a16:creationId xmlns:a16="http://schemas.microsoft.com/office/drawing/2014/main" id="{56FF17AB-8729-EAA3-05BB-90CA2221A21C}"/>
              </a:ext>
            </a:extLst>
          </p:cNvPr>
          <p:cNvPicPr>
            <a:picLocks noChangeAspect="1"/>
          </p:cNvPicPr>
          <p:nvPr/>
        </p:nvPicPr>
        <p:blipFill>
          <a:blip r:embed="rId6"/>
          <a:stretch>
            <a:fillRect/>
          </a:stretch>
        </p:blipFill>
        <p:spPr>
          <a:xfrm>
            <a:off x="3804616" y="4183978"/>
            <a:ext cx="3556181" cy="2408569"/>
          </a:xfrm>
          <a:prstGeom prst="rect">
            <a:avLst/>
          </a:prstGeom>
        </p:spPr>
      </p:pic>
      <p:pic>
        <p:nvPicPr>
          <p:cNvPr id="11" name="Picture 10">
            <a:extLst>
              <a:ext uri="{FF2B5EF4-FFF2-40B4-BE49-F238E27FC236}">
                <a16:creationId xmlns:a16="http://schemas.microsoft.com/office/drawing/2014/main" id="{50B378DC-B651-70D0-62CC-1897C67C115C}"/>
              </a:ext>
            </a:extLst>
          </p:cNvPr>
          <p:cNvPicPr>
            <a:picLocks noChangeAspect="1"/>
          </p:cNvPicPr>
          <p:nvPr/>
        </p:nvPicPr>
        <p:blipFill>
          <a:blip r:embed="rId7"/>
          <a:stretch>
            <a:fillRect/>
          </a:stretch>
        </p:blipFill>
        <p:spPr>
          <a:xfrm>
            <a:off x="7773420" y="2552667"/>
            <a:ext cx="3850752" cy="2134656"/>
          </a:xfrm>
          <a:prstGeom prst="rect">
            <a:avLst/>
          </a:prstGeom>
        </p:spPr>
      </p:pic>
      <p:sp>
        <p:nvSpPr>
          <p:cNvPr id="20" name="Rectangle 19">
            <a:extLst>
              <a:ext uri="{FF2B5EF4-FFF2-40B4-BE49-F238E27FC236}">
                <a16:creationId xmlns:a16="http://schemas.microsoft.com/office/drawing/2014/main" id="{C6493CC6-D1B8-89A2-131F-AFA2CF5224E7}"/>
              </a:ext>
            </a:extLst>
          </p:cNvPr>
          <p:cNvSpPr/>
          <p:nvPr/>
        </p:nvSpPr>
        <p:spPr>
          <a:xfrm>
            <a:off x="7737802" y="3083681"/>
            <a:ext cx="337055" cy="13854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endParaRPr lang="en-US" sz="1867" kern="0" dirty="0">
              <a:solidFill>
                <a:prstClr val="white"/>
              </a:solidFill>
              <a:latin typeface="Century Gothic" panose="020B0502020202020204" pitchFamily="34" charset="0"/>
              <a:sym typeface="Arial"/>
            </a:endParaRPr>
          </a:p>
        </p:txBody>
      </p:sp>
      <p:pic>
        <p:nvPicPr>
          <p:cNvPr id="24" name="Picture 23">
            <a:extLst>
              <a:ext uri="{FF2B5EF4-FFF2-40B4-BE49-F238E27FC236}">
                <a16:creationId xmlns:a16="http://schemas.microsoft.com/office/drawing/2014/main" id="{ADB5744F-82EF-EB87-8295-F8D9AB6B85D6}"/>
              </a:ext>
            </a:extLst>
          </p:cNvPr>
          <p:cNvPicPr>
            <a:picLocks noChangeAspect="1"/>
          </p:cNvPicPr>
          <p:nvPr/>
        </p:nvPicPr>
        <p:blipFill>
          <a:blip r:embed="rId8"/>
          <a:stretch>
            <a:fillRect/>
          </a:stretch>
        </p:blipFill>
        <p:spPr>
          <a:xfrm>
            <a:off x="7782239" y="3246225"/>
            <a:ext cx="205884" cy="968868"/>
          </a:xfrm>
          <a:prstGeom prst="rect">
            <a:avLst/>
          </a:prstGeom>
        </p:spPr>
      </p:pic>
      <p:sp>
        <p:nvSpPr>
          <p:cNvPr id="9" name="Rectangle 8">
            <a:extLst>
              <a:ext uri="{FF2B5EF4-FFF2-40B4-BE49-F238E27FC236}">
                <a16:creationId xmlns:a16="http://schemas.microsoft.com/office/drawing/2014/main" id="{E1C7485E-02AD-ACBA-1DF6-E7EC7F0B9E00}"/>
              </a:ext>
            </a:extLst>
          </p:cNvPr>
          <p:cNvSpPr/>
          <p:nvPr/>
        </p:nvSpPr>
        <p:spPr>
          <a:xfrm>
            <a:off x="508801" y="4163106"/>
            <a:ext cx="2679689" cy="6655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r>
              <a:rPr lang="en-US" sz="1600" dirty="0">
                <a:solidFill>
                  <a:srgbClr val="FFC000">
                    <a:lumMod val="60000"/>
                    <a:lumOff val="40000"/>
                  </a:srgbClr>
                </a:solidFill>
                <a:latin typeface="Century Gothic" panose="020B0502020202020204" pitchFamily="34" charset="0"/>
                <a:sym typeface="Arial"/>
              </a:rPr>
              <a:t>conservation/restoration priorities</a:t>
            </a:r>
          </a:p>
        </p:txBody>
      </p:sp>
      <p:pic>
        <p:nvPicPr>
          <p:cNvPr id="3" name="Picture 2">
            <a:extLst>
              <a:ext uri="{FF2B5EF4-FFF2-40B4-BE49-F238E27FC236}">
                <a16:creationId xmlns:a16="http://schemas.microsoft.com/office/drawing/2014/main" id="{237D2B10-9A2A-119D-F87A-5C9BCC064EEC}"/>
              </a:ext>
            </a:extLst>
          </p:cNvPr>
          <p:cNvPicPr>
            <a:picLocks noChangeAspect="1"/>
          </p:cNvPicPr>
          <p:nvPr/>
        </p:nvPicPr>
        <p:blipFill>
          <a:blip r:embed="rId9"/>
          <a:stretch>
            <a:fillRect/>
          </a:stretch>
        </p:blipFill>
        <p:spPr>
          <a:xfrm>
            <a:off x="7552857" y="4711729"/>
            <a:ext cx="4055055" cy="1852872"/>
          </a:xfrm>
          <a:prstGeom prst="rect">
            <a:avLst/>
          </a:prstGeom>
        </p:spPr>
      </p:pic>
      <p:sp>
        <p:nvSpPr>
          <p:cNvPr id="13" name="Rectangle 12">
            <a:extLst>
              <a:ext uri="{FF2B5EF4-FFF2-40B4-BE49-F238E27FC236}">
                <a16:creationId xmlns:a16="http://schemas.microsoft.com/office/drawing/2014/main" id="{08319076-8317-757C-3A7C-DCD51073B32C}"/>
              </a:ext>
            </a:extLst>
          </p:cNvPr>
          <p:cNvSpPr/>
          <p:nvPr/>
        </p:nvSpPr>
        <p:spPr>
          <a:xfrm>
            <a:off x="8021713" y="5975233"/>
            <a:ext cx="807940" cy="151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467" kern="0" dirty="0">
                <a:solidFill>
                  <a:prstClr val="white"/>
                </a:solidFill>
                <a:latin typeface="Century Gothic" panose="020B0502020202020204" pitchFamily="34" charset="0"/>
                <a:sym typeface="Arial"/>
              </a:rPr>
              <a:t>NG</a:t>
            </a:r>
          </a:p>
        </p:txBody>
      </p:sp>
      <p:sp>
        <p:nvSpPr>
          <p:cNvPr id="17" name="Rectangle 16">
            <a:extLst>
              <a:ext uri="{FF2B5EF4-FFF2-40B4-BE49-F238E27FC236}">
                <a16:creationId xmlns:a16="http://schemas.microsoft.com/office/drawing/2014/main" id="{ED3BED14-D5A6-4BE7-3C26-DB88FA6F4BA7}"/>
              </a:ext>
            </a:extLst>
          </p:cNvPr>
          <p:cNvSpPr/>
          <p:nvPr/>
        </p:nvSpPr>
        <p:spPr>
          <a:xfrm>
            <a:off x="7773421" y="5460313"/>
            <a:ext cx="807940" cy="151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467" kern="0" dirty="0">
                <a:solidFill>
                  <a:prstClr val="white"/>
                </a:solidFill>
                <a:latin typeface="Century Gothic" panose="020B0502020202020204" pitchFamily="34" charset="0"/>
                <a:sym typeface="Arial"/>
              </a:rPr>
              <a:t>GB</a:t>
            </a:r>
          </a:p>
        </p:txBody>
      </p:sp>
      <p:sp>
        <p:nvSpPr>
          <p:cNvPr id="18" name="Rectangle 17">
            <a:extLst>
              <a:ext uri="{FF2B5EF4-FFF2-40B4-BE49-F238E27FC236}">
                <a16:creationId xmlns:a16="http://schemas.microsoft.com/office/drawing/2014/main" id="{B76FE1CC-E4A9-3BE8-57C7-92E85D2CCF45}"/>
              </a:ext>
            </a:extLst>
          </p:cNvPr>
          <p:cNvSpPr/>
          <p:nvPr/>
        </p:nvSpPr>
        <p:spPr>
          <a:xfrm>
            <a:off x="8321353" y="4882697"/>
            <a:ext cx="807940" cy="151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467" kern="0" dirty="0">
                <a:solidFill>
                  <a:prstClr val="white"/>
                </a:solidFill>
                <a:latin typeface="Century Gothic" panose="020B0502020202020204" pitchFamily="34" charset="0"/>
                <a:sym typeface="Arial"/>
              </a:rPr>
              <a:t>other</a:t>
            </a:r>
          </a:p>
        </p:txBody>
      </p:sp>
      <p:sp>
        <p:nvSpPr>
          <p:cNvPr id="19" name="Rectangle 18">
            <a:extLst>
              <a:ext uri="{FF2B5EF4-FFF2-40B4-BE49-F238E27FC236}">
                <a16:creationId xmlns:a16="http://schemas.microsoft.com/office/drawing/2014/main" id="{B9AE2BDB-F802-EF4E-1101-45D8D8C18B97}"/>
              </a:ext>
            </a:extLst>
          </p:cNvPr>
          <p:cNvSpPr/>
          <p:nvPr/>
        </p:nvSpPr>
        <p:spPr>
          <a:xfrm>
            <a:off x="9781903" y="5083997"/>
            <a:ext cx="807940" cy="151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467" kern="0" dirty="0">
                <a:solidFill>
                  <a:prstClr val="white"/>
                </a:solidFill>
                <a:latin typeface="Century Gothic" panose="020B0502020202020204" pitchFamily="34" charset="0"/>
                <a:sym typeface="Arial"/>
              </a:rPr>
              <a:t>other</a:t>
            </a:r>
          </a:p>
        </p:txBody>
      </p:sp>
      <p:sp>
        <p:nvSpPr>
          <p:cNvPr id="21" name="Rectangle 20">
            <a:extLst>
              <a:ext uri="{FF2B5EF4-FFF2-40B4-BE49-F238E27FC236}">
                <a16:creationId xmlns:a16="http://schemas.microsoft.com/office/drawing/2014/main" id="{20830C55-2C06-E9FB-111B-F44B52592058}"/>
              </a:ext>
            </a:extLst>
          </p:cNvPr>
          <p:cNvSpPr/>
          <p:nvPr/>
        </p:nvSpPr>
        <p:spPr>
          <a:xfrm>
            <a:off x="9927691" y="6247663"/>
            <a:ext cx="807940" cy="151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467" kern="0" dirty="0">
                <a:solidFill>
                  <a:prstClr val="white"/>
                </a:solidFill>
                <a:latin typeface="Century Gothic" panose="020B0502020202020204" pitchFamily="34" charset="0"/>
                <a:sym typeface="Arial"/>
              </a:rPr>
              <a:t>NG</a:t>
            </a:r>
          </a:p>
        </p:txBody>
      </p:sp>
      <p:sp>
        <p:nvSpPr>
          <p:cNvPr id="22" name="Rectangle 21">
            <a:extLst>
              <a:ext uri="{FF2B5EF4-FFF2-40B4-BE49-F238E27FC236}">
                <a16:creationId xmlns:a16="http://schemas.microsoft.com/office/drawing/2014/main" id="{DB97824F-FD55-64C9-2E8F-8848A8577B45}"/>
              </a:ext>
            </a:extLst>
          </p:cNvPr>
          <p:cNvSpPr/>
          <p:nvPr/>
        </p:nvSpPr>
        <p:spPr>
          <a:xfrm>
            <a:off x="9312754" y="5520246"/>
            <a:ext cx="807940" cy="151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467" kern="0" dirty="0">
                <a:solidFill>
                  <a:prstClr val="white"/>
                </a:solidFill>
                <a:latin typeface="Century Gothic" panose="020B0502020202020204" pitchFamily="34" charset="0"/>
                <a:sym typeface="Arial"/>
              </a:rPr>
              <a:t>GB</a:t>
            </a:r>
          </a:p>
        </p:txBody>
      </p:sp>
      <p:cxnSp>
        <p:nvCxnSpPr>
          <p:cNvPr id="4" name="Straight Connector 3">
            <a:extLst>
              <a:ext uri="{FF2B5EF4-FFF2-40B4-BE49-F238E27FC236}">
                <a16:creationId xmlns:a16="http://schemas.microsoft.com/office/drawing/2014/main" id="{E7D952DC-A263-3EF0-DF94-5D3A78BA9679}"/>
              </a:ext>
            </a:extLst>
          </p:cNvPr>
          <p:cNvCxnSpPr/>
          <p:nvPr/>
        </p:nvCxnSpPr>
        <p:spPr>
          <a:xfrm>
            <a:off x="4264411" y="4357431"/>
            <a:ext cx="125480" cy="475044"/>
          </a:xfrm>
          <a:prstGeom prst="line">
            <a:avLst/>
          </a:prstGeom>
          <a:ln w="28575">
            <a:solidFill>
              <a:srgbClr val="BB7371"/>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F062D730-3458-9F29-E78B-561CDDC7ACC1}"/>
              </a:ext>
            </a:extLst>
          </p:cNvPr>
          <p:cNvSpPr/>
          <p:nvPr/>
        </p:nvSpPr>
        <p:spPr>
          <a:xfrm>
            <a:off x="3603131" y="131928"/>
            <a:ext cx="8588869" cy="6726072"/>
          </a:xfrm>
          <a:prstGeom prst="rect">
            <a:avLst/>
          </a:prstGeom>
          <a:solidFill>
            <a:srgbClr val="00000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endParaRPr lang="en-US" sz="1867" kern="0" dirty="0">
              <a:solidFill>
                <a:prstClr val="white"/>
              </a:solidFill>
              <a:latin typeface="Century Gothic" panose="020B0502020202020204" pitchFamily="34" charset="0"/>
              <a:sym typeface="Arial"/>
            </a:endParaRPr>
          </a:p>
        </p:txBody>
      </p:sp>
      <p:sp>
        <p:nvSpPr>
          <p:cNvPr id="10" name="TextBox 9">
            <a:extLst>
              <a:ext uri="{FF2B5EF4-FFF2-40B4-BE49-F238E27FC236}">
                <a16:creationId xmlns:a16="http://schemas.microsoft.com/office/drawing/2014/main" id="{FE9FFB1A-500A-18E4-B9DB-8774DB1EE5D9}"/>
              </a:ext>
            </a:extLst>
          </p:cNvPr>
          <p:cNvSpPr txBox="1"/>
          <p:nvPr/>
        </p:nvSpPr>
        <p:spPr>
          <a:xfrm>
            <a:off x="3771435" y="2614604"/>
            <a:ext cx="8787275" cy="2308324"/>
          </a:xfrm>
          <a:prstGeom prst="rect">
            <a:avLst/>
          </a:prstGeom>
          <a:noFill/>
        </p:spPr>
        <p:txBody>
          <a:bodyPr wrap="square" rtlCol="0">
            <a:spAutoFit/>
          </a:bodyPr>
          <a:lstStyle/>
          <a:p>
            <a:pPr defTabSz="1219170">
              <a:buClr>
                <a:srgbClr val="000000"/>
              </a:buClr>
              <a:defRPr/>
            </a:pPr>
            <a:r>
              <a:rPr lang="en-US" sz="4800" kern="0" dirty="0">
                <a:solidFill>
                  <a:srgbClr val="FFCC00"/>
                </a:solidFill>
                <a:latin typeface="Century Gothic" panose="020B0502020202020204" pitchFamily="34" charset="0"/>
                <a:cs typeface="Arial"/>
                <a:sym typeface="Arial"/>
              </a:rPr>
              <a:t>What can we do about it?</a:t>
            </a:r>
          </a:p>
          <a:p>
            <a:pPr defTabSz="1219170">
              <a:buClr>
                <a:srgbClr val="000000"/>
              </a:buClr>
              <a:defRPr/>
            </a:pPr>
            <a:endParaRPr lang="en-US" sz="4800" kern="0" dirty="0">
              <a:solidFill>
                <a:srgbClr val="FFCC00"/>
              </a:solidFill>
              <a:latin typeface="Century Gothic" panose="020B0502020202020204" pitchFamily="34" charset="0"/>
              <a:cs typeface="Arial"/>
              <a:sym typeface="Arial"/>
            </a:endParaRPr>
          </a:p>
          <a:p>
            <a:pPr defTabSz="1219170">
              <a:buClr>
                <a:srgbClr val="000000"/>
              </a:buClr>
              <a:defRPr/>
            </a:pPr>
            <a:endParaRPr lang="en-US" sz="4800" kern="0" dirty="0">
              <a:solidFill>
                <a:srgbClr val="FFCC00"/>
              </a:solidFill>
              <a:latin typeface="Century Gothic" panose="020B0502020202020204" pitchFamily="34" charset="0"/>
              <a:cs typeface="Arial"/>
              <a:sym typeface="Arial"/>
            </a:endParaRPr>
          </a:p>
        </p:txBody>
      </p:sp>
    </p:spTree>
    <p:extLst>
      <p:ext uri="{BB962C8B-B14F-4D97-AF65-F5344CB8AC3E}">
        <p14:creationId xmlns:p14="http://schemas.microsoft.com/office/powerpoint/2010/main" val="37725373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Table 10">
            <a:extLst>
              <a:ext uri="{FF2B5EF4-FFF2-40B4-BE49-F238E27FC236}">
                <a16:creationId xmlns:a16="http://schemas.microsoft.com/office/drawing/2014/main" id="{24CDCD8C-7917-4078-8ED9-D943708CE4E7}"/>
              </a:ext>
            </a:extLst>
          </p:cNvPr>
          <p:cNvGraphicFramePr>
            <a:graphicFrameLocks noGrp="1"/>
          </p:cNvGraphicFramePr>
          <p:nvPr/>
        </p:nvGraphicFramePr>
        <p:xfrm>
          <a:off x="5545273" y="555113"/>
          <a:ext cx="2709637" cy="2275840"/>
        </p:xfrm>
        <a:graphic>
          <a:graphicData uri="http://schemas.openxmlformats.org/drawingml/2006/table">
            <a:tbl>
              <a:tblPr firstRow="1" bandRow="1">
                <a:tableStyleId>{5940675A-B579-460E-94D1-54222C63F5DA}</a:tableStyleId>
              </a:tblPr>
              <a:tblGrid>
                <a:gridCol w="387091">
                  <a:extLst>
                    <a:ext uri="{9D8B030D-6E8A-4147-A177-3AD203B41FA5}">
                      <a16:colId xmlns:a16="http://schemas.microsoft.com/office/drawing/2014/main" val="2575886958"/>
                    </a:ext>
                  </a:extLst>
                </a:gridCol>
                <a:gridCol w="387091">
                  <a:extLst>
                    <a:ext uri="{9D8B030D-6E8A-4147-A177-3AD203B41FA5}">
                      <a16:colId xmlns:a16="http://schemas.microsoft.com/office/drawing/2014/main" val="472600953"/>
                    </a:ext>
                  </a:extLst>
                </a:gridCol>
                <a:gridCol w="387091">
                  <a:extLst>
                    <a:ext uri="{9D8B030D-6E8A-4147-A177-3AD203B41FA5}">
                      <a16:colId xmlns:a16="http://schemas.microsoft.com/office/drawing/2014/main" val="504791355"/>
                    </a:ext>
                  </a:extLst>
                </a:gridCol>
                <a:gridCol w="387091">
                  <a:extLst>
                    <a:ext uri="{9D8B030D-6E8A-4147-A177-3AD203B41FA5}">
                      <a16:colId xmlns:a16="http://schemas.microsoft.com/office/drawing/2014/main" val="4120101287"/>
                    </a:ext>
                  </a:extLst>
                </a:gridCol>
                <a:gridCol w="387091">
                  <a:extLst>
                    <a:ext uri="{9D8B030D-6E8A-4147-A177-3AD203B41FA5}">
                      <a16:colId xmlns:a16="http://schemas.microsoft.com/office/drawing/2014/main" val="3923670087"/>
                    </a:ext>
                  </a:extLst>
                </a:gridCol>
                <a:gridCol w="387091">
                  <a:extLst>
                    <a:ext uri="{9D8B030D-6E8A-4147-A177-3AD203B41FA5}">
                      <a16:colId xmlns:a16="http://schemas.microsoft.com/office/drawing/2014/main" val="4185425004"/>
                    </a:ext>
                  </a:extLst>
                </a:gridCol>
                <a:gridCol w="387091">
                  <a:extLst>
                    <a:ext uri="{9D8B030D-6E8A-4147-A177-3AD203B41FA5}">
                      <a16:colId xmlns:a16="http://schemas.microsoft.com/office/drawing/2014/main" val="3699512078"/>
                    </a:ext>
                  </a:extLst>
                </a:gridCol>
              </a:tblGrid>
              <a:tr h="325120">
                <a:tc>
                  <a:txBody>
                    <a:bodyPr/>
                    <a:lstStyle/>
                    <a:p>
                      <a:endParaRPr lang="en-US" sz="1300" b="0" i="0" dirty="0">
                        <a:latin typeface="Century Gothic" panose="020B0502020202020204" pitchFamily="34" charset="0"/>
                      </a:endParaRPr>
                    </a:p>
                  </a:txBody>
                  <a:tcPr marL="121920" marR="121920" marT="60960" marB="60960">
                    <a:solidFill>
                      <a:schemeClr val="accent1">
                        <a:lumMod val="20000"/>
                        <a:lumOff val="8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1">
                        <a:lumMod val="20000"/>
                        <a:lumOff val="8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1">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1">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1">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1">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1">
                        <a:lumMod val="50000"/>
                      </a:schemeClr>
                    </a:solidFill>
                  </a:tcPr>
                </a:tc>
                <a:extLst>
                  <a:ext uri="{0D108BD9-81ED-4DB2-BD59-A6C34878D82A}">
                    <a16:rowId xmlns:a16="http://schemas.microsoft.com/office/drawing/2014/main" val="2817984418"/>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4">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4">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40000"/>
                        <a:lumOff val="6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40000"/>
                        <a:lumOff val="6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1">
                        <a:lumMod val="75000"/>
                      </a:schemeClr>
                    </a:solidFill>
                  </a:tcPr>
                </a:tc>
                <a:extLst>
                  <a:ext uri="{0D108BD9-81ED-4DB2-BD59-A6C34878D82A}">
                    <a16:rowId xmlns:a16="http://schemas.microsoft.com/office/drawing/2014/main" val="3413940553"/>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1">
                        <a:lumMod val="75000"/>
                      </a:schemeClr>
                    </a:solidFill>
                  </a:tcPr>
                </a:tc>
                <a:extLst>
                  <a:ext uri="{0D108BD9-81ED-4DB2-BD59-A6C34878D82A}">
                    <a16:rowId xmlns:a16="http://schemas.microsoft.com/office/drawing/2014/main" val="3742056622"/>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1">
                        <a:lumMod val="60000"/>
                        <a:lumOff val="40000"/>
                      </a:schemeClr>
                    </a:solidFill>
                  </a:tcPr>
                </a:tc>
                <a:extLst>
                  <a:ext uri="{0D108BD9-81ED-4DB2-BD59-A6C34878D82A}">
                    <a16:rowId xmlns:a16="http://schemas.microsoft.com/office/drawing/2014/main" val="1816159184"/>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1">
                        <a:lumMod val="60000"/>
                        <a:lumOff val="40000"/>
                      </a:schemeClr>
                    </a:solidFill>
                  </a:tcPr>
                </a:tc>
                <a:extLst>
                  <a:ext uri="{0D108BD9-81ED-4DB2-BD59-A6C34878D82A}">
                    <a16:rowId xmlns:a16="http://schemas.microsoft.com/office/drawing/2014/main" val="2548049697"/>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1">
                        <a:lumMod val="60000"/>
                        <a:lumOff val="40000"/>
                      </a:schemeClr>
                    </a:solidFill>
                  </a:tcPr>
                </a:tc>
                <a:extLst>
                  <a:ext uri="{0D108BD9-81ED-4DB2-BD59-A6C34878D82A}">
                    <a16:rowId xmlns:a16="http://schemas.microsoft.com/office/drawing/2014/main" val="2092130242"/>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1">
                        <a:lumMod val="75000"/>
                      </a:schemeClr>
                    </a:solidFill>
                  </a:tcPr>
                </a:tc>
                <a:extLst>
                  <a:ext uri="{0D108BD9-81ED-4DB2-BD59-A6C34878D82A}">
                    <a16:rowId xmlns:a16="http://schemas.microsoft.com/office/drawing/2014/main" val="941433545"/>
                  </a:ext>
                </a:extLst>
              </a:tr>
            </a:tbl>
          </a:graphicData>
        </a:graphic>
      </p:graphicFrame>
      <p:graphicFrame>
        <p:nvGraphicFramePr>
          <p:cNvPr id="16" name="Table 10">
            <a:extLst>
              <a:ext uri="{FF2B5EF4-FFF2-40B4-BE49-F238E27FC236}">
                <a16:creationId xmlns:a16="http://schemas.microsoft.com/office/drawing/2014/main" id="{68D32285-F9F9-F34C-925E-F4E04471820B}"/>
              </a:ext>
            </a:extLst>
          </p:cNvPr>
          <p:cNvGraphicFramePr>
            <a:graphicFrameLocks noGrp="1"/>
          </p:cNvGraphicFramePr>
          <p:nvPr/>
        </p:nvGraphicFramePr>
        <p:xfrm>
          <a:off x="5185300" y="831012"/>
          <a:ext cx="2709637" cy="2275840"/>
        </p:xfrm>
        <a:graphic>
          <a:graphicData uri="http://schemas.openxmlformats.org/drawingml/2006/table">
            <a:tbl>
              <a:tblPr firstRow="1" bandRow="1">
                <a:tableStyleId>{5940675A-B579-460E-94D1-54222C63F5DA}</a:tableStyleId>
              </a:tblPr>
              <a:tblGrid>
                <a:gridCol w="387091">
                  <a:extLst>
                    <a:ext uri="{9D8B030D-6E8A-4147-A177-3AD203B41FA5}">
                      <a16:colId xmlns:a16="http://schemas.microsoft.com/office/drawing/2014/main" val="2575886958"/>
                    </a:ext>
                  </a:extLst>
                </a:gridCol>
                <a:gridCol w="387091">
                  <a:extLst>
                    <a:ext uri="{9D8B030D-6E8A-4147-A177-3AD203B41FA5}">
                      <a16:colId xmlns:a16="http://schemas.microsoft.com/office/drawing/2014/main" val="472600953"/>
                    </a:ext>
                  </a:extLst>
                </a:gridCol>
                <a:gridCol w="387091">
                  <a:extLst>
                    <a:ext uri="{9D8B030D-6E8A-4147-A177-3AD203B41FA5}">
                      <a16:colId xmlns:a16="http://schemas.microsoft.com/office/drawing/2014/main" val="504791355"/>
                    </a:ext>
                  </a:extLst>
                </a:gridCol>
                <a:gridCol w="387091">
                  <a:extLst>
                    <a:ext uri="{9D8B030D-6E8A-4147-A177-3AD203B41FA5}">
                      <a16:colId xmlns:a16="http://schemas.microsoft.com/office/drawing/2014/main" val="4120101287"/>
                    </a:ext>
                  </a:extLst>
                </a:gridCol>
                <a:gridCol w="387091">
                  <a:extLst>
                    <a:ext uri="{9D8B030D-6E8A-4147-A177-3AD203B41FA5}">
                      <a16:colId xmlns:a16="http://schemas.microsoft.com/office/drawing/2014/main" val="3923670087"/>
                    </a:ext>
                  </a:extLst>
                </a:gridCol>
                <a:gridCol w="387091">
                  <a:extLst>
                    <a:ext uri="{9D8B030D-6E8A-4147-A177-3AD203B41FA5}">
                      <a16:colId xmlns:a16="http://schemas.microsoft.com/office/drawing/2014/main" val="4185425004"/>
                    </a:ext>
                  </a:extLst>
                </a:gridCol>
                <a:gridCol w="387091">
                  <a:extLst>
                    <a:ext uri="{9D8B030D-6E8A-4147-A177-3AD203B41FA5}">
                      <a16:colId xmlns:a16="http://schemas.microsoft.com/office/drawing/2014/main" val="3699512078"/>
                    </a:ext>
                  </a:extLst>
                </a:gridCol>
              </a:tblGrid>
              <a:tr h="325120">
                <a:tc>
                  <a:txBody>
                    <a:bodyPr/>
                    <a:lstStyle/>
                    <a:p>
                      <a:endParaRPr lang="en-US" sz="1300" b="0" i="0" dirty="0">
                        <a:latin typeface="Century Gothic" panose="020B0502020202020204" pitchFamily="34" charset="0"/>
                      </a:endParaRPr>
                    </a:p>
                  </a:txBody>
                  <a:tcPr marL="121920" marR="121920" marT="60960" marB="60960">
                    <a:solidFill>
                      <a:schemeClr val="accent4">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4">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4">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4">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4">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4">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4">
                        <a:lumMod val="60000"/>
                        <a:lumOff val="40000"/>
                      </a:schemeClr>
                    </a:solidFill>
                  </a:tcPr>
                </a:tc>
                <a:extLst>
                  <a:ext uri="{0D108BD9-81ED-4DB2-BD59-A6C34878D82A}">
                    <a16:rowId xmlns:a16="http://schemas.microsoft.com/office/drawing/2014/main" val="2817984418"/>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4">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4">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40000"/>
                        <a:lumOff val="6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40000"/>
                        <a:lumOff val="6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4">
                        <a:lumMod val="20000"/>
                        <a:lumOff val="80000"/>
                      </a:schemeClr>
                    </a:solidFill>
                  </a:tcPr>
                </a:tc>
                <a:extLst>
                  <a:ext uri="{0D108BD9-81ED-4DB2-BD59-A6C34878D82A}">
                    <a16:rowId xmlns:a16="http://schemas.microsoft.com/office/drawing/2014/main" val="3413940553"/>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4">
                        <a:lumMod val="20000"/>
                        <a:lumOff val="80000"/>
                      </a:schemeClr>
                    </a:solidFill>
                  </a:tcPr>
                </a:tc>
                <a:extLst>
                  <a:ext uri="{0D108BD9-81ED-4DB2-BD59-A6C34878D82A}">
                    <a16:rowId xmlns:a16="http://schemas.microsoft.com/office/drawing/2014/main" val="3742056622"/>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4">
                        <a:lumMod val="50000"/>
                      </a:schemeClr>
                    </a:solidFill>
                  </a:tcPr>
                </a:tc>
                <a:extLst>
                  <a:ext uri="{0D108BD9-81ED-4DB2-BD59-A6C34878D82A}">
                    <a16:rowId xmlns:a16="http://schemas.microsoft.com/office/drawing/2014/main" val="1816159184"/>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4">
                        <a:lumMod val="50000"/>
                      </a:schemeClr>
                    </a:solidFill>
                  </a:tcPr>
                </a:tc>
                <a:extLst>
                  <a:ext uri="{0D108BD9-81ED-4DB2-BD59-A6C34878D82A}">
                    <a16:rowId xmlns:a16="http://schemas.microsoft.com/office/drawing/2014/main" val="2548049697"/>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4">
                        <a:lumMod val="50000"/>
                      </a:schemeClr>
                    </a:solidFill>
                  </a:tcPr>
                </a:tc>
                <a:extLst>
                  <a:ext uri="{0D108BD9-81ED-4DB2-BD59-A6C34878D82A}">
                    <a16:rowId xmlns:a16="http://schemas.microsoft.com/office/drawing/2014/main" val="2092130242"/>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4">
                        <a:lumMod val="50000"/>
                      </a:schemeClr>
                    </a:solidFill>
                  </a:tcPr>
                </a:tc>
                <a:extLst>
                  <a:ext uri="{0D108BD9-81ED-4DB2-BD59-A6C34878D82A}">
                    <a16:rowId xmlns:a16="http://schemas.microsoft.com/office/drawing/2014/main" val="941433545"/>
                  </a:ext>
                </a:extLst>
              </a:tr>
            </a:tbl>
          </a:graphicData>
        </a:graphic>
      </p:graphicFrame>
      <p:sp>
        <p:nvSpPr>
          <p:cNvPr id="2" name="TextBox 1">
            <a:extLst>
              <a:ext uri="{FF2B5EF4-FFF2-40B4-BE49-F238E27FC236}">
                <a16:creationId xmlns:a16="http://schemas.microsoft.com/office/drawing/2014/main" id="{8CF3728C-4A41-95CB-FE92-5925F40017B0}"/>
              </a:ext>
            </a:extLst>
          </p:cNvPr>
          <p:cNvSpPr txBox="1"/>
          <p:nvPr/>
        </p:nvSpPr>
        <p:spPr>
          <a:xfrm>
            <a:off x="20438" y="2244831"/>
            <a:ext cx="4041093" cy="2144113"/>
          </a:xfrm>
          <a:prstGeom prst="rect">
            <a:avLst/>
          </a:prstGeom>
          <a:noFill/>
        </p:spPr>
        <p:txBody>
          <a:bodyPr wrap="square" rtlCol="0">
            <a:spAutoFit/>
          </a:bodyPr>
          <a:lstStyle/>
          <a:p>
            <a:pPr defTabSz="1219170">
              <a:buClr>
                <a:srgbClr val="000000"/>
              </a:buClr>
              <a:defRPr/>
            </a:pPr>
            <a:r>
              <a:rPr lang="en-US" sz="6667" kern="0" dirty="0">
                <a:solidFill>
                  <a:srgbClr val="FFCC00"/>
                </a:solidFill>
                <a:latin typeface="Century Gothic" panose="020B0502020202020204" pitchFamily="34" charset="0"/>
                <a:cs typeface="Arial"/>
                <a:sym typeface="Arial"/>
              </a:rPr>
              <a:t>correct</a:t>
            </a:r>
            <a:r>
              <a:rPr lang="en-US" sz="8000" kern="0" dirty="0">
                <a:solidFill>
                  <a:srgbClr val="FFCC00"/>
                </a:solidFill>
                <a:latin typeface="Century Gothic" panose="020B0502020202020204" pitchFamily="34" charset="0"/>
                <a:cs typeface="Arial"/>
                <a:sym typeface="Arial"/>
              </a:rPr>
              <a:t> </a:t>
            </a:r>
          </a:p>
          <a:p>
            <a:pPr defTabSz="1219170">
              <a:buClr>
                <a:srgbClr val="000000"/>
              </a:buClr>
              <a:defRPr/>
            </a:pPr>
            <a:r>
              <a:rPr lang="en-US" sz="5333" kern="0" dirty="0">
                <a:solidFill>
                  <a:srgbClr val="FFCC00"/>
                </a:solidFill>
                <a:latin typeface="Century Gothic" panose="020B0502020202020204" pitchFamily="34" charset="0"/>
                <a:cs typeface="Arial"/>
                <a:sym typeface="Arial"/>
              </a:rPr>
              <a:t>for bias?</a:t>
            </a:r>
          </a:p>
        </p:txBody>
      </p:sp>
      <p:cxnSp>
        <p:nvCxnSpPr>
          <p:cNvPr id="5" name="Elbow Connector 4">
            <a:extLst>
              <a:ext uri="{FF2B5EF4-FFF2-40B4-BE49-F238E27FC236}">
                <a16:creationId xmlns:a16="http://schemas.microsoft.com/office/drawing/2014/main" id="{9A8B791E-CB48-0D91-F82A-F737F589D07C}"/>
              </a:ext>
            </a:extLst>
          </p:cNvPr>
          <p:cNvCxnSpPr>
            <a:cxnSpLocks/>
          </p:cNvCxnSpPr>
          <p:nvPr/>
        </p:nvCxnSpPr>
        <p:spPr>
          <a:xfrm>
            <a:off x="2699052" y="3566212"/>
            <a:ext cx="1866976" cy="1758803"/>
          </a:xfrm>
          <a:prstGeom prst="bentConnector3">
            <a:avLst/>
          </a:prstGeom>
          <a:ln w="76200">
            <a:solidFill>
              <a:srgbClr val="DC1879"/>
            </a:solidFill>
            <a:tailEnd type="triangle"/>
          </a:ln>
        </p:spPr>
        <p:style>
          <a:lnRef idx="1">
            <a:schemeClr val="accent1"/>
          </a:lnRef>
          <a:fillRef idx="0">
            <a:schemeClr val="accent1"/>
          </a:fillRef>
          <a:effectRef idx="0">
            <a:schemeClr val="accent1"/>
          </a:effectRef>
          <a:fontRef idx="minor">
            <a:schemeClr val="tx1"/>
          </a:fontRef>
        </p:style>
      </p:cxnSp>
      <p:cxnSp>
        <p:nvCxnSpPr>
          <p:cNvPr id="6" name="Elbow Connector 5">
            <a:extLst>
              <a:ext uri="{FF2B5EF4-FFF2-40B4-BE49-F238E27FC236}">
                <a16:creationId xmlns:a16="http://schemas.microsoft.com/office/drawing/2014/main" id="{41B92C60-4069-D51F-1EA5-F7FF5CAA23BB}"/>
              </a:ext>
            </a:extLst>
          </p:cNvPr>
          <p:cNvCxnSpPr>
            <a:cxnSpLocks/>
          </p:cNvCxnSpPr>
          <p:nvPr/>
        </p:nvCxnSpPr>
        <p:spPr>
          <a:xfrm flipV="1">
            <a:off x="2699052" y="1719856"/>
            <a:ext cx="1866976" cy="1684272"/>
          </a:xfrm>
          <a:prstGeom prst="bentConnector3">
            <a:avLst/>
          </a:prstGeom>
          <a:ln w="762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0" name="Table 10">
            <a:extLst>
              <a:ext uri="{FF2B5EF4-FFF2-40B4-BE49-F238E27FC236}">
                <a16:creationId xmlns:a16="http://schemas.microsoft.com/office/drawing/2014/main" id="{A3F1A95F-BA70-C026-16FF-A58FAD99FB30}"/>
              </a:ext>
            </a:extLst>
          </p:cNvPr>
          <p:cNvGraphicFramePr>
            <a:graphicFrameLocks noGrp="1"/>
          </p:cNvGraphicFramePr>
          <p:nvPr/>
        </p:nvGraphicFramePr>
        <p:xfrm>
          <a:off x="4825327" y="1106911"/>
          <a:ext cx="2709637" cy="2275840"/>
        </p:xfrm>
        <a:graphic>
          <a:graphicData uri="http://schemas.openxmlformats.org/drawingml/2006/table">
            <a:tbl>
              <a:tblPr firstRow="1" bandRow="1">
                <a:tableStyleId>{5940675A-B579-460E-94D1-54222C63F5DA}</a:tableStyleId>
              </a:tblPr>
              <a:tblGrid>
                <a:gridCol w="387091">
                  <a:extLst>
                    <a:ext uri="{9D8B030D-6E8A-4147-A177-3AD203B41FA5}">
                      <a16:colId xmlns:a16="http://schemas.microsoft.com/office/drawing/2014/main" val="2575886958"/>
                    </a:ext>
                  </a:extLst>
                </a:gridCol>
                <a:gridCol w="387091">
                  <a:extLst>
                    <a:ext uri="{9D8B030D-6E8A-4147-A177-3AD203B41FA5}">
                      <a16:colId xmlns:a16="http://schemas.microsoft.com/office/drawing/2014/main" val="472600953"/>
                    </a:ext>
                  </a:extLst>
                </a:gridCol>
                <a:gridCol w="387091">
                  <a:extLst>
                    <a:ext uri="{9D8B030D-6E8A-4147-A177-3AD203B41FA5}">
                      <a16:colId xmlns:a16="http://schemas.microsoft.com/office/drawing/2014/main" val="504791355"/>
                    </a:ext>
                  </a:extLst>
                </a:gridCol>
                <a:gridCol w="387091">
                  <a:extLst>
                    <a:ext uri="{9D8B030D-6E8A-4147-A177-3AD203B41FA5}">
                      <a16:colId xmlns:a16="http://schemas.microsoft.com/office/drawing/2014/main" val="4120101287"/>
                    </a:ext>
                  </a:extLst>
                </a:gridCol>
                <a:gridCol w="387091">
                  <a:extLst>
                    <a:ext uri="{9D8B030D-6E8A-4147-A177-3AD203B41FA5}">
                      <a16:colId xmlns:a16="http://schemas.microsoft.com/office/drawing/2014/main" val="3923670087"/>
                    </a:ext>
                  </a:extLst>
                </a:gridCol>
                <a:gridCol w="387091">
                  <a:extLst>
                    <a:ext uri="{9D8B030D-6E8A-4147-A177-3AD203B41FA5}">
                      <a16:colId xmlns:a16="http://schemas.microsoft.com/office/drawing/2014/main" val="4185425004"/>
                    </a:ext>
                  </a:extLst>
                </a:gridCol>
                <a:gridCol w="387091">
                  <a:extLst>
                    <a:ext uri="{9D8B030D-6E8A-4147-A177-3AD203B41FA5}">
                      <a16:colId xmlns:a16="http://schemas.microsoft.com/office/drawing/2014/main" val="3699512078"/>
                    </a:ext>
                  </a:extLst>
                </a:gridCol>
              </a:tblGrid>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20000"/>
                        <a:lumOff val="8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20000"/>
                        <a:lumOff val="8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20000"/>
                        <a:lumOff val="8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20000"/>
                        <a:lumOff val="8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20000"/>
                        <a:lumOff val="8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40000"/>
                        <a:lumOff val="60000"/>
                      </a:schemeClr>
                    </a:solidFill>
                  </a:tcPr>
                </a:tc>
                <a:extLst>
                  <a:ext uri="{0D108BD9-81ED-4DB2-BD59-A6C34878D82A}">
                    <a16:rowId xmlns:a16="http://schemas.microsoft.com/office/drawing/2014/main" val="2817984418"/>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40000"/>
                        <a:lumOff val="6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40000"/>
                        <a:lumOff val="6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40000"/>
                        <a:lumOff val="60000"/>
                      </a:schemeClr>
                    </a:solidFill>
                  </a:tcPr>
                </a:tc>
                <a:extLst>
                  <a:ext uri="{0D108BD9-81ED-4DB2-BD59-A6C34878D82A}">
                    <a16:rowId xmlns:a16="http://schemas.microsoft.com/office/drawing/2014/main" val="3413940553"/>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extLst>
                  <a:ext uri="{0D108BD9-81ED-4DB2-BD59-A6C34878D82A}">
                    <a16:rowId xmlns:a16="http://schemas.microsoft.com/office/drawing/2014/main" val="3742056622"/>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extLst>
                  <a:ext uri="{0D108BD9-81ED-4DB2-BD59-A6C34878D82A}">
                    <a16:rowId xmlns:a16="http://schemas.microsoft.com/office/drawing/2014/main" val="1816159184"/>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extLst>
                  <a:ext uri="{0D108BD9-81ED-4DB2-BD59-A6C34878D82A}">
                    <a16:rowId xmlns:a16="http://schemas.microsoft.com/office/drawing/2014/main" val="2548049697"/>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extLst>
                  <a:ext uri="{0D108BD9-81ED-4DB2-BD59-A6C34878D82A}">
                    <a16:rowId xmlns:a16="http://schemas.microsoft.com/office/drawing/2014/main" val="2092130242"/>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extLst>
                  <a:ext uri="{0D108BD9-81ED-4DB2-BD59-A6C34878D82A}">
                    <a16:rowId xmlns:a16="http://schemas.microsoft.com/office/drawing/2014/main" val="941433545"/>
                  </a:ext>
                </a:extLst>
              </a:tr>
            </a:tbl>
          </a:graphicData>
        </a:graphic>
      </p:graphicFrame>
      <p:graphicFrame>
        <p:nvGraphicFramePr>
          <p:cNvPr id="18" name="Table 10">
            <a:extLst>
              <a:ext uri="{FF2B5EF4-FFF2-40B4-BE49-F238E27FC236}">
                <a16:creationId xmlns:a16="http://schemas.microsoft.com/office/drawing/2014/main" id="{D24F5DB9-5D39-7867-4923-63CDFB5F4548}"/>
              </a:ext>
            </a:extLst>
          </p:cNvPr>
          <p:cNvGraphicFramePr>
            <a:graphicFrameLocks noGrp="1"/>
          </p:cNvGraphicFramePr>
          <p:nvPr/>
        </p:nvGraphicFramePr>
        <p:xfrm>
          <a:off x="5545273" y="3900865"/>
          <a:ext cx="2709637" cy="2275840"/>
        </p:xfrm>
        <a:graphic>
          <a:graphicData uri="http://schemas.openxmlformats.org/drawingml/2006/table">
            <a:tbl>
              <a:tblPr firstRow="1" bandRow="1">
                <a:tableStyleId>{5940675A-B579-460E-94D1-54222C63F5DA}</a:tableStyleId>
              </a:tblPr>
              <a:tblGrid>
                <a:gridCol w="387091">
                  <a:extLst>
                    <a:ext uri="{9D8B030D-6E8A-4147-A177-3AD203B41FA5}">
                      <a16:colId xmlns:a16="http://schemas.microsoft.com/office/drawing/2014/main" val="2575886958"/>
                    </a:ext>
                  </a:extLst>
                </a:gridCol>
                <a:gridCol w="387091">
                  <a:extLst>
                    <a:ext uri="{9D8B030D-6E8A-4147-A177-3AD203B41FA5}">
                      <a16:colId xmlns:a16="http://schemas.microsoft.com/office/drawing/2014/main" val="472600953"/>
                    </a:ext>
                  </a:extLst>
                </a:gridCol>
                <a:gridCol w="387091">
                  <a:extLst>
                    <a:ext uri="{9D8B030D-6E8A-4147-A177-3AD203B41FA5}">
                      <a16:colId xmlns:a16="http://schemas.microsoft.com/office/drawing/2014/main" val="504791355"/>
                    </a:ext>
                  </a:extLst>
                </a:gridCol>
                <a:gridCol w="387091">
                  <a:extLst>
                    <a:ext uri="{9D8B030D-6E8A-4147-A177-3AD203B41FA5}">
                      <a16:colId xmlns:a16="http://schemas.microsoft.com/office/drawing/2014/main" val="4120101287"/>
                    </a:ext>
                  </a:extLst>
                </a:gridCol>
                <a:gridCol w="387091">
                  <a:extLst>
                    <a:ext uri="{9D8B030D-6E8A-4147-A177-3AD203B41FA5}">
                      <a16:colId xmlns:a16="http://schemas.microsoft.com/office/drawing/2014/main" val="3923670087"/>
                    </a:ext>
                  </a:extLst>
                </a:gridCol>
                <a:gridCol w="387091">
                  <a:extLst>
                    <a:ext uri="{9D8B030D-6E8A-4147-A177-3AD203B41FA5}">
                      <a16:colId xmlns:a16="http://schemas.microsoft.com/office/drawing/2014/main" val="4185425004"/>
                    </a:ext>
                  </a:extLst>
                </a:gridCol>
                <a:gridCol w="387091">
                  <a:extLst>
                    <a:ext uri="{9D8B030D-6E8A-4147-A177-3AD203B41FA5}">
                      <a16:colId xmlns:a16="http://schemas.microsoft.com/office/drawing/2014/main" val="3699512078"/>
                    </a:ext>
                  </a:extLst>
                </a:gridCol>
              </a:tblGrid>
              <a:tr h="325120">
                <a:tc>
                  <a:txBody>
                    <a:bodyPr/>
                    <a:lstStyle/>
                    <a:p>
                      <a:endParaRPr lang="en-US" sz="1300" b="0" i="0" dirty="0">
                        <a:latin typeface="Century Gothic" panose="020B0502020202020204" pitchFamily="34" charset="0"/>
                      </a:endParaRPr>
                    </a:p>
                  </a:txBody>
                  <a:tcPr marL="121920" marR="121920" marT="60960" marB="60960">
                    <a:solidFill>
                      <a:schemeClr val="accent1">
                        <a:lumMod val="20000"/>
                        <a:lumOff val="8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1">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1">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1">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1">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1">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1">
                        <a:lumMod val="50000"/>
                      </a:schemeClr>
                    </a:solidFill>
                  </a:tcPr>
                </a:tc>
                <a:extLst>
                  <a:ext uri="{0D108BD9-81ED-4DB2-BD59-A6C34878D82A}">
                    <a16:rowId xmlns:a16="http://schemas.microsoft.com/office/drawing/2014/main" val="2817984418"/>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4">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4">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40000"/>
                        <a:lumOff val="6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40000"/>
                        <a:lumOff val="6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1">
                        <a:lumMod val="75000"/>
                      </a:schemeClr>
                    </a:solidFill>
                  </a:tcPr>
                </a:tc>
                <a:extLst>
                  <a:ext uri="{0D108BD9-81ED-4DB2-BD59-A6C34878D82A}">
                    <a16:rowId xmlns:a16="http://schemas.microsoft.com/office/drawing/2014/main" val="3413940553"/>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1">
                        <a:lumMod val="75000"/>
                      </a:schemeClr>
                    </a:solidFill>
                  </a:tcPr>
                </a:tc>
                <a:extLst>
                  <a:ext uri="{0D108BD9-81ED-4DB2-BD59-A6C34878D82A}">
                    <a16:rowId xmlns:a16="http://schemas.microsoft.com/office/drawing/2014/main" val="3742056622"/>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1">
                        <a:lumMod val="60000"/>
                        <a:lumOff val="40000"/>
                      </a:schemeClr>
                    </a:solidFill>
                  </a:tcPr>
                </a:tc>
                <a:extLst>
                  <a:ext uri="{0D108BD9-81ED-4DB2-BD59-A6C34878D82A}">
                    <a16:rowId xmlns:a16="http://schemas.microsoft.com/office/drawing/2014/main" val="1816159184"/>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1">
                        <a:lumMod val="20000"/>
                        <a:lumOff val="80000"/>
                      </a:schemeClr>
                    </a:solidFill>
                  </a:tcPr>
                </a:tc>
                <a:extLst>
                  <a:ext uri="{0D108BD9-81ED-4DB2-BD59-A6C34878D82A}">
                    <a16:rowId xmlns:a16="http://schemas.microsoft.com/office/drawing/2014/main" val="2548049697"/>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1">
                        <a:lumMod val="20000"/>
                        <a:lumOff val="80000"/>
                      </a:schemeClr>
                    </a:solidFill>
                  </a:tcPr>
                </a:tc>
                <a:extLst>
                  <a:ext uri="{0D108BD9-81ED-4DB2-BD59-A6C34878D82A}">
                    <a16:rowId xmlns:a16="http://schemas.microsoft.com/office/drawing/2014/main" val="2092130242"/>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1">
                        <a:lumMod val="20000"/>
                        <a:lumOff val="80000"/>
                      </a:schemeClr>
                    </a:solidFill>
                  </a:tcPr>
                </a:tc>
                <a:extLst>
                  <a:ext uri="{0D108BD9-81ED-4DB2-BD59-A6C34878D82A}">
                    <a16:rowId xmlns:a16="http://schemas.microsoft.com/office/drawing/2014/main" val="941433545"/>
                  </a:ext>
                </a:extLst>
              </a:tr>
            </a:tbl>
          </a:graphicData>
        </a:graphic>
      </p:graphicFrame>
      <p:graphicFrame>
        <p:nvGraphicFramePr>
          <p:cNvPr id="19" name="Table 10">
            <a:extLst>
              <a:ext uri="{FF2B5EF4-FFF2-40B4-BE49-F238E27FC236}">
                <a16:creationId xmlns:a16="http://schemas.microsoft.com/office/drawing/2014/main" id="{B9DE5EAC-9198-DBBB-2207-8B2500125485}"/>
              </a:ext>
            </a:extLst>
          </p:cNvPr>
          <p:cNvGraphicFramePr>
            <a:graphicFrameLocks noGrp="1"/>
          </p:cNvGraphicFramePr>
          <p:nvPr/>
        </p:nvGraphicFramePr>
        <p:xfrm>
          <a:off x="5185300" y="4194508"/>
          <a:ext cx="2709637" cy="2275840"/>
        </p:xfrm>
        <a:graphic>
          <a:graphicData uri="http://schemas.openxmlformats.org/drawingml/2006/table">
            <a:tbl>
              <a:tblPr firstRow="1" bandRow="1">
                <a:tableStyleId>{5940675A-B579-460E-94D1-54222C63F5DA}</a:tableStyleId>
              </a:tblPr>
              <a:tblGrid>
                <a:gridCol w="387091">
                  <a:extLst>
                    <a:ext uri="{9D8B030D-6E8A-4147-A177-3AD203B41FA5}">
                      <a16:colId xmlns:a16="http://schemas.microsoft.com/office/drawing/2014/main" val="2575886958"/>
                    </a:ext>
                  </a:extLst>
                </a:gridCol>
                <a:gridCol w="387091">
                  <a:extLst>
                    <a:ext uri="{9D8B030D-6E8A-4147-A177-3AD203B41FA5}">
                      <a16:colId xmlns:a16="http://schemas.microsoft.com/office/drawing/2014/main" val="472600953"/>
                    </a:ext>
                  </a:extLst>
                </a:gridCol>
                <a:gridCol w="387091">
                  <a:extLst>
                    <a:ext uri="{9D8B030D-6E8A-4147-A177-3AD203B41FA5}">
                      <a16:colId xmlns:a16="http://schemas.microsoft.com/office/drawing/2014/main" val="504791355"/>
                    </a:ext>
                  </a:extLst>
                </a:gridCol>
                <a:gridCol w="387091">
                  <a:extLst>
                    <a:ext uri="{9D8B030D-6E8A-4147-A177-3AD203B41FA5}">
                      <a16:colId xmlns:a16="http://schemas.microsoft.com/office/drawing/2014/main" val="4120101287"/>
                    </a:ext>
                  </a:extLst>
                </a:gridCol>
                <a:gridCol w="387091">
                  <a:extLst>
                    <a:ext uri="{9D8B030D-6E8A-4147-A177-3AD203B41FA5}">
                      <a16:colId xmlns:a16="http://schemas.microsoft.com/office/drawing/2014/main" val="3923670087"/>
                    </a:ext>
                  </a:extLst>
                </a:gridCol>
                <a:gridCol w="387091">
                  <a:extLst>
                    <a:ext uri="{9D8B030D-6E8A-4147-A177-3AD203B41FA5}">
                      <a16:colId xmlns:a16="http://schemas.microsoft.com/office/drawing/2014/main" val="4185425004"/>
                    </a:ext>
                  </a:extLst>
                </a:gridCol>
                <a:gridCol w="387091">
                  <a:extLst>
                    <a:ext uri="{9D8B030D-6E8A-4147-A177-3AD203B41FA5}">
                      <a16:colId xmlns:a16="http://schemas.microsoft.com/office/drawing/2014/main" val="3699512078"/>
                    </a:ext>
                  </a:extLst>
                </a:gridCol>
              </a:tblGrid>
              <a:tr h="325120">
                <a:tc>
                  <a:txBody>
                    <a:bodyPr/>
                    <a:lstStyle/>
                    <a:p>
                      <a:endParaRPr lang="en-US" sz="1300" b="0" i="0" dirty="0">
                        <a:latin typeface="Century Gothic" panose="020B0502020202020204" pitchFamily="34" charset="0"/>
                      </a:endParaRPr>
                    </a:p>
                  </a:txBody>
                  <a:tcPr marL="121920" marR="121920" marT="60960" marB="60960">
                    <a:solidFill>
                      <a:schemeClr val="accent4">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4">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4">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4">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4">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4">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4">
                        <a:lumMod val="60000"/>
                        <a:lumOff val="40000"/>
                      </a:schemeClr>
                    </a:solidFill>
                  </a:tcPr>
                </a:tc>
                <a:extLst>
                  <a:ext uri="{0D108BD9-81ED-4DB2-BD59-A6C34878D82A}">
                    <a16:rowId xmlns:a16="http://schemas.microsoft.com/office/drawing/2014/main" val="2817984418"/>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4">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4">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40000"/>
                        <a:lumOff val="6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40000"/>
                        <a:lumOff val="6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4">
                        <a:lumMod val="20000"/>
                        <a:lumOff val="80000"/>
                      </a:schemeClr>
                    </a:solidFill>
                  </a:tcPr>
                </a:tc>
                <a:extLst>
                  <a:ext uri="{0D108BD9-81ED-4DB2-BD59-A6C34878D82A}">
                    <a16:rowId xmlns:a16="http://schemas.microsoft.com/office/drawing/2014/main" val="3413940553"/>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4">
                        <a:lumMod val="20000"/>
                        <a:lumOff val="80000"/>
                      </a:schemeClr>
                    </a:solidFill>
                  </a:tcPr>
                </a:tc>
                <a:extLst>
                  <a:ext uri="{0D108BD9-81ED-4DB2-BD59-A6C34878D82A}">
                    <a16:rowId xmlns:a16="http://schemas.microsoft.com/office/drawing/2014/main" val="3742056622"/>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4">
                        <a:lumMod val="75000"/>
                      </a:schemeClr>
                    </a:solidFill>
                  </a:tcPr>
                </a:tc>
                <a:extLst>
                  <a:ext uri="{0D108BD9-81ED-4DB2-BD59-A6C34878D82A}">
                    <a16:rowId xmlns:a16="http://schemas.microsoft.com/office/drawing/2014/main" val="1816159184"/>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4">
                        <a:lumMod val="75000"/>
                      </a:schemeClr>
                    </a:solidFill>
                  </a:tcPr>
                </a:tc>
                <a:extLst>
                  <a:ext uri="{0D108BD9-81ED-4DB2-BD59-A6C34878D82A}">
                    <a16:rowId xmlns:a16="http://schemas.microsoft.com/office/drawing/2014/main" val="2548049697"/>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4">
                        <a:lumMod val="50000"/>
                      </a:schemeClr>
                    </a:solidFill>
                  </a:tcPr>
                </a:tc>
                <a:extLst>
                  <a:ext uri="{0D108BD9-81ED-4DB2-BD59-A6C34878D82A}">
                    <a16:rowId xmlns:a16="http://schemas.microsoft.com/office/drawing/2014/main" val="2092130242"/>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4">
                        <a:lumMod val="50000"/>
                      </a:schemeClr>
                    </a:solidFill>
                  </a:tcPr>
                </a:tc>
                <a:extLst>
                  <a:ext uri="{0D108BD9-81ED-4DB2-BD59-A6C34878D82A}">
                    <a16:rowId xmlns:a16="http://schemas.microsoft.com/office/drawing/2014/main" val="941433545"/>
                  </a:ext>
                </a:extLst>
              </a:tr>
            </a:tbl>
          </a:graphicData>
        </a:graphic>
      </p:graphicFrame>
      <p:graphicFrame>
        <p:nvGraphicFramePr>
          <p:cNvPr id="20" name="Table 10">
            <a:extLst>
              <a:ext uri="{FF2B5EF4-FFF2-40B4-BE49-F238E27FC236}">
                <a16:creationId xmlns:a16="http://schemas.microsoft.com/office/drawing/2014/main" id="{53A2B0DB-E017-A059-78A8-FDD6D1B59B7C}"/>
              </a:ext>
            </a:extLst>
          </p:cNvPr>
          <p:cNvGraphicFramePr>
            <a:graphicFrameLocks noGrp="1"/>
          </p:cNvGraphicFramePr>
          <p:nvPr/>
        </p:nvGraphicFramePr>
        <p:xfrm>
          <a:off x="4825327" y="4470407"/>
          <a:ext cx="2709637" cy="2275840"/>
        </p:xfrm>
        <a:graphic>
          <a:graphicData uri="http://schemas.openxmlformats.org/drawingml/2006/table">
            <a:tbl>
              <a:tblPr firstRow="1" bandRow="1">
                <a:tableStyleId>{5940675A-B579-460E-94D1-54222C63F5DA}</a:tableStyleId>
              </a:tblPr>
              <a:tblGrid>
                <a:gridCol w="387091">
                  <a:extLst>
                    <a:ext uri="{9D8B030D-6E8A-4147-A177-3AD203B41FA5}">
                      <a16:colId xmlns:a16="http://schemas.microsoft.com/office/drawing/2014/main" val="2575886958"/>
                    </a:ext>
                  </a:extLst>
                </a:gridCol>
                <a:gridCol w="387091">
                  <a:extLst>
                    <a:ext uri="{9D8B030D-6E8A-4147-A177-3AD203B41FA5}">
                      <a16:colId xmlns:a16="http://schemas.microsoft.com/office/drawing/2014/main" val="472600953"/>
                    </a:ext>
                  </a:extLst>
                </a:gridCol>
                <a:gridCol w="387091">
                  <a:extLst>
                    <a:ext uri="{9D8B030D-6E8A-4147-A177-3AD203B41FA5}">
                      <a16:colId xmlns:a16="http://schemas.microsoft.com/office/drawing/2014/main" val="504791355"/>
                    </a:ext>
                  </a:extLst>
                </a:gridCol>
                <a:gridCol w="387091">
                  <a:extLst>
                    <a:ext uri="{9D8B030D-6E8A-4147-A177-3AD203B41FA5}">
                      <a16:colId xmlns:a16="http://schemas.microsoft.com/office/drawing/2014/main" val="4120101287"/>
                    </a:ext>
                  </a:extLst>
                </a:gridCol>
                <a:gridCol w="387091">
                  <a:extLst>
                    <a:ext uri="{9D8B030D-6E8A-4147-A177-3AD203B41FA5}">
                      <a16:colId xmlns:a16="http://schemas.microsoft.com/office/drawing/2014/main" val="3923670087"/>
                    </a:ext>
                  </a:extLst>
                </a:gridCol>
                <a:gridCol w="387091">
                  <a:extLst>
                    <a:ext uri="{9D8B030D-6E8A-4147-A177-3AD203B41FA5}">
                      <a16:colId xmlns:a16="http://schemas.microsoft.com/office/drawing/2014/main" val="4185425004"/>
                    </a:ext>
                  </a:extLst>
                </a:gridCol>
                <a:gridCol w="387091">
                  <a:extLst>
                    <a:ext uri="{9D8B030D-6E8A-4147-A177-3AD203B41FA5}">
                      <a16:colId xmlns:a16="http://schemas.microsoft.com/office/drawing/2014/main" val="3699512078"/>
                    </a:ext>
                  </a:extLst>
                </a:gridCol>
              </a:tblGrid>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20000"/>
                        <a:lumOff val="8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20000"/>
                        <a:lumOff val="8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20000"/>
                        <a:lumOff val="8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20000"/>
                        <a:lumOff val="8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extLst>
                  <a:ext uri="{0D108BD9-81ED-4DB2-BD59-A6C34878D82A}">
                    <a16:rowId xmlns:a16="http://schemas.microsoft.com/office/drawing/2014/main" val="2817984418"/>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extLst>
                  <a:ext uri="{0D108BD9-81ED-4DB2-BD59-A6C34878D82A}">
                    <a16:rowId xmlns:a16="http://schemas.microsoft.com/office/drawing/2014/main" val="3413940553"/>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extLst>
                  <a:ext uri="{0D108BD9-81ED-4DB2-BD59-A6C34878D82A}">
                    <a16:rowId xmlns:a16="http://schemas.microsoft.com/office/drawing/2014/main" val="3742056622"/>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extLst>
                  <a:ext uri="{0D108BD9-81ED-4DB2-BD59-A6C34878D82A}">
                    <a16:rowId xmlns:a16="http://schemas.microsoft.com/office/drawing/2014/main" val="1816159184"/>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extLst>
                  <a:ext uri="{0D108BD9-81ED-4DB2-BD59-A6C34878D82A}">
                    <a16:rowId xmlns:a16="http://schemas.microsoft.com/office/drawing/2014/main" val="2548049697"/>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extLst>
                  <a:ext uri="{0D108BD9-81ED-4DB2-BD59-A6C34878D82A}">
                    <a16:rowId xmlns:a16="http://schemas.microsoft.com/office/drawing/2014/main" val="2092130242"/>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60000"/>
                        <a:lumOff val="4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2">
                        <a:lumMod val="50000"/>
                      </a:schemeClr>
                    </a:solidFill>
                  </a:tcPr>
                </a:tc>
                <a:extLst>
                  <a:ext uri="{0D108BD9-81ED-4DB2-BD59-A6C34878D82A}">
                    <a16:rowId xmlns:a16="http://schemas.microsoft.com/office/drawing/2014/main" val="941433545"/>
                  </a:ext>
                </a:extLst>
              </a:tr>
            </a:tbl>
          </a:graphicData>
        </a:graphic>
      </p:graphicFrame>
      <p:sp>
        <p:nvSpPr>
          <p:cNvPr id="21" name="TextBox 20">
            <a:extLst>
              <a:ext uri="{FF2B5EF4-FFF2-40B4-BE49-F238E27FC236}">
                <a16:creationId xmlns:a16="http://schemas.microsoft.com/office/drawing/2014/main" id="{897A1D30-9DE3-EE8D-B28F-5DDCACCE73E2}"/>
              </a:ext>
            </a:extLst>
          </p:cNvPr>
          <p:cNvSpPr txBox="1"/>
          <p:nvPr/>
        </p:nvSpPr>
        <p:spPr>
          <a:xfrm>
            <a:off x="2300029" y="5170482"/>
            <a:ext cx="2141933" cy="1077411"/>
          </a:xfrm>
          <a:prstGeom prst="rect">
            <a:avLst/>
          </a:prstGeom>
          <a:noFill/>
        </p:spPr>
        <p:txBody>
          <a:bodyPr wrap="none" rtlCol="0">
            <a:spAutoFit/>
          </a:bodyPr>
          <a:lstStyle/>
          <a:p>
            <a:pPr defTabSz="1219170">
              <a:buClr>
                <a:srgbClr val="000000"/>
              </a:buClr>
              <a:defRPr/>
            </a:pPr>
            <a:r>
              <a:rPr lang="en-US" sz="1867" kern="0" dirty="0">
                <a:solidFill>
                  <a:srgbClr val="DC1879"/>
                </a:solidFill>
                <a:latin typeface="Century Gothic" panose="020B0502020202020204" pitchFamily="34" charset="0"/>
                <a:cs typeface="Arial"/>
                <a:sym typeface="Arial"/>
              </a:rPr>
              <a:t>along </a:t>
            </a:r>
          </a:p>
          <a:p>
            <a:pPr defTabSz="1219170">
              <a:buClr>
                <a:srgbClr val="000000"/>
              </a:buClr>
              <a:defRPr/>
            </a:pPr>
            <a:r>
              <a:rPr lang="en-US" sz="1867" kern="0" dirty="0">
                <a:solidFill>
                  <a:srgbClr val="DC1879"/>
                </a:solidFill>
                <a:latin typeface="Century Gothic" panose="020B0502020202020204" pitchFamily="34" charset="0"/>
                <a:cs typeface="Arial"/>
                <a:sym typeface="Arial"/>
              </a:rPr>
              <a:t>social &amp; political </a:t>
            </a:r>
          </a:p>
          <a:p>
            <a:pPr defTabSz="1219170">
              <a:buClr>
                <a:srgbClr val="000000"/>
              </a:buClr>
              <a:defRPr/>
            </a:pPr>
            <a:r>
              <a:rPr lang="en-US" sz="2667" kern="0" dirty="0">
                <a:solidFill>
                  <a:srgbClr val="DC1879"/>
                </a:solidFill>
                <a:latin typeface="Century Gothic" panose="020B0502020202020204" pitchFamily="34" charset="0"/>
                <a:cs typeface="Arial"/>
                <a:sym typeface="Arial"/>
              </a:rPr>
              <a:t>dimensions</a:t>
            </a:r>
          </a:p>
        </p:txBody>
      </p:sp>
      <p:graphicFrame>
        <p:nvGraphicFramePr>
          <p:cNvPr id="3" name="Table 2">
            <a:extLst>
              <a:ext uri="{FF2B5EF4-FFF2-40B4-BE49-F238E27FC236}">
                <a16:creationId xmlns:a16="http://schemas.microsoft.com/office/drawing/2014/main" id="{6FD70EE6-8AB0-5727-75F8-BD1EE0E8066B}"/>
              </a:ext>
            </a:extLst>
          </p:cNvPr>
          <p:cNvGraphicFramePr>
            <a:graphicFrameLocks noGrp="1"/>
          </p:cNvGraphicFramePr>
          <p:nvPr/>
        </p:nvGraphicFramePr>
        <p:xfrm>
          <a:off x="9145908" y="770261"/>
          <a:ext cx="2563827" cy="2275840"/>
        </p:xfrm>
        <a:graphic>
          <a:graphicData uri="http://schemas.openxmlformats.org/drawingml/2006/table">
            <a:tbl>
              <a:tblPr firstRow="1" bandRow="1">
                <a:tableStyleId>{5940675A-B579-460E-94D1-54222C63F5DA}</a:tableStyleId>
              </a:tblPr>
              <a:tblGrid>
                <a:gridCol w="366261">
                  <a:extLst>
                    <a:ext uri="{9D8B030D-6E8A-4147-A177-3AD203B41FA5}">
                      <a16:colId xmlns:a16="http://schemas.microsoft.com/office/drawing/2014/main" val="2575886958"/>
                    </a:ext>
                  </a:extLst>
                </a:gridCol>
                <a:gridCol w="366261">
                  <a:extLst>
                    <a:ext uri="{9D8B030D-6E8A-4147-A177-3AD203B41FA5}">
                      <a16:colId xmlns:a16="http://schemas.microsoft.com/office/drawing/2014/main" val="472600953"/>
                    </a:ext>
                  </a:extLst>
                </a:gridCol>
                <a:gridCol w="366261">
                  <a:extLst>
                    <a:ext uri="{9D8B030D-6E8A-4147-A177-3AD203B41FA5}">
                      <a16:colId xmlns:a16="http://schemas.microsoft.com/office/drawing/2014/main" val="504791355"/>
                    </a:ext>
                  </a:extLst>
                </a:gridCol>
                <a:gridCol w="366261">
                  <a:extLst>
                    <a:ext uri="{9D8B030D-6E8A-4147-A177-3AD203B41FA5}">
                      <a16:colId xmlns:a16="http://schemas.microsoft.com/office/drawing/2014/main" val="4120101287"/>
                    </a:ext>
                  </a:extLst>
                </a:gridCol>
                <a:gridCol w="366261">
                  <a:extLst>
                    <a:ext uri="{9D8B030D-6E8A-4147-A177-3AD203B41FA5}">
                      <a16:colId xmlns:a16="http://schemas.microsoft.com/office/drawing/2014/main" val="3923670087"/>
                    </a:ext>
                  </a:extLst>
                </a:gridCol>
                <a:gridCol w="366261">
                  <a:extLst>
                    <a:ext uri="{9D8B030D-6E8A-4147-A177-3AD203B41FA5}">
                      <a16:colId xmlns:a16="http://schemas.microsoft.com/office/drawing/2014/main" val="4185425004"/>
                    </a:ext>
                  </a:extLst>
                </a:gridCol>
                <a:gridCol w="366261">
                  <a:extLst>
                    <a:ext uri="{9D8B030D-6E8A-4147-A177-3AD203B41FA5}">
                      <a16:colId xmlns:a16="http://schemas.microsoft.com/office/drawing/2014/main" val="3699512078"/>
                    </a:ext>
                  </a:extLst>
                </a:gridCol>
              </a:tblGrid>
              <a:tr h="325120">
                <a:tc>
                  <a:txBody>
                    <a:bodyPr/>
                    <a:lstStyle/>
                    <a:p>
                      <a:endParaRPr lang="en-US" sz="1300" b="0" i="0" dirty="0">
                        <a:latin typeface="Century Gothic" panose="020B0502020202020204" pitchFamily="34" charset="0"/>
                      </a:endParaRPr>
                    </a:p>
                  </a:txBody>
                  <a:tcPr marL="121920" marR="121920" marT="60960" marB="60960">
                    <a:solidFill>
                      <a:schemeClr val="accent6">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6">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extLst>
                  <a:ext uri="{0D108BD9-81ED-4DB2-BD59-A6C34878D82A}">
                    <a16:rowId xmlns:a16="http://schemas.microsoft.com/office/drawing/2014/main" val="2817984418"/>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extLst>
                  <a:ext uri="{0D108BD9-81ED-4DB2-BD59-A6C34878D82A}">
                    <a16:rowId xmlns:a16="http://schemas.microsoft.com/office/drawing/2014/main" val="3413940553"/>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extLst>
                  <a:ext uri="{0D108BD9-81ED-4DB2-BD59-A6C34878D82A}">
                    <a16:rowId xmlns:a16="http://schemas.microsoft.com/office/drawing/2014/main" val="3742056622"/>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extLst>
                  <a:ext uri="{0D108BD9-81ED-4DB2-BD59-A6C34878D82A}">
                    <a16:rowId xmlns:a16="http://schemas.microsoft.com/office/drawing/2014/main" val="1816159184"/>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accent6">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6">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6">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extLst>
                  <a:ext uri="{0D108BD9-81ED-4DB2-BD59-A6C34878D82A}">
                    <a16:rowId xmlns:a16="http://schemas.microsoft.com/office/drawing/2014/main" val="2548049697"/>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accent6">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6">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6">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6">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extLst>
                  <a:ext uri="{0D108BD9-81ED-4DB2-BD59-A6C34878D82A}">
                    <a16:rowId xmlns:a16="http://schemas.microsoft.com/office/drawing/2014/main" val="2092130242"/>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accent6">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6">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6">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6">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extLst>
                  <a:ext uri="{0D108BD9-81ED-4DB2-BD59-A6C34878D82A}">
                    <a16:rowId xmlns:a16="http://schemas.microsoft.com/office/drawing/2014/main" val="941433545"/>
                  </a:ext>
                </a:extLst>
              </a:tr>
            </a:tbl>
          </a:graphicData>
        </a:graphic>
      </p:graphicFrame>
      <p:graphicFrame>
        <p:nvGraphicFramePr>
          <p:cNvPr id="4" name="Table 10">
            <a:extLst>
              <a:ext uri="{FF2B5EF4-FFF2-40B4-BE49-F238E27FC236}">
                <a16:creationId xmlns:a16="http://schemas.microsoft.com/office/drawing/2014/main" id="{6E52B05A-4068-F90C-D5FB-C0556AB75148}"/>
              </a:ext>
            </a:extLst>
          </p:cNvPr>
          <p:cNvGraphicFramePr>
            <a:graphicFrameLocks noGrp="1"/>
          </p:cNvGraphicFramePr>
          <p:nvPr/>
        </p:nvGraphicFramePr>
        <p:xfrm>
          <a:off x="9145908" y="4002637"/>
          <a:ext cx="2563827" cy="2275840"/>
        </p:xfrm>
        <a:graphic>
          <a:graphicData uri="http://schemas.openxmlformats.org/drawingml/2006/table">
            <a:tbl>
              <a:tblPr firstRow="1" bandRow="1">
                <a:tableStyleId>{5940675A-B579-460E-94D1-54222C63F5DA}</a:tableStyleId>
              </a:tblPr>
              <a:tblGrid>
                <a:gridCol w="366261">
                  <a:extLst>
                    <a:ext uri="{9D8B030D-6E8A-4147-A177-3AD203B41FA5}">
                      <a16:colId xmlns:a16="http://schemas.microsoft.com/office/drawing/2014/main" val="2575886958"/>
                    </a:ext>
                  </a:extLst>
                </a:gridCol>
                <a:gridCol w="366261">
                  <a:extLst>
                    <a:ext uri="{9D8B030D-6E8A-4147-A177-3AD203B41FA5}">
                      <a16:colId xmlns:a16="http://schemas.microsoft.com/office/drawing/2014/main" val="472600953"/>
                    </a:ext>
                  </a:extLst>
                </a:gridCol>
                <a:gridCol w="366261">
                  <a:extLst>
                    <a:ext uri="{9D8B030D-6E8A-4147-A177-3AD203B41FA5}">
                      <a16:colId xmlns:a16="http://schemas.microsoft.com/office/drawing/2014/main" val="504791355"/>
                    </a:ext>
                  </a:extLst>
                </a:gridCol>
                <a:gridCol w="366261">
                  <a:extLst>
                    <a:ext uri="{9D8B030D-6E8A-4147-A177-3AD203B41FA5}">
                      <a16:colId xmlns:a16="http://schemas.microsoft.com/office/drawing/2014/main" val="4120101287"/>
                    </a:ext>
                  </a:extLst>
                </a:gridCol>
                <a:gridCol w="366261">
                  <a:extLst>
                    <a:ext uri="{9D8B030D-6E8A-4147-A177-3AD203B41FA5}">
                      <a16:colId xmlns:a16="http://schemas.microsoft.com/office/drawing/2014/main" val="3923670087"/>
                    </a:ext>
                  </a:extLst>
                </a:gridCol>
                <a:gridCol w="366261">
                  <a:extLst>
                    <a:ext uri="{9D8B030D-6E8A-4147-A177-3AD203B41FA5}">
                      <a16:colId xmlns:a16="http://schemas.microsoft.com/office/drawing/2014/main" val="4185425004"/>
                    </a:ext>
                  </a:extLst>
                </a:gridCol>
                <a:gridCol w="366261">
                  <a:extLst>
                    <a:ext uri="{9D8B030D-6E8A-4147-A177-3AD203B41FA5}">
                      <a16:colId xmlns:a16="http://schemas.microsoft.com/office/drawing/2014/main" val="3699512078"/>
                    </a:ext>
                  </a:extLst>
                </a:gridCol>
              </a:tblGrid>
              <a:tr h="325120">
                <a:tc>
                  <a:txBody>
                    <a:bodyPr/>
                    <a:lstStyle/>
                    <a:p>
                      <a:endParaRPr lang="en-US" sz="1300" b="0" i="0" dirty="0">
                        <a:latin typeface="Century Gothic" panose="020B0502020202020204" pitchFamily="34" charset="0"/>
                      </a:endParaRPr>
                    </a:p>
                  </a:txBody>
                  <a:tcPr marL="121920" marR="121920" marT="60960" marB="60960">
                    <a:solidFill>
                      <a:schemeClr val="accent6">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6">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extLst>
                  <a:ext uri="{0D108BD9-81ED-4DB2-BD59-A6C34878D82A}">
                    <a16:rowId xmlns:a16="http://schemas.microsoft.com/office/drawing/2014/main" val="2817984418"/>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extLst>
                  <a:ext uri="{0D108BD9-81ED-4DB2-BD59-A6C34878D82A}">
                    <a16:rowId xmlns:a16="http://schemas.microsoft.com/office/drawing/2014/main" val="3413940553"/>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accent6">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6">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6">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6">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extLst>
                  <a:ext uri="{0D108BD9-81ED-4DB2-BD59-A6C34878D82A}">
                    <a16:rowId xmlns:a16="http://schemas.microsoft.com/office/drawing/2014/main" val="3742056622"/>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accent6">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6">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6">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6">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extLst>
                  <a:ext uri="{0D108BD9-81ED-4DB2-BD59-A6C34878D82A}">
                    <a16:rowId xmlns:a16="http://schemas.microsoft.com/office/drawing/2014/main" val="1816159184"/>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extLst>
                  <a:ext uri="{0D108BD9-81ED-4DB2-BD59-A6C34878D82A}">
                    <a16:rowId xmlns:a16="http://schemas.microsoft.com/office/drawing/2014/main" val="2548049697"/>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extLst>
                  <a:ext uri="{0D108BD9-81ED-4DB2-BD59-A6C34878D82A}">
                    <a16:rowId xmlns:a16="http://schemas.microsoft.com/office/drawing/2014/main" val="2092130242"/>
                  </a:ext>
                </a:extLst>
              </a:tr>
              <a:tr h="325120">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tc>
                  <a:txBody>
                    <a:bodyPr/>
                    <a:lstStyle/>
                    <a:p>
                      <a:endParaRPr lang="en-US" sz="1300" b="0" i="0" dirty="0">
                        <a:latin typeface="Century Gothic" panose="020B0502020202020204" pitchFamily="34" charset="0"/>
                      </a:endParaRPr>
                    </a:p>
                  </a:txBody>
                  <a:tcPr marL="121920" marR="121920" marT="60960" marB="60960">
                    <a:solidFill>
                      <a:schemeClr val="accent6">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6">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6">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accent6">
                        <a:lumMod val="75000"/>
                      </a:schemeClr>
                    </a:solidFill>
                  </a:tcPr>
                </a:tc>
                <a:tc>
                  <a:txBody>
                    <a:bodyPr/>
                    <a:lstStyle/>
                    <a:p>
                      <a:endParaRPr lang="en-US" sz="1300" b="0" i="0" dirty="0">
                        <a:latin typeface="Century Gothic" panose="020B0502020202020204" pitchFamily="34" charset="0"/>
                      </a:endParaRPr>
                    </a:p>
                  </a:txBody>
                  <a:tcPr marL="121920" marR="121920" marT="60960" marB="60960">
                    <a:solidFill>
                      <a:schemeClr val="bg1"/>
                    </a:solidFill>
                  </a:tcPr>
                </a:tc>
                <a:extLst>
                  <a:ext uri="{0D108BD9-81ED-4DB2-BD59-A6C34878D82A}">
                    <a16:rowId xmlns:a16="http://schemas.microsoft.com/office/drawing/2014/main" val="941433545"/>
                  </a:ext>
                </a:extLst>
              </a:tr>
            </a:tbl>
          </a:graphicData>
        </a:graphic>
      </p:graphicFrame>
      <p:sp>
        <p:nvSpPr>
          <p:cNvPr id="8" name="Rectangle 7">
            <a:extLst>
              <a:ext uri="{FF2B5EF4-FFF2-40B4-BE49-F238E27FC236}">
                <a16:creationId xmlns:a16="http://schemas.microsoft.com/office/drawing/2014/main" id="{5D4C4C67-766C-9BEC-64EE-11391A6E76D1}"/>
              </a:ext>
            </a:extLst>
          </p:cNvPr>
          <p:cNvSpPr/>
          <p:nvPr/>
        </p:nvSpPr>
        <p:spPr>
          <a:xfrm>
            <a:off x="9147061" y="741456"/>
            <a:ext cx="2563828" cy="1308144"/>
          </a:xfrm>
          <a:prstGeom prst="rect">
            <a:avLst/>
          </a:prstGeom>
          <a:noFill/>
          <a:ln w="571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endParaRPr lang="en-US" sz="1867" kern="0" dirty="0">
              <a:solidFill>
                <a:prstClr val="black"/>
              </a:solidFill>
              <a:latin typeface="Century Gothic" panose="020B0502020202020204" pitchFamily="34" charset="0"/>
              <a:sym typeface="Arial"/>
            </a:endParaRPr>
          </a:p>
        </p:txBody>
      </p:sp>
      <p:sp>
        <p:nvSpPr>
          <p:cNvPr id="9" name="Rectangle 8">
            <a:extLst>
              <a:ext uri="{FF2B5EF4-FFF2-40B4-BE49-F238E27FC236}">
                <a16:creationId xmlns:a16="http://schemas.microsoft.com/office/drawing/2014/main" id="{5AFF1ED4-5CC6-4459-D5F2-06D1C6A0D6B1}"/>
              </a:ext>
            </a:extLst>
          </p:cNvPr>
          <p:cNvSpPr/>
          <p:nvPr/>
        </p:nvSpPr>
        <p:spPr>
          <a:xfrm>
            <a:off x="9137742" y="2049600"/>
            <a:ext cx="2563828" cy="967696"/>
          </a:xfrm>
          <a:prstGeom prst="rect">
            <a:avLst/>
          </a:prstGeom>
          <a:noFill/>
          <a:ln w="571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endParaRPr lang="en-US" sz="1867" kern="0" dirty="0">
              <a:solidFill>
                <a:prstClr val="black"/>
              </a:solidFill>
              <a:latin typeface="Century Gothic" panose="020B0502020202020204" pitchFamily="34" charset="0"/>
              <a:sym typeface="Arial"/>
            </a:endParaRPr>
          </a:p>
        </p:txBody>
      </p:sp>
      <p:sp>
        <p:nvSpPr>
          <p:cNvPr id="11" name="Rectangle 10">
            <a:extLst>
              <a:ext uri="{FF2B5EF4-FFF2-40B4-BE49-F238E27FC236}">
                <a16:creationId xmlns:a16="http://schemas.microsoft.com/office/drawing/2014/main" id="{04DCE2A9-B596-625D-EF76-DAD8DCB06071}"/>
              </a:ext>
            </a:extLst>
          </p:cNvPr>
          <p:cNvSpPr/>
          <p:nvPr/>
        </p:nvSpPr>
        <p:spPr>
          <a:xfrm>
            <a:off x="9147061" y="4002637"/>
            <a:ext cx="2563828" cy="1308144"/>
          </a:xfrm>
          <a:prstGeom prst="rect">
            <a:avLst/>
          </a:prstGeom>
          <a:noFill/>
          <a:ln w="571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endParaRPr lang="en-US" sz="1867" kern="0" dirty="0">
              <a:solidFill>
                <a:prstClr val="black"/>
              </a:solidFill>
              <a:latin typeface="Century Gothic" panose="020B0502020202020204" pitchFamily="34" charset="0"/>
              <a:sym typeface="Arial"/>
            </a:endParaRPr>
          </a:p>
        </p:txBody>
      </p:sp>
      <p:sp>
        <p:nvSpPr>
          <p:cNvPr id="12" name="Rectangle 11">
            <a:extLst>
              <a:ext uri="{FF2B5EF4-FFF2-40B4-BE49-F238E27FC236}">
                <a16:creationId xmlns:a16="http://schemas.microsoft.com/office/drawing/2014/main" id="{BE187C66-AB61-3816-B5A6-E331DDD4E796}"/>
              </a:ext>
            </a:extLst>
          </p:cNvPr>
          <p:cNvSpPr/>
          <p:nvPr/>
        </p:nvSpPr>
        <p:spPr>
          <a:xfrm>
            <a:off x="9137742" y="5310781"/>
            <a:ext cx="2563828" cy="967696"/>
          </a:xfrm>
          <a:prstGeom prst="rect">
            <a:avLst/>
          </a:prstGeom>
          <a:noFill/>
          <a:ln w="571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endParaRPr lang="en-US" sz="1867" kern="0" dirty="0">
              <a:solidFill>
                <a:prstClr val="black"/>
              </a:solidFill>
              <a:latin typeface="Century Gothic" panose="020B0502020202020204" pitchFamily="34" charset="0"/>
              <a:sym typeface="Arial"/>
            </a:endParaRPr>
          </a:p>
        </p:txBody>
      </p:sp>
      <p:cxnSp>
        <p:nvCxnSpPr>
          <p:cNvPr id="14" name="Straight Arrow Connector 13">
            <a:extLst>
              <a:ext uri="{FF2B5EF4-FFF2-40B4-BE49-F238E27FC236}">
                <a16:creationId xmlns:a16="http://schemas.microsoft.com/office/drawing/2014/main" id="{06074C7E-4D3A-B9A1-055B-C8E22ABD8C83}"/>
              </a:ext>
            </a:extLst>
          </p:cNvPr>
          <p:cNvCxnSpPr/>
          <p:nvPr/>
        </p:nvCxnSpPr>
        <p:spPr>
          <a:xfrm>
            <a:off x="7894935" y="1719856"/>
            <a:ext cx="1252125" cy="0"/>
          </a:xfrm>
          <a:prstGeom prst="straightConnector1">
            <a:avLst/>
          </a:prstGeom>
          <a:ln w="7620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51EF156-D26F-5DB2-B70E-D48A6E4D3B1E}"/>
              </a:ext>
            </a:extLst>
          </p:cNvPr>
          <p:cNvCxnSpPr/>
          <p:nvPr/>
        </p:nvCxnSpPr>
        <p:spPr>
          <a:xfrm>
            <a:off x="7885616" y="5310781"/>
            <a:ext cx="1252125" cy="0"/>
          </a:xfrm>
          <a:prstGeom prst="straightConnector1">
            <a:avLst/>
          </a:prstGeom>
          <a:ln w="76200">
            <a:solidFill>
              <a:srgbClr val="DC1879"/>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27097A2-D249-E1D2-62CC-83C2C34472CC}"/>
              </a:ext>
            </a:extLst>
          </p:cNvPr>
          <p:cNvSpPr txBox="1"/>
          <p:nvPr/>
        </p:nvSpPr>
        <p:spPr>
          <a:xfrm>
            <a:off x="5108656" y="56335"/>
            <a:ext cx="2616422" cy="420564"/>
          </a:xfrm>
          <a:prstGeom prst="rect">
            <a:avLst/>
          </a:prstGeom>
          <a:noFill/>
        </p:spPr>
        <p:txBody>
          <a:bodyPr wrap="none" rtlCol="0">
            <a:spAutoFit/>
          </a:bodyPr>
          <a:lstStyle/>
          <a:p>
            <a:pPr defTabSz="1219170">
              <a:buClr>
                <a:srgbClr val="000000"/>
              </a:buClr>
              <a:defRPr/>
            </a:pPr>
            <a:r>
              <a:rPr lang="en-US" sz="2133" kern="0" dirty="0">
                <a:solidFill>
                  <a:prstClr val="white"/>
                </a:solidFill>
                <a:latin typeface="Century Gothic" panose="020B0502020202020204" pitchFamily="34" charset="0"/>
                <a:cs typeface="Arial"/>
                <a:sym typeface="Arial"/>
              </a:rPr>
              <a:t>ecological insights</a:t>
            </a:r>
          </a:p>
        </p:txBody>
      </p:sp>
      <p:sp>
        <p:nvSpPr>
          <p:cNvPr id="22" name="TextBox 21">
            <a:extLst>
              <a:ext uri="{FF2B5EF4-FFF2-40B4-BE49-F238E27FC236}">
                <a16:creationId xmlns:a16="http://schemas.microsoft.com/office/drawing/2014/main" id="{95A5AA31-80D8-7537-CEA0-9A96DCB4593A}"/>
              </a:ext>
            </a:extLst>
          </p:cNvPr>
          <p:cNvSpPr txBox="1"/>
          <p:nvPr/>
        </p:nvSpPr>
        <p:spPr>
          <a:xfrm>
            <a:off x="9137741" y="56335"/>
            <a:ext cx="2624436" cy="420564"/>
          </a:xfrm>
          <a:prstGeom prst="rect">
            <a:avLst/>
          </a:prstGeom>
          <a:noFill/>
        </p:spPr>
        <p:txBody>
          <a:bodyPr wrap="none" rtlCol="0">
            <a:spAutoFit/>
          </a:bodyPr>
          <a:lstStyle/>
          <a:p>
            <a:pPr defTabSz="1219170">
              <a:buClr>
                <a:srgbClr val="000000"/>
              </a:buClr>
              <a:defRPr/>
            </a:pPr>
            <a:r>
              <a:rPr lang="en-US" sz="2133" kern="0" dirty="0">
                <a:solidFill>
                  <a:prstClr val="white"/>
                </a:solidFill>
                <a:latin typeface="Century Gothic" panose="020B0502020202020204" pitchFamily="34" charset="0"/>
                <a:cs typeface="Arial"/>
                <a:sym typeface="Arial"/>
              </a:rPr>
              <a:t>decision strategies</a:t>
            </a:r>
          </a:p>
        </p:txBody>
      </p:sp>
    </p:spTree>
    <p:extLst>
      <p:ext uri="{BB962C8B-B14F-4D97-AF65-F5344CB8AC3E}">
        <p14:creationId xmlns:p14="http://schemas.microsoft.com/office/powerpoint/2010/main" val="1322405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1" grpId="0"/>
      <p:bldP spid="8" grpId="0" animBg="1"/>
      <p:bldP spid="9" grpId="0" animBg="1"/>
      <p:bldP spid="11" grpId="0" animBg="1"/>
      <p:bldP spid="12" grpId="0" animBg="1"/>
      <p:bldP spid="13" grpId="0"/>
      <p:bldP spid="2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22A6F0-C5E7-EA04-2B70-65D3D2A1B51C}"/>
              </a:ext>
            </a:extLst>
          </p:cNvPr>
          <p:cNvSpPr txBox="1"/>
          <p:nvPr/>
        </p:nvSpPr>
        <p:spPr>
          <a:xfrm>
            <a:off x="2820087" y="2218412"/>
            <a:ext cx="6145427" cy="2390334"/>
          </a:xfrm>
          <a:prstGeom prst="rect">
            <a:avLst/>
          </a:prstGeom>
          <a:noFill/>
        </p:spPr>
        <p:txBody>
          <a:bodyPr wrap="square">
            <a:spAutoFit/>
          </a:bodyPr>
          <a:lstStyle/>
          <a:p>
            <a:pPr algn="ctr" defTabSz="1219170">
              <a:buClr>
                <a:srgbClr val="000000"/>
              </a:buClr>
              <a:defRPr/>
            </a:pPr>
            <a:r>
              <a:rPr lang="en-US" sz="9333" kern="0" dirty="0">
                <a:solidFill>
                  <a:srgbClr val="FFCC00"/>
                </a:solidFill>
                <a:latin typeface="Century Gothic" panose="020B0502020202020204" pitchFamily="34" charset="0"/>
                <a:cs typeface="Arial"/>
                <a:sym typeface="Arial"/>
              </a:rPr>
              <a:t>bias of </a:t>
            </a:r>
          </a:p>
          <a:p>
            <a:pPr algn="ctr" defTabSz="1219170">
              <a:buClr>
                <a:srgbClr val="000000"/>
              </a:buClr>
              <a:defRPr/>
            </a:pPr>
            <a:r>
              <a:rPr lang="en-US" sz="5600" kern="0" dirty="0">
                <a:solidFill>
                  <a:srgbClr val="0FA99F"/>
                </a:solidFill>
                <a:latin typeface="Century Gothic" panose="020B0502020202020204" pitchFamily="34" charset="0"/>
                <a:cs typeface="Arial"/>
                <a:sym typeface="Arial"/>
              </a:rPr>
              <a:t>datafication</a:t>
            </a:r>
          </a:p>
        </p:txBody>
      </p:sp>
      <p:sp>
        <p:nvSpPr>
          <p:cNvPr id="2" name="TextBox 1">
            <a:extLst>
              <a:ext uri="{FF2B5EF4-FFF2-40B4-BE49-F238E27FC236}">
                <a16:creationId xmlns:a16="http://schemas.microsoft.com/office/drawing/2014/main" id="{2C2AF3D4-E892-D6C9-6834-D17121816497}"/>
              </a:ext>
            </a:extLst>
          </p:cNvPr>
          <p:cNvSpPr txBox="1"/>
          <p:nvPr/>
        </p:nvSpPr>
        <p:spPr>
          <a:xfrm>
            <a:off x="-3253589" y="-216746"/>
            <a:ext cx="9430871" cy="995209"/>
          </a:xfrm>
          <a:prstGeom prst="rect">
            <a:avLst/>
          </a:prstGeom>
          <a:noFill/>
        </p:spPr>
        <p:txBody>
          <a:bodyPr wrap="square" rtlCol="0">
            <a:spAutoFit/>
          </a:bodyPr>
          <a:lstStyle/>
          <a:p>
            <a:pPr algn="ctr" defTabSz="1219170">
              <a:buClr>
                <a:srgbClr val="000000"/>
              </a:buClr>
              <a:defRPr/>
            </a:pPr>
            <a:endParaRPr lang="en-US" sz="3200" kern="0" dirty="0">
              <a:solidFill>
                <a:srgbClr val="DC1879"/>
              </a:solidFill>
              <a:latin typeface="Century Gothic" panose="020B0502020202020204" pitchFamily="34" charset="0"/>
              <a:cs typeface="Arial"/>
              <a:sym typeface="Arial"/>
            </a:endParaRPr>
          </a:p>
          <a:p>
            <a:pPr algn="ctr" defTabSz="1219170">
              <a:buClr>
                <a:srgbClr val="000000"/>
              </a:buClr>
              <a:defRPr/>
            </a:pPr>
            <a:r>
              <a:rPr lang="en-US" sz="2667" kern="0" dirty="0">
                <a:solidFill>
                  <a:srgbClr val="DC1879"/>
                </a:solidFill>
                <a:latin typeface="Century Gothic" panose="020B0502020202020204" pitchFamily="34" charset="0"/>
                <a:cs typeface="Arial"/>
                <a:sym typeface="Arial"/>
              </a:rPr>
              <a:t>problem 1:</a:t>
            </a:r>
          </a:p>
        </p:txBody>
      </p:sp>
    </p:spTree>
    <p:extLst>
      <p:ext uri="{BB962C8B-B14F-4D97-AF65-F5344CB8AC3E}">
        <p14:creationId xmlns:p14="http://schemas.microsoft.com/office/powerpoint/2010/main" val="307273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B77416-978A-848F-DB65-1AD0FD05A3B7}"/>
              </a:ext>
            </a:extLst>
          </p:cNvPr>
          <p:cNvSpPr txBox="1"/>
          <p:nvPr/>
        </p:nvSpPr>
        <p:spPr>
          <a:xfrm>
            <a:off x="-3253589" y="-216746"/>
            <a:ext cx="9430871" cy="995209"/>
          </a:xfrm>
          <a:prstGeom prst="rect">
            <a:avLst/>
          </a:prstGeom>
          <a:noFill/>
        </p:spPr>
        <p:txBody>
          <a:bodyPr wrap="square" rtlCol="0">
            <a:spAutoFit/>
          </a:bodyPr>
          <a:lstStyle/>
          <a:p>
            <a:pPr algn="ctr" defTabSz="1219170">
              <a:buClr>
                <a:srgbClr val="000000"/>
              </a:buClr>
              <a:defRPr/>
            </a:pPr>
            <a:endParaRPr lang="en-US" sz="3200" kern="0" dirty="0">
              <a:solidFill>
                <a:srgbClr val="DC1879"/>
              </a:solidFill>
              <a:latin typeface="Century Gothic" panose="020B0502020202020204" pitchFamily="34" charset="0"/>
              <a:cs typeface="Arial"/>
              <a:sym typeface="Arial"/>
            </a:endParaRPr>
          </a:p>
          <a:p>
            <a:pPr algn="ctr" defTabSz="1219170">
              <a:buClr>
                <a:srgbClr val="000000"/>
              </a:buClr>
              <a:defRPr/>
            </a:pPr>
            <a:r>
              <a:rPr lang="en-US" sz="2667" kern="0" dirty="0">
                <a:solidFill>
                  <a:srgbClr val="DC1879"/>
                </a:solidFill>
                <a:latin typeface="Century Gothic" panose="020B0502020202020204" pitchFamily="34" charset="0"/>
                <a:cs typeface="Arial"/>
                <a:sym typeface="Arial"/>
              </a:rPr>
              <a:t>problem 2:</a:t>
            </a:r>
          </a:p>
        </p:txBody>
      </p:sp>
      <p:sp>
        <p:nvSpPr>
          <p:cNvPr id="3" name="TextBox 2">
            <a:extLst>
              <a:ext uri="{FF2B5EF4-FFF2-40B4-BE49-F238E27FC236}">
                <a16:creationId xmlns:a16="http://schemas.microsoft.com/office/drawing/2014/main" id="{8633D6BD-824C-4533-C610-87634AA86118}"/>
              </a:ext>
            </a:extLst>
          </p:cNvPr>
          <p:cNvSpPr txBox="1"/>
          <p:nvPr/>
        </p:nvSpPr>
        <p:spPr>
          <a:xfrm>
            <a:off x="558581" y="1902857"/>
            <a:ext cx="11921067" cy="2492990"/>
          </a:xfrm>
          <a:prstGeom prst="rect">
            <a:avLst/>
          </a:prstGeom>
          <a:noFill/>
        </p:spPr>
        <p:txBody>
          <a:bodyPr wrap="square" rtlCol="0">
            <a:spAutoFit/>
          </a:bodyPr>
          <a:lstStyle/>
          <a:p>
            <a:pPr algn="ctr" defTabSz="1219170">
              <a:buClr>
                <a:srgbClr val="000000"/>
              </a:buClr>
              <a:defRPr/>
            </a:pPr>
            <a:r>
              <a:rPr lang="en-US" sz="6667" kern="0" dirty="0">
                <a:solidFill>
                  <a:srgbClr val="E9E9E9"/>
                </a:solidFill>
                <a:latin typeface="Century Gothic" panose="020B0502020202020204" pitchFamily="34" charset="0"/>
                <a:cs typeface="Arial"/>
                <a:sym typeface="Arial"/>
              </a:rPr>
              <a:t>people — </a:t>
            </a:r>
          </a:p>
          <a:p>
            <a:pPr defTabSz="1219170">
              <a:buClr>
                <a:srgbClr val="000000"/>
              </a:buClr>
              <a:defRPr/>
            </a:pPr>
            <a:r>
              <a:rPr lang="en-US" sz="4800" kern="0" dirty="0">
                <a:solidFill>
                  <a:srgbClr val="FFCC00"/>
                </a:solidFill>
                <a:latin typeface="Century Gothic" panose="020B0502020202020204" pitchFamily="34" charset="0"/>
                <a:cs typeface="Arial"/>
                <a:sym typeface="Arial"/>
              </a:rPr>
              <a:t>our politics, economies, and histories </a:t>
            </a:r>
          </a:p>
          <a:p>
            <a:pPr defTabSz="1219170">
              <a:buClr>
                <a:srgbClr val="000000"/>
              </a:buClr>
              <a:defRPr/>
            </a:pPr>
            <a:r>
              <a:rPr lang="en-US" sz="4133" kern="0" dirty="0">
                <a:solidFill>
                  <a:srgbClr val="E9E9E9"/>
                </a:solidFill>
                <a:latin typeface="Century Gothic" panose="020B0502020202020204" pitchFamily="34" charset="0"/>
                <a:cs typeface="Arial"/>
                <a:sym typeface="Arial"/>
              </a:rPr>
              <a:t>are major drivers of ecosystem composition</a:t>
            </a:r>
          </a:p>
        </p:txBody>
      </p:sp>
    </p:spTree>
    <p:extLst>
      <p:ext uri="{BB962C8B-B14F-4D97-AF65-F5344CB8AC3E}">
        <p14:creationId xmlns:p14="http://schemas.microsoft.com/office/powerpoint/2010/main" val="4010541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42EEE-DEE7-74C4-D154-6726DE993D6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80028DA-7526-0B2C-45D4-B5C23AE89443}"/>
              </a:ext>
            </a:extLst>
          </p:cNvPr>
          <p:cNvSpPr txBox="1"/>
          <p:nvPr/>
        </p:nvSpPr>
        <p:spPr>
          <a:xfrm>
            <a:off x="389891" y="2413338"/>
            <a:ext cx="4041093" cy="1980094"/>
          </a:xfrm>
          <a:prstGeom prst="rect">
            <a:avLst/>
          </a:prstGeom>
          <a:noFill/>
        </p:spPr>
        <p:txBody>
          <a:bodyPr wrap="square" rtlCol="0">
            <a:spAutoFit/>
          </a:bodyPr>
          <a:lstStyle/>
          <a:p>
            <a:pPr defTabSz="1219170">
              <a:buClr>
                <a:srgbClr val="000000"/>
              </a:buClr>
              <a:defRPr/>
            </a:pPr>
            <a:r>
              <a:rPr lang="en-US" sz="6667" kern="0" dirty="0">
                <a:solidFill>
                  <a:srgbClr val="FFCC00"/>
                </a:solidFill>
                <a:latin typeface="Century Gothic" panose="020B0502020202020204" pitchFamily="34" charset="0"/>
                <a:cs typeface="Arial"/>
                <a:sym typeface="Arial"/>
              </a:rPr>
              <a:t>collect</a:t>
            </a:r>
            <a:r>
              <a:rPr lang="en-US" sz="8000" kern="0" dirty="0">
                <a:solidFill>
                  <a:srgbClr val="FFCC00"/>
                </a:solidFill>
                <a:latin typeface="Century Gothic" panose="020B0502020202020204" pitchFamily="34" charset="0"/>
                <a:cs typeface="Arial"/>
                <a:sym typeface="Arial"/>
              </a:rPr>
              <a:t> </a:t>
            </a:r>
          </a:p>
          <a:p>
            <a:pPr defTabSz="1219170">
              <a:buClr>
                <a:srgbClr val="000000"/>
              </a:buClr>
              <a:defRPr/>
            </a:pPr>
            <a:r>
              <a:rPr lang="en-US" sz="4267" kern="0" dirty="0">
                <a:solidFill>
                  <a:srgbClr val="FFCC00"/>
                </a:solidFill>
                <a:latin typeface="Century Gothic" panose="020B0502020202020204" pitchFamily="34" charset="0"/>
                <a:cs typeface="Arial"/>
                <a:sym typeface="Arial"/>
              </a:rPr>
              <a:t>more data</a:t>
            </a:r>
          </a:p>
        </p:txBody>
      </p:sp>
      <p:sp>
        <p:nvSpPr>
          <p:cNvPr id="3" name="TextBox 2">
            <a:extLst>
              <a:ext uri="{FF2B5EF4-FFF2-40B4-BE49-F238E27FC236}">
                <a16:creationId xmlns:a16="http://schemas.microsoft.com/office/drawing/2014/main" id="{FB1923CC-50A6-7488-1F49-044803540438}"/>
              </a:ext>
            </a:extLst>
          </p:cNvPr>
          <p:cNvSpPr txBox="1"/>
          <p:nvPr/>
        </p:nvSpPr>
        <p:spPr>
          <a:xfrm>
            <a:off x="4129463" y="2413337"/>
            <a:ext cx="4552720" cy="2390141"/>
          </a:xfrm>
          <a:prstGeom prst="rect">
            <a:avLst/>
          </a:prstGeom>
          <a:noFill/>
        </p:spPr>
        <p:txBody>
          <a:bodyPr wrap="square" rtlCol="0">
            <a:spAutoFit/>
          </a:bodyPr>
          <a:lstStyle/>
          <a:p>
            <a:pPr defTabSz="1219170">
              <a:buClr>
                <a:srgbClr val="000000"/>
              </a:buClr>
              <a:defRPr/>
            </a:pPr>
            <a:r>
              <a:rPr lang="en-US" sz="3733" kern="0" dirty="0">
                <a:solidFill>
                  <a:prstClr val="white"/>
                </a:solidFill>
                <a:latin typeface="Century Gothic" panose="020B0502020202020204" pitchFamily="34" charset="0"/>
                <a:cs typeface="Arial"/>
                <a:sym typeface="Arial"/>
              </a:rPr>
              <a:t>c</a:t>
            </a:r>
            <a:r>
              <a:rPr lang="en-US" sz="3733" kern="0" dirty="0" err="1">
                <a:solidFill>
                  <a:prstClr val="white"/>
                </a:solidFill>
                <a:latin typeface="Century Gothic" panose="020B0502020202020204" pitchFamily="34" charset="0"/>
                <a:cs typeface="Arial"/>
                <a:sym typeface="Arial"/>
              </a:rPr>
              <a:t>ontextualizing</a:t>
            </a:r>
            <a:r>
              <a:rPr lang="en-US" sz="3733" kern="0" dirty="0">
                <a:solidFill>
                  <a:prstClr val="white"/>
                </a:solidFill>
                <a:latin typeface="Century Gothic" panose="020B0502020202020204" pitchFamily="34" charset="0"/>
                <a:cs typeface="Arial"/>
                <a:sym typeface="Arial"/>
              </a:rPr>
              <a:t> data gaps in downstream decisions</a:t>
            </a:r>
          </a:p>
        </p:txBody>
      </p:sp>
    </p:spTree>
    <p:extLst>
      <p:ext uri="{BB962C8B-B14F-4D97-AF65-F5344CB8AC3E}">
        <p14:creationId xmlns:p14="http://schemas.microsoft.com/office/powerpoint/2010/main" val="1806661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6FDD4D3-ED3C-B41D-3DD2-AEFA6BDFAA61}"/>
              </a:ext>
            </a:extLst>
          </p:cNvPr>
          <p:cNvGrpSpPr/>
          <p:nvPr/>
        </p:nvGrpSpPr>
        <p:grpSpPr>
          <a:xfrm>
            <a:off x="3575179" y="400177"/>
            <a:ext cx="5018668" cy="1858697"/>
            <a:chOff x="707175" y="2833075"/>
            <a:chExt cx="3064726" cy="1191849"/>
          </a:xfrm>
        </p:grpSpPr>
        <p:pic>
          <p:nvPicPr>
            <p:cNvPr id="13" name="Picture 2" descr="Graphical user interface, application&#10;&#10;Description automatically generated with medium confidence">
              <a:extLst>
                <a:ext uri="{FF2B5EF4-FFF2-40B4-BE49-F238E27FC236}">
                  <a16:creationId xmlns:a16="http://schemas.microsoft.com/office/drawing/2014/main" id="{FCCFEF1E-D0B5-189A-5B50-51775B8C2DC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341" t="5714" r="34226" b="76907"/>
            <a:stretch/>
          </p:blipFill>
          <p:spPr bwMode="auto">
            <a:xfrm>
              <a:off x="707175" y="2833075"/>
              <a:ext cx="3053444" cy="119184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746EF3E0-6CBF-8E57-3D92-7FCBAFAF57CB}"/>
                </a:ext>
              </a:extLst>
            </p:cNvPr>
            <p:cNvSpPr/>
            <p:nvPr/>
          </p:nvSpPr>
          <p:spPr>
            <a:xfrm>
              <a:off x="718457" y="2833075"/>
              <a:ext cx="3053444" cy="1191849"/>
            </a:xfrm>
            <a:prstGeom prst="rect">
              <a:avLst/>
            </a:prstGeom>
            <a:noFill/>
            <a:ln w="381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3200" b="1" kern="0" dirty="0">
                  <a:solidFill>
                    <a:prstClr val="black"/>
                  </a:solidFill>
                  <a:latin typeface="Century Gothic" panose="020B0502020202020204" pitchFamily="34" charset="0"/>
                  <a:cs typeface="Courier New" panose="02070309020205020404" pitchFamily="49" charset="0"/>
                  <a:sym typeface="Arial"/>
                </a:rPr>
                <a:t> Biodiversity Data</a:t>
              </a:r>
            </a:p>
          </p:txBody>
        </p:sp>
      </p:grpSp>
      <p:sp>
        <p:nvSpPr>
          <p:cNvPr id="18" name="Rectangle 17">
            <a:extLst>
              <a:ext uri="{FF2B5EF4-FFF2-40B4-BE49-F238E27FC236}">
                <a16:creationId xmlns:a16="http://schemas.microsoft.com/office/drawing/2014/main" id="{539EA399-C649-0AEB-7800-B2BE34737796}"/>
              </a:ext>
            </a:extLst>
          </p:cNvPr>
          <p:cNvSpPr/>
          <p:nvPr/>
        </p:nvSpPr>
        <p:spPr>
          <a:xfrm>
            <a:off x="1271379" y="2880786"/>
            <a:ext cx="2982685" cy="1113183"/>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2000" kern="0" dirty="0">
                <a:solidFill>
                  <a:prstClr val="black"/>
                </a:solidFill>
                <a:latin typeface="Century Gothic" panose="020B0502020202020204" pitchFamily="34" charset="0"/>
                <a:cs typeface="Courier New" panose="02070309020205020404" pitchFamily="49" charset="0"/>
                <a:sym typeface="Arial"/>
              </a:rPr>
              <a:t>I. models of species distributions</a:t>
            </a:r>
          </a:p>
        </p:txBody>
      </p:sp>
      <p:sp>
        <p:nvSpPr>
          <p:cNvPr id="19" name="Rectangle 18">
            <a:extLst>
              <a:ext uri="{FF2B5EF4-FFF2-40B4-BE49-F238E27FC236}">
                <a16:creationId xmlns:a16="http://schemas.microsoft.com/office/drawing/2014/main" id="{75216206-9BE1-E037-1160-27F6615FA205}"/>
              </a:ext>
            </a:extLst>
          </p:cNvPr>
          <p:cNvSpPr/>
          <p:nvPr/>
        </p:nvSpPr>
        <p:spPr>
          <a:xfrm>
            <a:off x="4602407" y="2880786"/>
            <a:ext cx="2982685" cy="1113183"/>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2000" kern="0" dirty="0">
                <a:solidFill>
                  <a:prstClr val="black"/>
                </a:solidFill>
                <a:latin typeface="Century Gothic" panose="020B0502020202020204" pitchFamily="34" charset="0"/>
                <a:cs typeface="Courier New" panose="02070309020205020404" pitchFamily="49" charset="0"/>
                <a:sym typeface="Arial"/>
              </a:rPr>
              <a:t>II. metrics of population and community changes</a:t>
            </a:r>
          </a:p>
        </p:txBody>
      </p:sp>
      <p:sp>
        <p:nvSpPr>
          <p:cNvPr id="21" name="Rectangle 20">
            <a:extLst>
              <a:ext uri="{FF2B5EF4-FFF2-40B4-BE49-F238E27FC236}">
                <a16:creationId xmlns:a16="http://schemas.microsoft.com/office/drawing/2014/main" id="{49A8FF10-D66C-C734-AC07-5D53E006B632}"/>
              </a:ext>
            </a:extLst>
          </p:cNvPr>
          <p:cNvSpPr/>
          <p:nvPr/>
        </p:nvSpPr>
        <p:spPr>
          <a:xfrm>
            <a:off x="7933435" y="2880785"/>
            <a:ext cx="2982685" cy="1113183"/>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2000" kern="0" dirty="0">
                <a:solidFill>
                  <a:prstClr val="black"/>
                </a:solidFill>
                <a:latin typeface="Century Gothic" panose="020B0502020202020204" pitchFamily="34" charset="0"/>
                <a:cs typeface="Courier New" panose="02070309020205020404" pitchFamily="49" charset="0"/>
                <a:sym typeface="Arial"/>
              </a:rPr>
              <a:t>III. identification of invasive species spread</a:t>
            </a:r>
          </a:p>
        </p:txBody>
      </p:sp>
      <p:cxnSp>
        <p:nvCxnSpPr>
          <p:cNvPr id="22" name="Straight Arrow Connector 21">
            <a:extLst>
              <a:ext uri="{FF2B5EF4-FFF2-40B4-BE49-F238E27FC236}">
                <a16:creationId xmlns:a16="http://schemas.microsoft.com/office/drawing/2014/main" id="{E97F9590-A0D9-471A-4F07-BD1B6CCE2B00}"/>
              </a:ext>
            </a:extLst>
          </p:cNvPr>
          <p:cNvCxnSpPr>
            <a:stCxn id="17" idx="2"/>
            <a:endCxn id="18" idx="0"/>
          </p:cNvCxnSpPr>
          <p:nvPr/>
        </p:nvCxnSpPr>
        <p:spPr>
          <a:xfrm flipH="1">
            <a:off x="2762722" y="2258873"/>
            <a:ext cx="3331029" cy="621912"/>
          </a:xfrm>
          <a:prstGeom prst="straightConnector1">
            <a:avLst/>
          </a:prstGeom>
          <a:ln w="28575">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7ECA75E2-7565-122F-58CA-3B0FBF370910}"/>
              </a:ext>
            </a:extLst>
          </p:cNvPr>
          <p:cNvCxnSpPr>
            <a:cxnSpLocks/>
            <a:stCxn id="17" idx="2"/>
            <a:endCxn id="19" idx="0"/>
          </p:cNvCxnSpPr>
          <p:nvPr/>
        </p:nvCxnSpPr>
        <p:spPr>
          <a:xfrm flipH="1">
            <a:off x="6093750" y="2258873"/>
            <a:ext cx="1" cy="621912"/>
          </a:xfrm>
          <a:prstGeom prst="straightConnector1">
            <a:avLst/>
          </a:prstGeom>
          <a:ln w="28575">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66B9626-C35D-77CF-2910-9F51FE8F1B9E}"/>
              </a:ext>
            </a:extLst>
          </p:cNvPr>
          <p:cNvCxnSpPr>
            <a:cxnSpLocks/>
            <a:stCxn id="17" idx="2"/>
            <a:endCxn id="21" idx="0"/>
          </p:cNvCxnSpPr>
          <p:nvPr/>
        </p:nvCxnSpPr>
        <p:spPr>
          <a:xfrm>
            <a:off x="6093751" y="2258874"/>
            <a:ext cx="3331027" cy="621911"/>
          </a:xfrm>
          <a:prstGeom prst="straightConnector1">
            <a:avLst/>
          </a:prstGeom>
          <a:ln w="28575">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29481889-AA22-1CE2-5F59-5884FBA1F4A6}"/>
              </a:ext>
            </a:extLst>
          </p:cNvPr>
          <p:cNvSpPr/>
          <p:nvPr/>
        </p:nvSpPr>
        <p:spPr>
          <a:xfrm>
            <a:off x="11180377" y="3429000"/>
            <a:ext cx="207264" cy="204216"/>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endParaRPr lang="en-US" sz="1867" kern="0">
              <a:solidFill>
                <a:prstClr val="white"/>
              </a:solidFill>
              <a:latin typeface="Calibri" panose="020F0502020204030204"/>
              <a:sym typeface="Arial"/>
            </a:endParaRPr>
          </a:p>
        </p:txBody>
      </p:sp>
      <p:sp>
        <p:nvSpPr>
          <p:cNvPr id="3" name="Oval 2">
            <a:extLst>
              <a:ext uri="{FF2B5EF4-FFF2-40B4-BE49-F238E27FC236}">
                <a16:creationId xmlns:a16="http://schemas.microsoft.com/office/drawing/2014/main" id="{1DFAB817-CAC0-8CEC-CCC9-4849370AD230}"/>
              </a:ext>
            </a:extLst>
          </p:cNvPr>
          <p:cNvSpPr/>
          <p:nvPr/>
        </p:nvSpPr>
        <p:spPr>
          <a:xfrm>
            <a:off x="11528720" y="3429000"/>
            <a:ext cx="207264" cy="204216"/>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endParaRPr lang="en-US" sz="1867" kern="0">
              <a:solidFill>
                <a:prstClr val="white"/>
              </a:solidFill>
              <a:latin typeface="Calibri" panose="020F0502020204030204"/>
              <a:sym typeface="Arial"/>
            </a:endParaRPr>
          </a:p>
        </p:txBody>
      </p:sp>
      <p:sp>
        <p:nvSpPr>
          <p:cNvPr id="4" name="Oval 3">
            <a:extLst>
              <a:ext uri="{FF2B5EF4-FFF2-40B4-BE49-F238E27FC236}">
                <a16:creationId xmlns:a16="http://schemas.microsoft.com/office/drawing/2014/main" id="{A39F61E3-D5C0-4A21-4E20-3A819B8B7D66}"/>
              </a:ext>
            </a:extLst>
          </p:cNvPr>
          <p:cNvSpPr/>
          <p:nvPr/>
        </p:nvSpPr>
        <p:spPr>
          <a:xfrm>
            <a:off x="11877063" y="3429000"/>
            <a:ext cx="207264" cy="204216"/>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endParaRPr lang="en-US" sz="1867" kern="0">
              <a:solidFill>
                <a:prstClr val="white"/>
              </a:solidFill>
              <a:latin typeface="Calibri" panose="020F0502020204030204"/>
              <a:sym typeface="Arial"/>
            </a:endParaRPr>
          </a:p>
        </p:txBody>
      </p:sp>
    </p:spTree>
    <p:extLst>
      <p:ext uri="{BB962C8B-B14F-4D97-AF65-F5344CB8AC3E}">
        <p14:creationId xmlns:p14="http://schemas.microsoft.com/office/powerpoint/2010/main" val="3059453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1" grpId="0" animBg="1"/>
      <p:bldP spid="2" grpId="0" animBg="1"/>
      <p:bldP spid="3" grpId="0" animBg="1"/>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6FDD4D3-ED3C-B41D-3DD2-AEFA6BDFAA61}"/>
              </a:ext>
            </a:extLst>
          </p:cNvPr>
          <p:cNvGrpSpPr/>
          <p:nvPr/>
        </p:nvGrpSpPr>
        <p:grpSpPr>
          <a:xfrm>
            <a:off x="3575179" y="400177"/>
            <a:ext cx="5018668" cy="1858697"/>
            <a:chOff x="707175" y="2833075"/>
            <a:chExt cx="3064726" cy="1191849"/>
          </a:xfrm>
        </p:grpSpPr>
        <p:pic>
          <p:nvPicPr>
            <p:cNvPr id="13" name="Picture 2" descr="Graphical user interface, application&#10;&#10;Description automatically generated with medium confidence">
              <a:extLst>
                <a:ext uri="{FF2B5EF4-FFF2-40B4-BE49-F238E27FC236}">
                  <a16:creationId xmlns:a16="http://schemas.microsoft.com/office/drawing/2014/main" id="{FCCFEF1E-D0B5-189A-5B50-51775B8C2DC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341" t="5714" r="34226" b="76907"/>
            <a:stretch/>
          </p:blipFill>
          <p:spPr bwMode="auto">
            <a:xfrm>
              <a:off x="707175" y="2833075"/>
              <a:ext cx="3053444" cy="119184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746EF3E0-6CBF-8E57-3D92-7FCBAFAF57CB}"/>
                </a:ext>
              </a:extLst>
            </p:cNvPr>
            <p:cNvSpPr/>
            <p:nvPr/>
          </p:nvSpPr>
          <p:spPr>
            <a:xfrm>
              <a:off x="718457" y="2833075"/>
              <a:ext cx="3053444" cy="1191849"/>
            </a:xfrm>
            <a:prstGeom prst="rect">
              <a:avLst/>
            </a:prstGeom>
            <a:noFill/>
            <a:ln w="381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3200" b="1" kern="0" dirty="0">
                  <a:solidFill>
                    <a:prstClr val="black"/>
                  </a:solidFill>
                  <a:latin typeface="Century Gothic" panose="020B0502020202020204" pitchFamily="34" charset="0"/>
                  <a:cs typeface="Courier New" panose="02070309020205020404" pitchFamily="49" charset="0"/>
                  <a:sym typeface="Arial"/>
                </a:rPr>
                <a:t> Biodiversity Data</a:t>
              </a:r>
            </a:p>
          </p:txBody>
        </p:sp>
      </p:grpSp>
      <p:sp>
        <p:nvSpPr>
          <p:cNvPr id="18" name="Rectangle 17">
            <a:extLst>
              <a:ext uri="{FF2B5EF4-FFF2-40B4-BE49-F238E27FC236}">
                <a16:creationId xmlns:a16="http://schemas.microsoft.com/office/drawing/2014/main" id="{539EA399-C649-0AEB-7800-B2BE34737796}"/>
              </a:ext>
            </a:extLst>
          </p:cNvPr>
          <p:cNvSpPr/>
          <p:nvPr/>
        </p:nvSpPr>
        <p:spPr>
          <a:xfrm>
            <a:off x="1271379" y="2880786"/>
            <a:ext cx="2982685" cy="1113183"/>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2000" kern="0" dirty="0">
                <a:solidFill>
                  <a:prstClr val="black"/>
                </a:solidFill>
                <a:latin typeface="Century Gothic" panose="020B0502020202020204" pitchFamily="34" charset="0"/>
                <a:cs typeface="Courier New" panose="02070309020205020404" pitchFamily="49" charset="0"/>
                <a:sym typeface="Arial"/>
              </a:rPr>
              <a:t>I. models of species distributions</a:t>
            </a:r>
          </a:p>
        </p:txBody>
      </p:sp>
      <p:sp>
        <p:nvSpPr>
          <p:cNvPr id="19" name="Rectangle 18">
            <a:extLst>
              <a:ext uri="{FF2B5EF4-FFF2-40B4-BE49-F238E27FC236}">
                <a16:creationId xmlns:a16="http://schemas.microsoft.com/office/drawing/2014/main" id="{75216206-9BE1-E037-1160-27F6615FA205}"/>
              </a:ext>
            </a:extLst>
          </p:cNvPr>
          <p:cNvSpPr/>
          <p:nvPr/>
        </p:nvSpPr>
        <p:spPr>
          <a:xfrm>
            <a:off x="4602407" y="2880786"/>
            <a:ext cx="2982685" cy="1113183"/>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2000" kern="0" dirty="0">
                <a:solidFill>
                  <a:prstClr val="black"/>
                </a:solidFill>
                <a:latin typeface="Century Gothic" panose="020B0502020202020204" pitchFamily="34" charset="0"/>
                <a:cs typeface="Courier New" panose="02070309020205020404" pitchFamily="49" charset="0"/>
                <a:sym typeface="Arial"/>
              </a:rPr>
              <a:t>II. metrics of population and community changes</a:t>
            </a:r>
          </a:p>
        </p:txBody>
      </p:sp>
      <p:sp>
        <p:nvSpPr>
          <p:cNvPr id="21" name="Rectangle 20">
            <a:extLst>
              <a:ext uri="{FF2B5EF4-FFF2-40B4-BE49-F238E27FC236}">
                <a16:creationId xmlns:a16="http://schemas.microsoft.com/office/drawing/2014/main" id="{49A8FF10-D66C-C734-AC07-5D53E006B632}"/>
              </a:ext>
            </a:extLst>
          </p:cNvPr>
          <p:cNvSpPr/>
          <p:nvPr/>
        </p:nvSpPr>
        <p:spPr>
          <a:xfrm>
            <a:off x="7933435" y="2880785"/>
            <a:ext cx="2982685" cy="1113183"/>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2000" kern="0" dirty="0">
                <a:solidFill>
                  <a:prstClr val="black"/>
                </a:solidFill>
                <a:latin typeface="Century Gothic" panose="020B0502020202020204" pitchFamily="34" charset="0"/>
                <a:cs typeface="Courier New" panose="02070309020205020404" pitchFamily="49" charset="0"/>
                <a:sym typeface="Arial"/>
              </a:rPr>
              <a:t>III. identification of invasive species spread</a:t>
            </a:r>
          </a:p>
        </p:txBody>
      </p:sp>
      <p:cxnSp>
        <p:nvCxnSpPr>
          <p:cNvPr id="22" name="Straight Arrow Connector 21">
            <a:extLst>
              <a:ext uri="{FF2B5EF4-FFF2-40B4-BE49-F238E27FC236}">
                <a16:creationId xmlns:a16="http://schemas.microsoft.com/office/drawing/2014/main" id="{E97F9590-A0D9-471A-4F07-BD1B6CCE2B00}"/>
              </a:ext>
            </a:extLst>
          </p:cNvPr>
          <p:cNvCxnSpPr>
            <a:stCxn id="17" idx="2"/>
            <a:endCxn id="18" idx="0"/>
          </p:cNvCxnSpPr>
          <p:nvPr/>
        </p:nvCxnSpPr>
        <p:spPr>
          <a:xfrm flipH="1">
            <a:off x="2762722" y="2258873"/>
            <a:ext cx="3331029" cy="621912"/>
          </a:xfrm>
          <a:prstGeom prst="straightConnector1">
            <a:avLst/>
          </a:prstGeom>
          <a:ln w="28575">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7ECA75E2-7565-122F-58CA-3B0FBF370910}"/>
              </a:ext>
            </a:extLst>
          </p:cNvPr>
          <p:cNvCxnSpPr>
            <a:cxnSpLocks/>
            <a:stCxn id="17" idx="2"/>
            <a:endCxn id="19" idx="0"/>
          </p:cNvCxnSpPr>
          <p:nvPr/>
        </p:nvCxnSpPr>
        <p:spPr>
          <a:xfrm flipH="1">
            <a:off x="6093750" y="2258873"/>
            <a:ext cx="1" cy="621912"/>
          </a:xfrm>
          <a:prstGeom prst="straightConnector1">
            <a:avLst/>
          </a:prstGeom>
          <a:ln w="28575">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66B9626-C35D-77CF-2910-9F51FE8F1B9E}"/>
              </a:ext>
            </a:extLst>
          </p:cNvPr>
          <p:cNvCxnSpPr>
            <a:cxnSpLocks/>
            <a:stCxn id="17" idx="2"/>
            <a:endCxn id="21" idx="0"/>
          </p:cNvCxnSpPr>
          <p:nvPr/>
        </p:nvCxnSpPr>
        <p:spPr>
          <a:xfrm>
            <a:off x="6093751" y="2258874"/>
            <a:ext cx="3331027" cy="621911"/>
          </a:xfrm>
          <a:prstGeom prst="straightConnector1">
            <a:avLst/>
          </a:prstGeom>
          <a:ln w="28575">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47142E70-C370-F187-D36B-111D806B0669}"/>
              </a:ext>
            </a:extLst>
          </p:cNvPr>
          <p:cNvCxnSpPr>
            <a:cxnSpLocks/>
            <a:endCxn id="34" idx="0"/>
          </p:cNvCxnSpPr>
          <p:nvPr/>
        </p:nvCxnSpPr>
        <p:spPr>
          <a:xfrm>
            <a:off x="2759092" y="3993967"/>
            <a:ext cx="3629" cy="621911"/>
          </a:xfrm>
          <a:prstGeom prst="straightConnector1">
            <a:avLst/>
          </a:prstGeom>
          <a:ln w="28575">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74812FB6-F220-9B2F-4095-8CD93B03D75B}"/>
              </a:ext>
            </a:extLst>
          </p:cNvPr>
          <p:cNvCxnSpPr>
            <a:cxnSpLocks/>
            <a:stCxn id="19" idx="2"/>
            <a:endCxn id="36" idx="0"/>
          </p:cNvCxnSpPr>
          <p:nvPr/>
        </p:nvCxnSpPr>
        <p:spPr>
          <a:xfrm>
            <a:off x="6093750" y="3993968"/>
            <a:ext cx="19636" cy="621909"/>
          </a:xfrm>
          <a:prstGeom prst="straightConnector1">
            <a:avLst/>
          </a:prstGeom>
          <a:ln w="28575">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9C7AB450-DEE7-D7B6-FC47-4C5057CF2F43}"/>
              </a:ext>
            </a:extLst>
          </p:cNvPr>
          <p:cNvCxnSpPr>
            <a:cxnSpLocks/>
            <a:endCxn id="38" idx="0"/>
          </p:cNvCxnSpPr>
          <p:nvPr/>
        </p:nvCxnSpPr>
        <p:spPr>
          <a:xfrm>
            <a:off x="9424777" y="3993967"/>
            <a:ext cx="3631" cy="621911"/>
          </a:xfrm>
          <a:prstGeom prst="straightConnector1">
            <a:avLst/>
          </a:prstGeom>
          <a:ln w="28575">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AAAA5D05-26D0-290F-2DEE-EE70F82A91A0}"/>
              </a:ext>
            </a:extLst>
          </p:cNvPr>
          <p:cNvSpPr/>
          <p:nvPr/>
        </p:nvSpPr>
        <p:spPr>
          <a:xfrm>
            <a:off x="1271379" y="4615878"/>
            <a:ext cx="2982685" cy="1501895"/>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867" kern="0" dirty="0">
                <a:solidFill>
                  <a:prstClr val="black"/>
                </a:solidFill>
                <a:latin typeface="Century Gothic" panose="020B0502020202020204" pitchFamily="34" charset="0"/>
                <a:cs typeface="Courier New" panose="02070309020205020404" pitchFamily="49" charset="0"/>
                <a:sym typeface="Arial"/>
              </a:rPr>
              <a:t>Strategic spatial planning of conservation areas, actions, &amp; investment</a:t>
            </a:r>
          </a:p>
        </p:txBody>
      </p:sp>
      <p:sp>
        <p:nvSpPr>
          <p:cNvPr id="36" name="Rectangle 35">
            <a:extLst>
              <a:ext uri="{FF2B5EF4-FFF2-40B4-BE49-F238E27FC236}">
                <a16:creationId xmlns:a16="http://schemas.microsoft.com/office/drawing/2014/main" id="{E4C3AFE0-F7E2-E404-77DE-953AF524BE8A}"/>
              </a:ext>
            </a:extLst>
          </p:cNvPr>
          <p:cNvSpPr/>
          <p:nvPr/>
        </p:nvSpPr>
        <p:spPr>
          <a:xfrm>
            <a:off x="4622043" y="4615878"/>
            <a:ext cx="2982685" cy="15018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867" kern="0" dirty="0">
                <a:solidFill>
                  <a:prstClr val="black"/>
                </a:solidFill>
                <a:latin typeface="Century Gothic" panose="020B0502020202020204" pitchFamily="34" charset="0"/>
                <a:cs typeface="Courier New" panose="02070309020205020404" pitchFamily="49" charset="0"/>
                <a:sym typeface="Arial"/>
              </a:rPr>
              <a:t>Assessing the impact of management action on a population of a threatened species</a:t>
            </a:r>
          </a:p>
        </p:txBody>
      </p:sp>
      <p:sp>
        <p:nvSpPr>
          <p:cNvPr id="38" name="Rectangle 37">
            <a:extLst>
              <a:ext uri="{FF2B5EF4-FFF2-40B4-BE49-F238E27FC236}">
                <a16:creationId xmlns:a16="http://schemas.microsoft.com/office/drawing/2014/main" id="{7F343217-662C-01BC-8C3D-E8E48F699CAF}"/>
              </a:ext>
            </a:extLst>
          </p:cNvPr>
          <p:cNvSpPr/>
          <p:nvPr/>
        </p:nvSpPr>
        <p:spPr>
          <a:xfrm>
            <a:off x="7937064" y="4615878"/>
            <a:ext cx="2982685" cy="15018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r>
              <a:rPr lang="en-US" sz="1867" kern="0" dirty="0">
                <a:solidFill>
                  <a:prstClr val="black"/>
                </a:solidFill>
                <a:latin typeface="Century Gothic" panose="020B0502020202020204" pitchFamily="34" charset="0"/>
                <a:cs typeface="Courier New" panose="02070309020205020404" pitchFamily="49" charset="0"/>
                <a:sym typeface="Arial"/>
              </a:rPr>
              <a:t>Where to invest in elimination or mitigation of impact of invasive alien species</a:t>
            </a:r>
          </a:p>
        </p:txBody>
      </p:sp>
      <p:sp>
        <p:nvSpPr>
          <p:cNvPr id="3" name="Oval 2">
            <a:extLst>
              <a:ext uri="{FF2B5EF4-FFF2-40B4-BE49-F238E27FC236}">
                <a16:creationId xmlns:a16="http://schemas.microsoft.com/office/drawing/2014/main" id="{F7C2185B-35FB-BC7B-D20E-FC07467245A2}"/>
              </a:ext>
            </a:extLst>
          </p:cNvPr>
          <p:cNvSpPr/>
          <p:nvPr/>
        </p:nvSpPr>
        <p:spPr>
          <a:xfrm>
            <a:off x="11180377" y="3429000"/>
            <a:ext cx="207264" cy="204216"/>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endParaRPr lang="en-US" sz="1867" kern="0">
              <a:solidFill>
                <a:prstClr val="white"/>
              </a:solidFill>
              <a:latin typeface="Calibri" panose="020F0502020204030204"/>
              <a:sym typeface="Arial"/>
            </a:endParaRPr>
          </a:p>
        </p:txBody>
      </p:sp>
      <p:sp>
        <p:nvSpPr>
          <p:cNvPr id="4" name="Oval 3">
            <a:extLst>
              <a:ext uri="{FF2B5EF4-FFF2-40B4-BE49-F238E27FC236}">
                <a16:creationId xmlns:a16="http://schemas.microsoft.com/office/drawing/2014/main" id="{A1C81ACD-C378-10D7-6985-0259E9EF830D}"/>
              </a:ext>
            </a:extLst>
          </p:cNvPr>
          <p:cNvSpPr/>
          <p:nvPr/>
        </p:nvSpPr>
        <p:spPr>
          <a:xfrm>
            <a:off x="11528720" y="3429000"/>
            <a:ext cx="207264" cy="204216"/>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endParaRPr lang="en-US" sz="1867" kern="0">
              <a:solidFill>
                <a:prstClr val="white"/>
              </a:solidFill>
              <a:latin typeface="Calibri" panose="020F0502020204030204"/>
              <a:sym typeface="Arial"/>
            </a:endParaRPr>
          </a:p>
        </p:txBody>
      </p:sp>
      <p:sp>
        <p:nvSpPr>
          <p:cNvPr id="5" name="Oval 4">
            <a:extLst>
              <a:ext uri="{FF2B5EF4-FFF2-40B4-BE49-F238E27FC236}">
                <a16:creationId xmlns:a16="http://schemas.microsoft.com/office/drawing/2014/main" id="{E69A8F27-A158-DD3E-585F-A2954C5853DE}"/>
              </a:ext>
            </a:extLst>
          </p:cNvPr>
          <p:cNvSpPr/>
          <p:nvPr/>
        </p:nvSpPr>
        <p:spPr>
          <a:xfrm>
            <a:off x="11877063" y="3429000"/>
            <a:ext cx="207264" cy="204216"/>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defRPr/>
            </a:pPr>
            <a:endParaRPr lang="en-US" sz="1867" kern="0">
              <a:solidFill>
                <a:prstClr val="white"/>
              </a:solidFill>
              <a:latin typeface="Calibri" panose="020F0502020204030204"/>
              <a:sym typeface="Arial"/>
            </a:endParaRPr>
          </a:p>
        </p:txBody>
      </p:sp>
      <p:cxnSp>
        <p:nvCxnSpPr>
          <p:cNvPr id="8" name="Curved Connector 7">
            <a:extLst>
              <a:ext uri="{FF2B5EF4-FFF2-40B4-BE49-F238E27FC236}">
                <a16:creationId xmlns:a16="http://schemas.microsoft.com/office/drawing/2014/main" id="{DC2B19DE-2969-13BD-543D-250DA77E8C9E}"/>
              </a:ext>
            </a:extLst>
          </p:cNvPr>
          <p:cNvCxnSpPr>
            <a:cxnSpLocks/>
          </p:cNvCxnSpPr>
          <p:nvPr/>
        </p:nvCxnSpPr>
        <p:spPr>
          <a:xfrm rot="10800000" flipH="1">
            <a:off x="792909" y="1329526"/>
            <a:ext cx="2645577" cy="4022917"/>
          </a:xfrm>
          <a:prstGeom prst="curvedConnector3">
            <a:avLst>
              <a:gd name="adj1" fmla="val -13197"/>
            </a:avLst>
          </a:prstGeom>
          <a:ln w="76200">
            <a:solidFill>
              <a:srgbClr val="FFCC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AD3D3065-F8D4-E3E1-7660-E1E85104EDE6}"/>
              </a:ext>
            </a:extLst>
          </p:cNvPr>
          <p:cNvSpPr/>
          <p:nvPr/>
        </p:nvSpPr>
        <p:spPr>
          <a:xfrm>
            <a:off x="948076" y="4375573"/>
            <a:ext cx="10232301" cy="1953740"/>
          </a:xfrm>
          <a:prstGeom prst="rect">
            <a:avLst/>
          </a:prstGeom>
          <a:noFill/>
          <a:ln w="57150">
            <a:solidFill>
              <a:srgbClr val="FFCC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endParaRPr lang="en-US" sz="1867" kern="0">
              <a:solidFill>
                <a:prstClr val="white"/>
              </a:solidFill>
              <a:latin typeface="Calibri" panose="020F0502020204030204"/>
              <a:sym typeface="Arial"/>
            </a:endParaRPr>
          </a:p>
        </p:txBody>
      </p:sp>
      <p:sp>
        <p:nvSpPr>
          <p:cNvPr id="11" name="TextBox 10">
            <a:extLst>
              <a:ext uri="{FF2B5EF4-FFF2-40B4-BE49-F238E27FC236}">
                <a16:creationId xmlns:a16="http://schemas.microsoft.com/office/drawing/2014/main" id="{37A317D2-3020-7FC2-A473-688E415C0FF4}"/>
              </a:ext>
            </a:extLst>
          </p:cNvPr>
          <p:cNvSpPr txBox="1"/>
          <p:nvPr/>
        </p:nvSpPr>
        <p:spPr>
          <a:xfrm>
            <a:off x="296898" y="837081"/>
            <a:ext cx="2100551" cy="954300"/>
          </a:xfrm>
          <a:prstGeom prst="rect">
            <a:avLst/>
          </a:prstGeom>
          <a:noFill/>
        </p:spPr>
        <p:txBody>
          <a:bodyPr wrap="square" rtlCol="0">
            <a:spAutoFit/>
          </a:bodyPr>
          <a:lstStyle/>
          <a:p>
            <a:pPr defTabSz="1219170">
              <a:buClr>
                <a:srgbClr val="000000"/>
              </a:buClr>
            </a:pPr>
            <a:r>
              <a:rPr lang="en-US" sz="1867" kern="0" dirty="0">
                <a:solidFill>
                  <a:prstClr val="white"/>
                </a:solidFill>
                <a:latin typeface="Century Gothic" panose="020B0502020202020204" pitchFamily="34" charset="0"/>
                <a:cs typeface="Arial"/>
                <a:sym typeface="Arial"/>
              </a:rPr>
              <a:t>decision informed data</a:t>
            </a:r>
          </a:p>
          <a:p>
            <a:pPr defTabSz="1219170">
              <a:buClr>
                <a:srgbClr val="000000"/>
              </a:buClr>
            </a:pPr>
            <a:r>
              <a:rPr lang="en-US" sz="1867" kern="0" dirty="0">
                <a:solidFill>
                  <a:prstClr val="white"/>
                </a:solidFill>
                <a:latin typeface="Century Gothic" panose="020B0502020202020204" pitchFamily="34" charset="0"/>
                <a:cs typeface="Arial"/>
                <a:sym typeface="Arial"/>
              </a:rPr>
              <a:t>collection </a:t>
            </a:r>
          </a:p>
        </p:txBody>
      </p:sp>
    </p:spTree>
    <p:extLst>
      <p:ext uri="{BB962C8B-B14F-4D97-AF65-F5344CB8AC3E}">
        <p14:creationId xmlns:p14="http://schemas.microsoft.com/office/powerpoint/2010/main" val="3383904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6" grpId="0" animBg="1"/>
      <p:bldP spid="38" grpId="0" animBg="1"/>
      <p:bldP spid="20" grpId="0" animBg="1"/>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9BB13-B694-F1B4-9A52-84F970F97B2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2A2036F-9D00-3942-BE49-841FA5D443C4}"/>
              </a:ext>
            </a:extLst>
          </p:cNvPr>
          <p:cNvSpPr txBox="1"/>
          <p:nvPr/>
        </p:nvSpPr>
        <p:spPr>
          <a:xfrm>
            <a:off x="389891" y="2413338"/>
            <a:ext cx="4041093" cy="1980094"/>
          </a:xfrm>
          <a:prstGeom prst="rect">
            <a:avLst/>
          </a:prstGeom>
          <a:noFill/>
        </p:spPr>
        <p:txBody>
          <a:bodyPr wrap="square" rtlCol="0">
            <a:spAutoFit/>
          </a:bodyPr>
          <a:lstStyle/>
          <a:p>
            <a:pPr defTabSz="1219170">
              <a:buClr>
                <a:srgbClr val="000000"/>
              </a:buClr>
              <a:defRPr/>
            </a:pPr>
            <a:r>
              <a:rPr lang="en-US" sz="6667" kern="0" dirty="0">
                <a:solidFill>
                  <a:srgbClr val="FFCC00"/>
                </a:solidFill>
                <a:latin typeface="Century Gothic" panose="020B0502020202020204" pitchFamily="34" charset="0"/>
                <a:cs typeface="Arial"/>
                <a:sym typeface="Arial"/>
              </a:rPr>
              <a:t>collect</a:t>
            </a:r>
            <a:r>
              <a:rPr lang="en-US" sz="8000" kern="0" dirty="0">
                <a:solidFill>
                  <a:srgbClr val="FFCC00"/>
                </a:solidFill>
                <a:latin typeface="Century Gothic" panose="020B0502020202020204" pitchFamily="34" charset="0"/>
                <a:cs typeface="Arial"/>
                <a:sym typeface="Arial"/>
              </a:rPr>
              <a:t> </a:t>
            </a:r>
          </a:p>
          <a:p>
            <a:pPr defTabSz="1219170">
              <a:buClr>
                <a:srgbClr val="000000"/>
              </a:buClr>
              <a:defRPr/>
            </a:pPr>
            <a:r>
              <a:rPr lang="en-US" sz="4267" kern="0" dirty="0">
                <a:solidFill>
                  <a:srgbClr val="FFCC00"/>
                </a:solidFill>
                <a:latin typeface="Century Gothic" panose="020B0502020202020204" pitchFamily="34" charset="0"/>
                <a:cs typeface="Arial"/>
                <a:sym typeface="Arial"/>
              </a:rPr>
              <a:t>more data</a:t>
            </a:r>
          </a:p>
        </p:txBody>
      </p:sp>
      <p:pic>
        <p:nvPicPr>
          <p:cNvPr id="6" name="Picture 5" descr="A poster of a computer network&#10;&#10;AI-generated content may be incorrect.">
            <a:extLst>
              <a:ext uri="{FF2B5EF4-FFF2-40B4-BE49-F238E27FC236}">
                <a16:creationId xmlns:a16="http://schemas.microsoft.com/office/drawing/2014/main" id="{2218E0D4-4FEB-AFE4-FA1A-50C1134DAF42}"/>
              </a:ext>
            </a:extLst>
          </p:cNvPr>
          <p:cNvPicPr>
            <a:picLocks noChangeAspect="1"/>
          </p:cNvPicPr>
          <p:nvPr/>
        </p:nvPicPr>
        <p:blipFill>
          <a:blip r:embed="rId3"/>
          <a:stretch>
            <a:fillRect/>
          </a:stretch>
        </p:blipFill>
        <p:spPr>
          <a:xfrm>
            <a:off x="7297787" y="0"/>
            <a:ext cx="4447167" cy="6858000"/>
          </a:xfrm>
          <a:prstGeom prst="rect">
            <a:avLst/>
          </a:prstGeom>
        </p:spPr>
      </p:pic>
      <p:sp>
        <p:nvSpPr>
          <p:cNvPr id="9" name="TextBox 8">
            <a:extLst>
              <a:ext uri="{FF2B5EF4-FFF2-40B4-BE49-F238E27FC236}">
                <a16:creationId xmlns:a16="http://schemas.microsoft.com/office/drawing/2014/main" id="{9E92D6F0-D7F5-9595-C75D-83EF4307FB41}"/>
              </a:ext>
            </a:extLst>
          </p:cNvPr>
          <p:cNvSpPr txBox="1"/>
          <p:nvPr/>
        </p:nvSpPr>
        <p:spPr>
          <a:xfrm>
            <a:off x="3783744" y="493124"/>
            <a:ext cx="3514043" cy="1323632"/>
          </a:xfrm>
          <a:prstGeom prst="rect">
            <a:avLst/>
          </a:prstGeom>
          <a:noFill/>
        </p:spPr>
        <p:txBody>
          <a:bodyPr wrap="square" rtlCol="0">
            <a:spAutoFit/>
          </a:bodyPr>
          <a:lstStyle/>
          <a:p>
            <a:pPr algn="r" defTabSz="1219170">
              <a:buClr>
                <a:srgbClr val="000000"/>
              </a:buClr>
              <a:defRPr/>
            </a:pPr>
            <a:r>
              <a:rPr lang="en-US" sz="2667" kern="0" dirty="0">
                <a:solidFill>
                  <a:prstClr val="white"/>
                </a:solidFill>
                <a:latin typeface="Century Gothic" panose="020B0502020202020204" pitchFamily="34" charset="0"/>
                <a:cs typeface="Arial"/>
                <a:sym typeface="Arial"/>
              </a:rPr>
              <a:t>Centering human rights in biodiversity monitoring </a:t>
            </a:r>
          </a:p>
        </p:txBody>
      </p:sp>
      <p:sp>
        <p:nvSpPr>
          <p:cNvPr id="10" name="TextBox 9">
            <a:extLst>
              <a:ext uri="{FF2B5EF4-FFF2-40B4-BE49-F238E27FC236}">
                <a16:creationId xmlns:a16="http://schemas.microsoft.com/office/drawing/2014/main" id="{048EDEA1-93FB-9142-D55A-ADA088A79F43}"/>
              </a:ext>
            </a:extLst>
          </p:cNvPr>
          <p:cNvSpPr txBox="1"/>
          <p:nvPr/>
        </p:nvSpPr>
        <p:spPr>
          <a:xfrm rot="16200000">
            <a:off x="5672185" y="3824289"/>
            <a:ext cx="2840842" cy="379656"/>
          </a:xfrm>
          <a:prstGeom prst="rect">
            <a:avLst/>
          </a:prstGeom>
          <a:noFill/>
        </p:spPr>
        <p:txBody>
          <a:bodyPr wrap="none" rtlCol="0">
            <a:spAutoFit/>
          </a:bodyPr>
          <a:lstStyle/>
          <a:p>
            <a:pPr defTabSz="1219170">
              <a:buClr>
                <a:srgbClr val="000000"/>
              </a:buClr>
              <a:defRPr/>
            </a:pPr>
            <a:r>
              <a:rPr lang="en-US" sz="1867" kern="0" dirty="0">
                <a:solidFill>
                  <a:srgbClr val="E9E9E9"/>
                </a:solidFill>
                <a:latin typeface="Century Gothic" panose="020B0502020202020204" pitchFamily="34" charset="0"/>
                <a:cs typeface="Arial"/>
                <a:sym typeface="Arial"/>
              </a:rPr>
              <a:t>Artwork by </a:t>
            </a:r>
            <a:r>
              <a:rPr lang="en-US" sz="1867" b="1" kern="0" dirty="0">
                <a:solidFill>
                  <a:srgbClr val="DC1879"/>
                </a:solidFill>
                <a:latin typeface="Century Gothic" panose="020B0502020202020204" pitchFamily="34" charset="0"/>
                <a:cs typeface="Arial"/>
                <a:sym typeface="Arial"/>
              </a:rPr>
              <a:t>Mateo Silva</a:t>
            </a:r>
          </a:p>
        </p:txBody>
      </p:sp>
    </p:spTree>
    <p:extLst>
      <p:ext uri="{BB962C8B-B14F-4D97-AF65-F5344CB8AC3E}">
        <p14:creationId xmlns:p14="http://schemas.microsoft.com/office/powerpoint/2010/main" val="3593061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name="Slide 5">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10758152" y="6954332"/>
            <a:ext cx="1188720" cy="274320"/>
          </a:xfrm>
          <a:prstGeom prst="rect">
            <a:avLst/>
          </a:prstGeom>
          <a:noFill/>
          <a:ln/>
        </p:spPr>
        <p:txBody>
          <a:bodyPr wrap="square" lIns="0" tIns="0" rIns="0" bIns="0"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5 / 54</a:t>
            </a:r>
            <a:endParaRPr lang="en-US" sz="900" dirty="0">
              <a:solidFill>
                <a:srgbClr val="E9E9E9"/>
              </a:solidFill>
            </a:endParaRPr>
          </a:p>
        </p:txBody>
      </p:sp>
      <p:sp>
        <p:nvSpPr>
          <p:cNvPr id="4" name="Shape 2"/>
          <p:cNvSpPr/>
          <p:nvPr/>
        </p:nvSpPr>
        <p:spPr>
          <a:xfrm>
            <a:off x="670047" y="1750380"/>
            <a:ext cx="839310" cy="839310"/>
          </a:xfrm>
          <a:prstGeom prst="rect">
            <a:avLst/>
          </a:prstGeom>
          <a:solidFill>
            <a:srgbClr val="F2F2F2"/>
          </a:solidFill>
          <a:ln w="9525">
            <a:solidFill>
              <a:srgbClr val="4A4A4A"/>
            </a:solidFill>
            <a:prstDash val="solid"/>
          </a:ln>
        </p:spPr>
        <p:txBody>
          <a:bodyPr/>
          <a:lstStyle/>
          <a:p>
            <a:endParaRPr lang="en-US">
              <a:solidFill>
                <a:srgbClr val="E9E9E9"/>
              </a:solidFill>
            </a:endParaRPr>
          </a:p>
        </p:txBody>
      </p:sp>
      <p:sp>
        <p:nvSpPr>
          <p:cNvPr id="5" name="Shape 3"/>
          <p:cNvSpPr/>
          <p:nvPr/>
        </p:nvSpPr>
        <p:spPr>
          <a:xfrm>
            <a:off x="1509358" y="1750380"/>
            <a:ext cx="839310" cy="839310"/>
          </a:xfrm>
          <a:prstGeom prst="rect">
            <a:avLst/>
          </a:prstGeom>
          <a:solidFill>
            <a:srgbClr val="C2C2C2"/>
          </a:solidFill>
          <a:ln w="9525">
            <a:solidFill>
              <a:srgbClr val="4A4A4A"/>
            </a:solidFill>
            <a:prstDash val="solid"/>
          </a:ln>
        </p:spPr>
        <p:txBody>
          <a:bodyPr/>
          <a:lstStyle/>
          <a:p>
            <a:endParaRPr lang="en-US">
              <a:solidFill>
                <a:srgbClr val="E9E9E9"/>
              </a:solidFill>
            </a:endParaRPr>
          </a:p>
        </p:txBody>
      </p:sp>
      <p:sp>
        <p:nvSpPr>
          <p:cNvPr id="6" name="Shape 4"/>
          <p:cNvSpPr/>
          <p:nvPr/>
        </p:nvSpPr>
        <p:spPr>
          <a:xfrm>
            <a:off x="2348668" y="1750380"/>
            <a:ext cx="839310" cy="839310"/>
          </a:xfrm>
          <a:prstGeom prst="rect">
            <a:avLst/>
          </a:prstGeom>
          <a:solidFill>
            <a:srgbClr val="D6D6D6"/>
          </a:solidFill>
          <a:ln w="9525">
            <a:solidFill>
              <a:srgbClr val="4A4A4A"/>
            </a:solidFill>
            <a:prstDash val="solid"/>
          </a:ln>
        </p:spPr>
        <p:txBody>
          <a:bodyPr/>
          <a:lstStyle/>
          <a:p>
            <a:endParaRPr lang="en-US">
              <a:solidFill>
                <a:srgbClr val="E9E9E9"/>
              </a:solidFill>
            </a:endParaRPr>
          </a:p>
        </p:txBody>
      </p:sp>
      <p:sp>
        <p:nvSpPr>
          <p:cNvPr id="7" name="Shape 5"/>
          <p:cNvSpPr/>
          <p:nvPr/>
        </p:nvSpPr>
        <p:spPr>
          <a:xfrm>
            <a:off x="3187978" y="1750380"/>
            <a:ext cx="839310" cy="839310"/>
          </a:xfrm>
          <a:prstGeom prst="rect">
            <a:avLst/>
          </a:prstGeom>
          <a:solidFill>
            <a:srgbClr val="EAEAEA"/>
          </a:solidFill>
          <a:ln w="9525">
            <a:solidFill>
              <a:srgbClr val="4A4A4A"/>
            </a:solidFill>
            <a:prstDash val="solid"/>
          </a:ln>
        </p:spPr>
        <p:txBody>
          <a:bodyPr/>
          <a:lstStyle/>
          <a:p>
            <a:endParaRPr lang="en-US">
              <a:solidFill>
                <a:srgbClr val="E9E9E9"/>
              </a:solidFill>
            </a:endParaRPr>
          </a:p>
        </p:txBody>
      </p:sp>
      <p:sp>
        <p:nvSpPr>
          <p:cNvPr id="8" name="Shape 6"/>
          <p:cNvSpPr/>
          <p:nvPr/>
        </p:nvSpPr>
        <p:spPr>
          <a:xfrm>
            <a:off x="4027288" y="1750380"/>
            <a:ext cx="839310" cy="839310"/>
          </a:xfrm>
          <a:prstGeom prst="rect">
            <a:avLst/>
          </a:prstGeom>
          <a:solidFill>
            <a:srgbClr val="B8B8B8"/>
          </a:solidFill>
          <a:ln w="9525">
            <a:solidFill>
              <a:srgbClr val="4A4A4A"/>
            </a:solidFill>
            <a:prstDash val="solid"/>
          </a:ln>
        </p:spPr>
        <p:txBody>
          <a:bodyPr/>
          <a:lstStyle/>
          <a:p>
            <a:endParaRPr lang="en-US">
              <a:solidFill>
                <a:srgbClr val="E9E9E9"/>
              </a:solidFill>
            </a:endParaRPr>
          </a:p>
        </p:txBody>
      </p:sp>
      <p:sp>
        <p:nvSpPr>
          <p:cNvPr id="9" name="Shape 7"/>
          <p:cNvSpPr/>
          <p:nvPr/>
        </p:nvSpPr>
        <p:spPr>
          <a:xfrm>
            <a:off x="4866598" y="1750380"/>
            <a:ext cx="839310" cy="839310"/>
          </a:xfrm>
          <a:prstGeom prst="rect">
            <a:avLst/>
          </a:prstGeom>
          <a:solidFill>
            <a:srgbClr val="CCCCCC"/>
          </a:solidFill>
          <a:ln w="9525">
            <a:solidFill>
              <a:srgbClr val="4A4A4A"/>
            </a:solidFill>
            <a:prstDash val="solid"/>
          </a:ln>
        </p:spPr>
        <p:txBody>
          <a:bodyPr/>
          <a:lstStyle/>
          <a:p>
            <a:endParaRPr lang="en-US">
              <a:solidFill>
                <a:srgbClr val="E9E9E9"/>
              </a:solidFill>
            </a:endParaRPr>
          </a:p>
        </p:txBody>
      </p:sp>
      <p:sp>
        <p:nvSpPr>
          <p:cNvPr id="10" name="Shape 8"/>
          <p:cNvSpPr/>
          <p:nvPr/>
        </p:nvSpPr>
        <p:spPr>
          <a:xfrm>
            <a:off x="670047" y="2589690"/>
            <a:ext cx="839310" cy="839310"/>
          </a:xfrm>
          <a:prstGeom prst="rect">
            <a:avLst/>
          </a:prstGeom>
          <a:solidFill>
            <a:srgbClr val="D6D6D6"/>
          </a:solidFill>
          <a:ln w="9525">
            <a:solidFill>
              <a:srgbClr val="4A4A4A"/>
            </a:solidFill>
            <a:prstDash val="solid"/>
          </a:ln>
        </p:spPr>
        <p:txBody>
          <a:bodyPr/>
          <a:lstStyle/>
          <a:p>
            <a:endParaRPr lang="en-US">
              <a:solidFill>
                <a:srgbClr val="E9E9E9"/>
              </a:solidFill>
            </a:endParaRPr>
          </a:p>
        </p:txBody>
      </p:sp>
      <p:sp>
        <p:nvSpPr>
          <p:cNvPr id="11" name="Shape 9"/>
          <p:cNvSpPr/>
          <p:nvPr/>
        </p:nvSpPr>
        <p:spPr>
          <a:xfrm>
            <a:off x="1509358" y="2589690"/>
            <a:ext cx="839310" cy="839310"/>
          </a:xfrm>
          <a:prstGeom prst="rect">
            <a:avLst/>
          </a:prstGeom>
          <a:solidFill>
            <a:srgbClr val="E0E0E0"/>
          </a:solidFill>
          <a:ln w="9525">
            <a:solidFill>
              <a:srgbClr val="4A4A4A"/>
            </a:solidFill>
            <a:prstDash val="solid"/>
          </a:ln>
        </p:spPr>
        <p:txBody>
          <a:bodyPr/>
          <a:lstStyle/>
          <a:p>
            <a:endParaRPr lang="en-US">
              <a:solidFill>
                <a:srgbClr val="E9E9E9"/>
              </a:solidFill>
            </a:endParaRPr>
          </a:p>
        </p:txBody>
      </p:sp>
      <p:sp>
        <p:nvSpPr>
          <p:cNvPr id="12" name="Shape 10"/>
          <p:cNvSpPr/>
          <p:nvPr/>
        </p:nvSpPr>
        <p:spPr>
          <a:xfrm>
            <a:off x="2348668" y="2589690"/>
            <a:ext cx="839310" cy="839310"/>
          </a:xfrm>
          <a:prstGeom prst="rect">
            <a:avLst/>
          </a:prstGeom>
          <a:solidFill>
            <a:srgbClr val="EAEAEA"/>
          </a:solidFill>
          <a:ln w="9525">
            <a:solidFill>
              <a:srgbClr val="4A4A4A"/>
            </a:solidFill>
            <a:prstDash val="solid"/>
          </a:ln>
        </p:spPr>
        <p:txBody>
          <a:bodyPr/>
          <a:lstStyle/>
          <a:p>
            <a:endParaRPr lang="en-US">
              <a:solidFill>
                <a:srgbClr val="E9E9E9"/>
              </a:solidFill>
            </a:endParaRPr>
          </a:p>
        </p:txBody>
      </p:sp>
      <p:sp>
        <p:nvSpPr>
          <p:cNvPr id="13" name="Shape 11"/>
          <p:cNvSpPr/>
          <p:nvPr/>
        </p:nvSpPr>
        <p:spPr>
          <a:xfrm>
            <a:off x="3187978" y="2589690"/>
            <a:ext cx="839310" cy="839310"/>
          </a:xfrm>
          <a:prstGeom prst="rect">
            <a:avLst/>
          </a:prstGeom>
          <a:solidFill>
            <a:srgbClr val="F2F2F2"/>
          </a:solidFill>
          <a:ln w="9525">
            <a:solidFill>
              <a:srgbClr val="4A4A4A"/>
            </a:solidFill>
            <a:prstDash val="solid"/>
          </a:ln>
        </p:spPr>
        <p:txBody>
          <a:bodyPr/>
          <a:lstStyle/>
          <a:p>
            <a:endParaRPr lang="en-US">
              <a:solidFill>
                <a:srgbClr val="E9E9E9"/>
              </a:solidFill>
            </a:endParaRPr>
          </a:p>
        </p:txBody>
      </p:sp>
      <p:sp>
        <p:nvSpPr>
          <p:cNvPr id="14" name="Shape 12"/>
          <p:cNvSpPr/>
          <p:nvPr/>
        </p:nvSpPr>
        <p:spPr>
          <a:xfrm>
            <a:off x="4027288" y="2589690"/>
            <a:ext cx="839310" cy="839310"/>
          </a:xfrm>
          <a:prstGeom prst="rect">
            <a:avLst/>
          </a:prstGeom>
          <a:solidFill>
            <a:srgbClr val="B8B8B8"/>
          </a:solidFill>
          <a:ln w="9525">
            <a:solidFill>
              <a:srgbClr val="4A4A4A"/>
            </a:solidFill>
            <a:prstDash val="solid"/>
          </a:ln>
        </p:spPr>
        <p:txBody>
          <a:bodyPr/>
          <a:lstStyle/>
          <a:p>
            <a:endParaRPr lang="en-US">
              <a:solidFill>
                <a:srgbClr val="E9E9E9"/>
              </a:solidFill>
            </a:endParaRPr>
          </a:p>
        </p:txBody>
      </p:sp>
      <p:sp>
        <p:nvSpPr>
          <p:cNvPr id="15" name="Shape 13"/>
          <p:cNvSpPr/>
          <p:nvPr/>
        </p:nvSpPr>
        <p:spPr>
          <a:xfrm>
            <a:off x="4866598" y="2589690"/>
            <a:ext cx="839310" cy="839310"/>
          </a:xfrm>
          <a:prstGeom prst="rect">
            <a:avLst/>
          </a:prstGeom>
          <a:solidFill>
            <a:srgbClr val="C2C2C2"/>
          </a:solidFill>
          <a:ln w="9525">
            <a:solidFill>
              <a:srgbClr val="4A4A4A"/>
            </a:solidFill>
            <a:prstDash val="solid"/>
          </a:ln>
        </p:spPr>
        <p:txBody>
          <a:bodyPr/>
          <a:lstStyle/>
          <a:p>
            <a:endParaRPr lang="en-US">
              <a:solidFill>
                <a:srgbClr val="E9E9E9"/>
              </a:solidFill>
            </a:endParaRPr>
          </a:p>
        </p:txBody>
      </p:sp>
      <p:sp>
        <p:nvSpPr>
          <p:cNvPr id="16" name="Shape 14"/>
          <p:cNvSpPr/>
          <p:nvPr/>
        </p:nvSpPr>
        <p:spPr>
          <a:xfrm>
            <a:off x="670047" y="3429000"/>
            <a:ext cx="839310" cy="839310"/>
          </a:xfrm>
          <a:prstGeom prst="rect">
            <a:avLst/>
          </a:prstGeom>
          <a:solidFill>
            <a:srgbClr val="B8B8B8"/>
          </a:solidFill>
          <a:ln w="9525">
            <a:solidFill>
              <a:srgbClr val="4A4A4A"/>
            </a:solidFill>
            <a:prstDash val="solid"/>
          </a:ln>
        </p:spPr>
        <p:txBody>
          <a:bodyPr/>
          <a:lstStyle/>
          <a:p>
            <a:endParaRPr lang="en-US">
              <a:solidFill>
                <a:srgbClr val="E9E9E9"/>
              </a:solidFill>
            </a:endParaRPr>
          </a:p>
        </p:txBody>
      </p:sp>
      <p:sp>
        <p:nvSpPr>
          <p:cNvPr id="17" name="Shape 15"/>
          <p:cNvSpPr/>
          <p:nvPr/>
        </p:nvSpPr>
        <p:spPr>
          <a:xfrm>
            <a:off x="1509358" y="3429000"/>
            <a:ext cx="839310" cy="839310"/>
          </a:xfrm>
          <a:prstGeom prst="rect">
            <a:avLst/>
          </a:prstGeom>
          <a:solidFill>
            <a:srgbClr val="B8B8B8"/>
          </a:solidFill>
          <a:ln w="9525">
            <a:solidFill>
              <a:srgbClr val="4A4A4A"/>
            </a:solidFill>
            <a:prstDash val="solid"/>
          </a:ln>
        </p:spPr>
        <p:txBody>
          <a:bodyPr/>
          <a:lstStyle/>
          <a:p>
            <a:endParaRPr lang="en-US">
              <a:solidFill>
                <a:srgbClr val="E9E9E9"/>
              </a:solidFill>
            </a:endParaRPr>
          </a:p>
        </p:txBody>
      </p:sp>
      <p:sp>
        <p:nvSpPr>
          <p:cNvPr id="18" name="Shape 16"/>
          <p:cNvSpPr/>
          <p:nvPr/>
        </p:nvSpPr>
        <p:spPr>
          <a:xfrm>
            <a:off x="2348668" y="3429000"/>
            <a:ext cx="839310" cy="839310"/>
          </a:xfrm>
          <a:prstGeom prst="rect">
            <a:avLst/>
          </a:prstGeom>
          <a:solidFill>
            <a:srgbClr val="B8B8B8"/>
          </a:solidFill>
          <a:ln w="9525">
            <a:solidFill>
              <a:srgbClr val="4A4A4A"/>
            </a:solidFill>
            <a:prstDash val="solid"/>
          </a:ln>
        </p:spPr>
        <p:txBody>
          <a:bodyPr/>
          <a:lstStyle/>
          <a:p>
            <a:endParaRPr lang="en-US">
              <a:solidFill>
                <a:srgbClr val="E9E9E9"/>
              </a:solidFill>
            </a:endParaRPr>
          </a:p>
        </p:txBody>
      </p:sp>
      <p:sp>
        <p:nvSpPr>
          <p:cNvPr id="19" name="Shape 17"/>
          <p:cNvSpPr/>
          <p:nvPr/>
        </p:nvSpPr>
        <p:spPr>
          <a:xfrm>
            <a:off x="3187978" y="3429000"/>
            <a:ext cx="839310" cy="839310"/>
          </a:xfrm>
          <a:prstGeom prst="rect">
            <a:avLst/>
          </a:prstGeom>
          <a:solidFill>
            <a:srgbClr val="B8B8B8"/>
          </a:solidFill>
          <a:ln w="9525">
            <a:solidFill>
              <a:srgbClr val="4A4A4A"/>
            </a:solidFill>
            <a:prstDash val="solid"/>
          </a:ln>
        </p:spPr>
        <p:txBody>
          <a:bodyPr/>
          <a:lstStyle/>
          <a:p>
            <a:endParaRPr lang="en-US">
              <a:solidFill>
                <a:srgbClr val="E9E9E9"/>
              </a:solidFill>
            </a:endParaRPr>
          </a:p>
        </p:txBody>
      </p:sp>
      <p:sp>
        <p:nvSpPr>
          <p:cNvPr id="20" name="Shape 18"/>
          <p:cNvSpPr/>
          <p:nvPr/>
        </p:nvSpPr>
        <p:spPr>
          <a:xfrm>
            <a:off x="4027288" y="3429000"/>
            <a:ext cx="839310" cy="839310"/>
          </a:xfrm>
          <a:prstGeom prst="rect">
            <a:avLst/>
          </a:prstGeom>
          <a:solidFill>
            <a:srgbClr val="B8B8B8"/>
          </a:solidFill>
          <a:ln w="9525">
            <a:solidFill>
              <a:srgbClr val="4A4A4A"/>
            </a:solidFill>
            <a:prstDash val="solid"/>
          </a:ln>
        </p:spPr>
        <p:txBody>
          <a:bodyPr/>
          <a:lstStyle/>
          <a:p>
            <a:endParaRPr lang="en-US">
              <a:solidFill>
                <a:srgbClr val="E9E9E9"/>
              </a:solidFill>
            </a:endParaRPr>
          </a:p>
        </p:txBody>
      </p:sp>
      <p:sp>
        <p:nvSpPr>
          <p:cNvPr id="21" name="Shape 19"/>
          <p:cNvSpPr/>
          <p:nvPr/>
        </p:nvSpPr>
        <p:spPr>
          <a:xfrm>
            <a:off x="4866598" y="3429000"/>
            <a:ext cx="839310" cy="839310"/>
          </a:xfrm>
          <a:prstGeom prst="rect">
            <a:avLst/>
          </a:prstGeom>
          <a:solidFill>
            <a:srgbClr val="B8B8B8"/>
          </a:solidFill>
          <a:ln w="9525">
            <a:solidFill>
              <a:srgbClr val="4A4A4A"/>
            </a:solidFill>
            <a:prstDash val="solid"/>
          </a:ln>
        </p:spPr>
        <p:txBody>
          <a:bodyPr/>
          <a:lstStyle/>
          <a:p>
            <a:endParaRPr lang="en-US">
              <a:solidFill>
                <a:srgbClr val="E9E9E9"/>
              </a:solidFill>
            </a:endParaRPr>
          </a:p>
        </p:txBody>
      </p:sp>
      <p:sp>
        <p:nvSpPr>
          <p:cNvPr id="22" name="Shape 20"/>
          <p:cNvSpPr/>
          <p:nvPr/>
        </p:nvSpPr>
        <p:spPr>
          <a:xfrm>
            <a:off x="670047" y="4268310"/>
            <a:ext cx="839310" cy="839310"/>
          </a:xfrm>
          <a:prstGeom prst="rect">
            <a:avLst/>
          </a:prstGeom>
          <a:solidFill>
            <a:srgbClr val="E0E0E0"/>
          </a:solidFill>
          <a:ln w="9525">
            <a:solidFill>
              <a:srgbClr val="4A4A4A"/>
            </a:solidFill>
            <a:prstDash val="solid"/>
          </a:ln>
        </p:spPr>
        <p:txBody>
          <a:bodyPr/>
          <a:lstStyle/>
          <a:p>
            <a:endParaRPr lang="en-US">
              <a:solidFill>
                <a:srgbClr val="E9E9E9"/>
              </a:solidFill>
            </a:endParaRPr>
          </a:p>
        </p:txBody>
      </p:sp>
      <p:sp>
        <p:nvSpPr>
          <p:cNvPr id="23" name="Shape 21"/>
          <p:cNvSpPr/>
          <p:nvPr/>
        </p:nvSpPr>
        <p:spPr>
          <a:xfrm>
            <a:off x="1509358" y="4268310"/>
            <a:ext cx="839310" cy="839310"/>
          </a:xfrm>
          <a:prstGeom prst="rect">
            <a:avLst/>
          </a:prstGeom>
          <a:solidFill>
            <a:srgbClr val="D6D6D6"/>
          </a:solidFill>
          <a:ln w="9525">
            <a:solidFill>
              <a:srgbClr val="4A4A4A"/>
            </a:solidFill>
            <a:prstDash val="solid"/>
          </a:ln>
        </p:spPr>
        <p:txBody>
          <a:bodyPr/>
          <a:lstStyle/>
          <a:p>
            <a:endParaRPr lang="en-US">
              <a:solidFill>
                <a:srgbClr val="E9E9E9"/>
              </a:solidFill>
            </a:endParaRPr>
          </a:p>
        </p:txBody>
      </p:sp>
      <p:sp>
        <p:nvSpPr>
          <p:cNvPr id="24" name="Shape 22"/>
          <p:cNvSpPr/>
          <p:nvPr/>
        </p:nvSpPr>
        <p:spPr>
          <a:xfrm>
            <a:off x="2348668" y="4268310"/>
            <a:ext cx="839310" cy="839310"/>
          </a:xfrm>
          <a:prstGeom prst="rect">
            <a:avLst/>
          </a:prstGeom>
          <a:solidFill>
            <a:srgbClr val="CCCCCC"/>
          </a:solidFill>
          <a:ln w="9525">
            <a:solidFill>
              <a:srgbClr val="4A4A4A"/>
            </a:solidFill>
            <a:prstDash val="solid"/>
          </a:ln>
        </p:spPr>
        <p:txBody>
          <a:bodyPr/>
          <a:lstStyle/>
          <a:p>
            <a:endParaRPr lang="en-US">
              <a:solidFill>
                <a:srgbClr val="E9E9E9"/>
              </a:solidFill>
            </a:endParaRPr>
          </a:p>
        </p:txBody>
      </p:sp>
      <p:sp>
        <p:nvSpPr>
          <p:cNvPr id="25" name="Shape 23"/>
          <p:cNvSpPr/>
          <p:nvPr/>
        </p:nvSpPr>
        <p:spPr>
          <a:xfrm>
            <a:off x="3187978" y="4268310"/>
            <a:ext cx="839310" cy="839310"/>
          </a:xfrm>
          <a:prstGeom prst="rect">
            <a:avLst/>
          </a:prstGeom>
          <a:solidFill>
            <a:srgbClr val="C2C2C2"/>
          </a:solidFill>
          <a:ln w="9525">
            <a:solidFill>
              <a:srgbClr val="4A4A4A"/>
            </a:solidFill>
            <a:prstDash val="solid"/>
          </a:ln>
        </p:spPr>
        <p:txBody>
          <a:bodyPr/>
          <a:lstStyle/>
          <a:p>
            <a:endParaRPr lang="en-US">
              <a:solidFill>
                <a:srgbClr val="E9E9E9"/>
              </a:solidFill>
            </a:endParaRPr>
          </a:p>
        </p:txBody>
      </p:sp>
      <p:sp>
        <p:nvSpPr>
          <p:cNvPr id="26" name="Shape 24"/>
          <p:cNvSpPr/>
          <p:nvPr/>
        </p:nvSpPr>
        <p:spPr>
          <a:xfrm>
            <a:off x="4027288" y="4268310"/>
            <a:ext cx="839310" cy="839310"/>
          </a:xfrm>
          <a:prstGeom prst="rect">
            <a:avLst/>
          </a:prstGeom>
          <a:solidFill>
            <a:srgbClr val="B8B8B8"/>
          </a:solidFill>
          <a:ln w="9525">
            <a:solidFill>
              <a:srgbClr val="4A4A4A"/>
            </a:solidFill>
            <a:prstDash val="solid"/>
          </a:ln>
        </p:spPr>
        <p:txBody>
          <a:bodyPr/>
          <a:lstStyle/>
          <a:p>
            <a:endParaRPr lang="en-US">
              <a:solidFill>
                <a:srgbClr val="E9E9E9"/>
              </a:solidFill>
            </a:endParaRPr>
          </a:p>
        </p:txBody>
      </p:sp>
      <p:sp>
        <p:nvSpPr>
          <p:cNvPr id="27" name="Shape 25"/>
          <p:cNvSpPr/>
          <p:nvPr/>
        </p:nvSpPr>
        <p:spPr>
          <a:xfrm>
            <a:off x="4866598" y="4268310"/>
            <a:ext cx="839310" cy="839310"/>
          </a:xfrm>
          <a:prstGeom prst="rect">
            <a:avLst/>
          </a:prstGeom>
          <a:solidFill>
            <a:srgbClr val="F2F2F2"/>
          </a:solidFill>
          <a:ln w="9525">
            <a:solidFill>
              <a:srgbClr val="4A4A4A"/>
            </a:solidFill>
            <a:prstDash val="solid"/>
          </a:ln>
        </p:spPr>
        <p:txBody>
          <a:bodyPr/>
          <a:lstStyle/>
          <a:p>
            <a:endParaRPr lang="en-US">
              <a:solidFill>
                <a:srgbClr val="E9E9E9"/>
              </a:solidFill>
            </a:endParaRPr>
          </a:p>
        </p:txBody>
      </p:sp>
      <p:sp>
        <p:nvSpPr>
          <p:cNvPr id="28" name="Shape 26"/>
          <p:cNvSpPr/>
          <p:nvPr/>
        </p:nvSpPr>
        <p:spPr>
          <a:xfrm>
            <a:off x="670047" y="5107620"/>
            <a:ext cx="839310" cy="839310"/>
          </a:xfrm>
          <a:prstGeom prst="rect">
            <a:avLst/>
          </a:prstGeom>
          <a:solidFill>
            <a:srgbClr val="C2C2C2"/>
          </a:solidFill>
          <a:ln w="9525">
            <a:solidFill>
              <a:srgbClr val="4A4A4A"/>
            </a:solidFill>
            <a:prstDash val="solid"/>
          </a:ln>
        </p:spPr>
        <p:txBody>
          <a:bodyPr/>
          <a:lstStyle/>
          <a:p>
            <a:endParaRPr lang="en-US">
              <a:solidFill>
                <a:srgbClr val="E9E9E9"/>
              </a:solidFill>
            </a:endParaRPr>
          </a:p>
        </p:txBody>
      </p:sp>
      <p:sp>
        <p:nvSpPr>
          <p:cNvPr id="29" name="Shape 27"/>
          <p:cNvSpPr/>
          <p:nvPr/>
        </p:nvSpPr>
        <p:spPr>
          <a:xfrm>
            <a:off x="1509358" y="5107620"/>
            <a:ext cx="839310" cy="839310"/>
          </a:xfrm>
          <a:prstGeom prst="rect">
            <a:avLst/>
          </a:prstGeom>
          <a:solidFill>
            <a:srgbClr val="F2F2F2"/>
          </a:solidFill>
          <a:ln w="9525">
            <a:solidFill>
              <a:srgbClr val="4A4A4A"/>
            </a:solidFill>
            <a:prstDash val="solid"/>
          </a:ln>
        </p:spPr>
        <p:txBody>
          <a:bodyPr/>
          <a:lstStyle/>
          <a:p>
            <a:endParaRPr lang="en-US">
              <a:solidFill>
                <a:srgbClr val="E9E9E9"/>
              </a:solidFill>
            </a:endParaRPr>
          </a:p>
        </p:txBody>
      </p:sp>
      <p:sp>
        <p:nvSpPr>
          <p:cNvPr id="30" name="Shape 28"/>
          <p:cNvSpPr/>
          <p:nvPr/>
        </p:nvSpPr>
        <p:spPr>
          <a:xfrm>
            <a:off x="2348668" y="5107620"/>
            <a:ext cx="839310" cy="839310"/>
          </a:xfrm>
          <a:prstGeom prst="rect">
            <a:avLst/>
          </a:prstGeom>
          <a:solidFill>
            <a:srgbClr val="E0E0E0"/>
          </a:solidFill>
          <a:ln w="9525">
            <a:solidFill>
              <a:srgbClr val="4A4A4A"/>
            </a:solidFill>
            <a:prstDash val="solid"/>
          </a:ln>
        </p:spPr>
        <p:txBody>
          <a:bodyPr/>
          <a:lstStyle/>
          <a:p>
            <a:endParaRPr lang="en-US">
              <a:solidFill>
                <a:srgbClr val="E9E9E9"/>
              </a:solidFill>
            </a:endParaRPr>
          </a:p>
        </p:txBody>
      </p:sp>
      <p:sp>
        <p:nvSpPr>
          <p:cNvPr id="31" name="Shape 29"/>
          <p:cNvSpPr/>
          <p:nvPr/>
        </p:nvSpPr>
        <p:spPr>
          <a:xfrm>
            <a:off x="3187978" y="5107620"/>
            <a:ext cx="839310" cy="839310"/>
          </a:xfrm>
          <a:prstGeom prst="rect">
            <a:avLst/>
          </a:prstGeom>
          <a:solidFill>
            <a:srgbClr val="CCCCCC"/>
          </a:solidFill>
          <a:ln w="9525">
            <a:solidFill>
              <a:srgbClr val="4A4A4A"/>
            </a:solidFill>
            <a:prstDash val="solid"/>
          </a:ln>
        </p:spPr>
        <p:txBody>
          <a:bodyPr/>
          <a:lstStyle/>
          <a:p>
            <a:endParaRPr lang="en-US">
              <a:solidFill>
                <a:srgbClr val="E9E9E9"/>
              </a:solidFill>
            </a:endParaRPr>
          </a:p>
        </p:txBody>
      </p:sp>
      <p:sp>
        <p:nvSpPr>
          <p:cNvPr id="32" name="Shape 30"/>
          <p:cNvSpPr/>
          <p:nvPr/>
        </p:nvSpPr>
        <p:spPr>
          <a:xfrm>
            <a:off x="4027288" y="5107620"/>
            <a:ext cx="839310" cy="839310"/>
          </a:xfrm>
          <a:prstGeom prst="rect">
            <a:avLst/>
          </a:prstGeom>
          <a:solidFill>
            <a:srgbClr val="B8B8B8"/>
          </a:solidFill>
          <a:ln w="9525">
            <a:solidFill>
              <a:srgbClr val="4A4A4A"/>
            </a:solidFill>
            <a:prstDash val="solid"/>
          </a:ln>
        </p:spPr>
        <p:txBody>
          <a:bodyPr/>
          <a:lstStyle/>
          <a:p>
            <a:endParaRPr lang="en-US">
              <a:solidFill>
                <a:srgbClr val="E9E9E9"/>
              </a:solidFill>
            </a:endParaRPr>
          </a:p>
        </p:txBody>
      </p:sp>
      <p:sp>
        <p:nvSpPr>
          <p:cNvPr id="33" name="Shape 31"/>
          <p:cNvSpPr/>
          <p:nvPr/>
        </p:nvSpPr>
        <p:spPr>
          <a:xfrm>
            <a:off x="4866598" y="5107620"/>
            <a:ext cx="839310" cy="839310"/>
          </a:xfrm>
          <a:prstGeom prst="rect">
            <a:avLst/>
          </a:prstGeom>
          <a:solidFill>
            <a:srgbClr val="EAEAEA"/>
          </a:solidFill>
          <a:ln w="9525">
            <a:solidFill>
              <a:srgbClr val="4A4A4A"/>
            </a:solidFill>
            <a:prstDash val="solid"/>
          </a:ln>
        </p:spPr>
        <p:txBody>
          <a:bodyPr/>
          <a:lstStyle/>
          <a:p>
            <a:endParaRPr lang="en-US">
              <a:solidFill>
                <a:srgbClr val="E9E9E9"/>
              </a:solidFill>
            </a:endParaRPr>
          </a:p>
        </p:txBody>
      </p:sp>
      <p:sp>
        <p:nvSpPr>
          <p:cNvPr id="35" name="Shape 33"/>
          <p:cNvSpPr/>
          <p:nvPr/>
        </p:nvSpPr>
        <p:spPr>
          <a:xfrm>
            <a:off x="6569997" y="1750380"/>
            <a:ext cx="839310" cy="839310"/>
          </a:xfrm>
          <a:prstGeom prst="rect">
            <a:avLst/>
          </a:prstGeom>
          <a:solidFill>
            <a:srgbClr val="000000"/>
          </a:solidFill>
          <a:ln w="9525">
            <a:solidFill>
              <a:srgbClr val="4A4A4A"/>
            </a:solidFill>
            <a:prstDash val="solid"/>
          </a:ln>
        </p:spPr>
        <p:txBody>
          <a:bodyPr/>
          <a:lstStyle/>
          <a:p>
            <a:endParaRPr lang="en-US">
              <a:solidFill>
                <a:srgbClr val="E9E9E9"/>
              </a:solidFill>
            </a:endParaRPr>
          </a:p>
        </p:txBody>
      </p:sp>
      <p:sp>
        <p:nvSpPr>
          <p:cNvPr id="36" name="Shape 34"/>
          <p:cNvSpPr/>
          <p:nvPr/>
        </p:nvSpPr>
        <p:spPr>
          <a:xfrm>
            <a:off x="7409307" y="1750380"/>
            <a:ext cx="839310" cy="839310"/>
          </a:xfrm>
          <a:prstGeom prst="rect">
            <a:avLst/>
          </a:prstGeom>
          <a:solidFill>
            <a:srgbClr val="000000"/>
          </a:solidFill>
          <a:ln w="9525">
            <a:solidFill>
              <a:srgbClr val="4A4A4A"/>
            </a:solidFill>
            <a:prstDash val="solid"/>
          </a:ln>
        </p:spPr>
        <p:txBody>
          <a:bodyPr/>
          <a:lstStyle/>
          <a:p>
            <a:endParaRPr lang="en-US">
              <a:solidFill>
                <a:srgbClr val="E9E9E9"/>
              </a:solidFill>
            </a:endParaRPr>
          </a:p>
        </p:txBody>
      </p:sp>
      <p:sp>
        <p:nvSpPr>
          <p:cNvPr id="37" name="Shape 35"/>
          <p:cNvSpPr/>
          <p:nvPr/>
        </p:nvSpPr>
        <p:spPr>
          <a:xfrm>
            <a:off x="8248617" y="1750380"/>
            <a:ext cx="839310" cy="839310"/>
          </a:xfrm>
          <a:prstGeom prst="rect">
            <a:avLst/>
          </a:prstGeom>
          <a:solidFill>
            <a:srgbClr val="000000"/>
          </a:solidFill>
          <a:ln w="9525">
            <a:solidFill>
              <a:srgbClr val="4A4A4A"/>
            </a:solidFill>
            <a:prstDash val="solid"/>
          </a:ln>
        </p:spPr>
        <p:txBody>
          <a:bodyPr/>
          <a:lstStyle/>
          <a:p>
            <a:endParaRPr lang="en-US">
              <a:solidFill>
                <a:srgbClr val="E9E9E9"/>
              </a:solidFill>
            </a:endParaRPr>
          </a:p>
        </p:txBody>
      </p:sp>
      <p:sp>
        <p:nvSpPr>
          <p:cNvPr id="38" name="Shape 36"/>
          <p:cNvSpPr/>
          <p:nvPr/>
        </p:nvSpPr>
        <p:spPr>
          <a:xfrm>
            <a:off x="9087927" y="1750380"/>
            <a:ext cx="839310" cy="839310"/>
          </a:xfrm>
          <a:prstGeom prst="rect">
            <a:avLst/>
          </a:prstGeom>
          <a:solidFill>
            <a:srgbClr val="000000"/>
          </a:solidFill>
          <a:ln w="9525">
            <a:solidFill>
              <a:srgbClr val="4A4A4A"/>
            </a:solidFill>
            <a:prstDash val="solid"/>
          </a:ln>
        </p:spPr>
        <p:txBody>
          <a:bodyPr/>
          <a:lstStyle/>
          <a:p>
            <a:endParaRPr lang="en-US">
              <a:solidFill>
                <a:srgbClr val="E9E9E9"/>
              </a:solidFill>
            </a:endParaRPr>
          </a:p>
        </p:txBody>
      </p:sp>
      <p:sp>
        <p:nvSpPr>
          <p:cNvPr id="39" name="Shape 37"/>
          <p:cNvSpPr/>
          <p:nvPr/>
        </p:nvSpPr>
        <p:spPr>
          <a:xfrm>
            <a:off x="9927237" y="1750380"/>
            <a:ext cx="839310" cy="839310"/>
          </a:xfrm>
          <a:prstGeom prst="rect">
            <a:avLst/>
          </a:prstGeom>
          <a:solidFill>
            <a:srgbClr val="000000"/>
          </a:solidFill>
          <a:ln w="9525">
            <a:solidFill>
              <a:srgbClr val="4A4A4A"/>
            </a:solidFill>
            <a:prstDash val="solid"/>
          </a:ln>
        </p:spPr>
        <p:txBody>
          <a:bodyPr/>
          <a:lstStyle/>
          <a:p>
            <a:endParaRPr lang="en-US">
              <a:solidFill>
                <a:srgbClr val="E9E9E9"/>
              </a:solidFill>
            </a:endParaRPr>
          </a:p>
        </p:txBody>
      </p:sp>
      <p:sp>
        <p:nvSpPr>
          <p:cNvPr id="40" name="Shape 38"/>
          <p:cNvSpPr/>
          <p:nvPr/>
        </p:nvSpPr>
        <p:spPr>
          <a:xfrm>
            <a:off x="10766547" y="1750380"/>
            <a:ext cx="839310" cy="839310"/>
          </a:xfrm>
          <a:prstGeom prst="rect">
            <a:avLst/>
          </a:prstGeom>
          <a:solidFill>
            <a:srgbClr val="000000"/>
          </a:solidFill>
          <a:ln w="9525">
            <a:solidFill>
              <a:srgbClr val="4A4A4A"/>
            </a:solidFill>
            <a:prstDash val="solid"/>
          </a:ln>
        </p:spPr>
        <p:txBody>
          <a:bodyPr/>
          <a:lstStyle/>
          <a:p>
            <a:endParaRPr lang="en-US">
              <a:solidFill>
                <a:srgbClr val="E9E9E9"/>
              </a:solidFill>
            </a:endParaRPr>
          </a:p>
        </p:txBody>
      </p:sp>
      <p:sp>
        <p:nvSpPr>
          <p:cNvPr id="41" name="Shape 39"/>
          <p:cNvSpPr/>
          <p:nvPr/>
        </p:nvSpPr>
        <p:spPr>
          <a:xfrm>
            <a:off x="6569997" y="2589690"/>
            <a:ext cx="839310" cy="839310"/>
          </a:xfrm>
          <a:prstGeom prst="rect">
            <a:avLst/>
          </a:prstGeom>
          <a:solidFill>
            <a:srgbClr val="000000"/>
          </a:solidFill>
          <a:ln w="9525">
            <a:solidFill>
              <a:srgbClr val="4A4A4A"/>
            </a:solidFill>
            <a:prstDash val="solid"/>
          </a:ln>
        </p:spPr>
        <p:txBody>
          <a:bodyPr/>
          <a:lstStyle/>
          <a:p>
            <a:endParaRPr lang="en-US">
              <a:solidFill>
                <a:srgbClr val="E9E9E9"/>
              </a:solidFill>
            </a:endParaRPr>
          </a:p>
        </p:txBody>
      </p:sp>
      <p:sp>
        <p:nvSpPr>
          <p:cNvPr id="42" name="Shape 40"/>
          <p:cNvSpPr/>
          <p:nvPr/>
        </p:nvSpPr>
        <p:spPr>
          <a:xfrm>
            <a:off x="7409307" y="2589690"/>
            <a:ext cx="839310" cy="839310"/>
          </a:xfrm>
          <a:prstGeom prst="rect">
            <a:avLst/>
          </a:prstGeom>
          <a:solidFill>
            <a:srgbClr val="000000"/>
          </a:solidFill>
          <a:ln w="9525">
            <a:solidFill>
              <a:srgbClr val="4A4A4A"/>
            </a:solidFill>
            <a:prstDash val="solid"/>
          </a:ln>
        </p:spPr>
        <p:txBody>
          <a:bodyPr/>
          <a:lstStyle/>
          <a:p>
            <a:endParaRPr lang="en-US">
              <a:solidFill>
                <a:srgbClr val="E9E9E9"/>
              </a:solidFill>
            </a:endParaRPr>
          </a:p>
        </p:txBody>
      </p:sp>
      <p:sp>
        <p:nvSpPr>
          <p:cNvPr id="43" name="Shape 41"/>
          <p:cNvSpPr/>
          <p:nvPr/>
        </p:nvSpPr>
        <p:spPr>
          <a:xfrm>
            <a:off x="8248617" y="2589690"/>
            <a:ext cx="839310" cy="839310"/>
          </a:xfrm>
          <a:prstGeom prst="rect">
            <a:avLst/>
          </a:prstGeom>
          <a:solidFill>
            <a:srgbClr val="000000"/>
          </a:solidFill>
          <a:ln w="9525">
            <a:solidFill>
              <a:srgbClr val="4A4A4A"/>
            </a:solidFill>
            <a:prstDash val="solid"/>
          </a:ln>
        </p:spPr>
        <p:txBody>
          <a:bodyPr/>
          <a:lstStyle/>
          <a:p>
            <a:endParaRPr lang="en-US">
              <a:solidFill>
                <a:srgbClr val="E9E9E9"/>
              </a:solidFill>
            </a:endParaRPr>
          </a:p>
        </p:txBody>
      </p:sp>
      <p:sp>
        <p:nvSpPr>
          <p:cNvPr id="44" name="Shape 42"/>
          <p:cNvSpPr/>
          <p:nvPr/>
        </p:nvSpPr>
        <p:spPr>
          <a:xfrm>
            <a:off x="9087927" y="2589690"/>
            <a:ext cx="839310" cy="839310"/>
          </a:xfrm>
          <a:prstGeom prst="rect">
            <a:avLst/>
          </a:prstGeom>
          <a:solidFill>
            <a:srgbClr val="000000"/>
          </a:solidFill>
          <a:ln w="9525">
            <a:solidFill>
              <a:srgbClr val="4A4A4A"/>
            </a:solidFill>
            <a:prstDash val="solid"/>
          </a:ln>
        </p:spPr>
        <p:txBody>
          <a:bodyPr/>
          <a:lstStyle/>
          <a:p>
            <a:endParaRPr lang="en-US">
              <a:solidFill>
                <a:srgbClr val="E9E9E9"/>
              </a:solidFill>
            </a:endParaRPr>
          </a:p>
        </p:txBody>
      </p:sp>
      <p:sp>
        <p:nvSpPr>
          <p:cNvPr id="45" name="Shape 43"/>
          <p:cNvSpPr/>
          <p:nvPr/>
        </p:nvSpPr>
        <p:spPr>
          <a:xfrm>
            <a:off x="9927237" y="2589690"/>
            <a:ext cx="839310" cy="839310"/>
          </a:xfrm>
          <a:prstGeom prst="rect">
            <a:avLst/>
          </a:prstGeom>
          <a:solidFill>
            <a:srgbClr val="000000"/>
          </a:solidFill>
          <a:ln w="9525">
            <a:solidFill>
              <a:srgbClr val="4A4A4A"/>
            </a:solidFill>
            <a:prstDash val="solid"/>
          </a:ln>
        </p:spPr>
        <p:txBody>
          <a:bodyPr/>
          <a:lstStyle/>
          <a:p>
            <a:endParaRPr lang="en-US">
              <a:solidFill>
                <a:srgbClr val="E9E9E9"/>
              </a:solidFill>
            </a:endParaRPr>
          </a:p>
        </p:txBody>
      </p:sp>
      <p:sp>
        <p:nvSpPr>
          <p:cNvPr id="46" name="Shape 44"/>
          <p:cNvSpPr/>
          <p:nvPr/>
        </p:nvSpPr>
        <p:spPr>
          <a:xfrm>
            <a:off x="10766547" y="2589690"/>
            <a:ext cx="839310" cy="839310"/>
          </a:xfrm>
          <a:prstGeom prst="rect">
            <a:avLst/>
          </a:prstGeom>
          <a:solidFill>
            <a:srgbClr val="000000"/>
          </a:solidFill>
          <a:ln w="9525">
            <a:solidFill>
              <a:srgbClr val="4A4A4A"/>
            </a:solidFill>
            <a:prstDash val="solid"/>
          </a:ln>
        </p:spPr>
        <p:txBody>
          <a:bodyPr/>
          <a:lstStyle/>
          <a:p>
            <a:endParaRPr lang="en-US">
              <a:solidFill>
                <a:srgbClr val="E9E9E9"/>
              </a:solidFill>
            </a:endParaRPr>
          </a:p>
        </p:txBody>
      </p:sp>
      <p:sp>
        <p:nvSpPr>
          <p:cNvPr id="47" name="Shape 45"/>
          <p:cNvSpPr/>
          <p:nvPr/>
        </p:nvSpPr>
        <p:spPr>
          <a:xfrm>
            <a:off x="6569997" y="3429000"/>
            <a:ext cx="839310" cy="839310"/>
          </a:xfrm>
          <a:prstGeom prst="rect">
            <a:avLst/>
          </a:prstGeom>
          <a:solidFill>
            <a:srgbClr val="000000"/>
          </a:solidFill>
          <a:ln w="9525">
            <a:solidFill>
              <a:srgbClr val="4A4A4A"/>
            </a:solidFill>
            <a:prstDash val="solid"/>
          </a:ln>
        </p:spPr>
        <p:txBody>
          <a:bodyPr/>
          <a:lstStyle/>
          <a:p>
            <a:endParaRPr lang="en-US">
              <a:solidFill>
                <a:srgbClr val="E9E9E9"/>
              </a:solidFill>
            </a:endParaRPr>
          </a:p>
        </p:txBody>
      </p:sp>
      <p:sp>
        <p:nvSpPr>
          <p:cNvPr id="48" name="Shape 46"/>
          <p:cNvSpPr/>
          <p:nvPr/>
        </p:nvSpPr>
        <p:spPr>
          <a:xfrm>
            <a:off x="7409307" y="3429000"/>
            <a:ext cx="839310" cy="839310"/>
          </a:xfrm>
          <a:prstGeom prst="rect">
            <a:avLst/>
          </a:prstGeom>
          <a:solidFill>
            <a:srgbClr val="000000"/>
          </a:solidFill>
          <a:ln w="9525">
            <a:solidFill>
              <a:srgbClr val="4A4A4A"/>
            </a:solidFill>
            <a:prstDash val="solid"/>
          </a:ln>
        </p:spPr>
        <p:txBody>
          <a:bodyPr/>
          <a:lstStyle/>
          <a:p>
            <a:endParaRPr lang="en-US">
              <a:solidFill>
                <a:srgbClr val="E9E9E9"/>
              </a:solidFill>
            </a:endParaRPr>
          </a:p>
        </p:txBody>
      </p:sp>
      <p:sp>
        <p:nvSpPr>
          <p:cNvPr id="49" name="Shape 47"/>
          <p:cNvSpPr/>
          <p:nvPr/>
        </p:nvSpPr>
        <p:spPr>
          <a:xfrm>
            <a:off x="8248617" y="3429000"/>
            <a:ext cx="839310" cy="839310"/>
          </a:xfrm>
          <a:prstGeom prst="rect">
            <a:avLst/>
          </a:prstGeom>
          <a:solidFill>
            <a:srgbClr val="000000"/>
          </a:solidFill>
          <a:ln w="9525">
            <a:solidFill>
              <a:srgbClr val="4A4A4A"/>
            </a:solidFill>
            <a:prstDash val="solid"/>
          </a:ln>
        </p:spPr>
        <p:txBody>
          <a:bodyPr/>
          <a:lstStyle/>
          <a:p>
            <a:endParaRPr lang="en-US">
              <a:solidFill>
                <a:srgbClr val="E9E9E9"/>
              </a:solidFill>
            </a:endParaRPr>
          </a:p>
        </p:txBody>
      </p:sp>
      <p:sp>
        <p:nvSpPr>
          <p:cNvPr id="50" name="Shape 48"/>
          <p:cNvSpPr/>
          <p:nvPr/>
        </p:nvSpPr>
        <p:spPr>
          <a:xfrm>
            <a:off x="9087927" y="3429000"/>
            <a:ext cx="839310" cy="839310"/>
          </a:xfrm>
          <a:prstGeom prst="rect">
            <a:avLst/>
          </a:prstGeom>
          <a:solidFill>
            <a:srgbClr val="000000"/>
          </a:solidFill>
          <a:ln w="9525">
            <a:solidFill>
              <a:srgbClr val="4A4A4A"/>
            </a:solidFill>
            <a:prstDash val="solid"/>
          </a:ln>
        </p:spPr>
        <p:txBody>
          <a:bodyPr/>
          <a:lstStyle/>
          <a:p>
            <a:endParaRPr lang="en-US">
              <a:solidFill>
                <a:srgbClr val="E9E9E9"/>
              </a:solidFill>
            </a:endParaRPr>
          </a:p>
        </p:txBody>
      </p:sp>
      <p:sp>
        <p:nvSpPr>
          <p:cNvPr id="51" name="Shape 49"/>
          <p:cNvSpPr/>
          <p:nvPr/>
        </p:nvSpPr>
        <p:spPr>
          <a:xfrm>
            <a:off x="9927237" y="3429000"/>
            <a:ext cx="839310" cy="839310"/>
          </a:xfrm>
          <a:prstGeom prst="rect">
            <a:avLst/>
          </a:prstGeom>
          <a:solidFill>
            <a:srgbClr val="000000"/>
          </a:solidFill>
          <a:ln w="9525">
            <a:solidFill>
              <a:srgbClr val="4A4A4A"/>
            </a:solidFill>
            <a:prstDash val="solid"/>
          </a:ln>
        </p:spPr>
        <p:txBody>
          <a:bodyPr/>
          <a:lstStyle/>
          <a:p>
            <a:endParaRPr lang="en-US">
              <a:solidFill>
                <a:srgbClr val="E9E9E9"/>
              </a:solidFill>
            </a:endParaRPr>
          </a:p>
        </p:txBody>
      </p:sp>
      <p:sp>
        <p:nvSpPr>
          <p:cNvPr id="52" name="Shape 50"/>
          <p:cNvSpPr/>
          <p:nvPr/>
        </p:nvSpPr>
        <p:spPr>
          <a:xfrm>
            <a:off x="10766547" y="3429000"/>
            <a:ext cx="839310" cy="839310"/>
          </a:xfrm>
          <a:prstGeom prst="rect">
            <a:avLst/>
          </a:prstGeom>
          <a:solidFill>
            <a:srgbClr val="000000"/>
          </a:solidFill>
          <a:ln w="9525">
            <a:solidFill>
              <a:srgbClr val="4A4A4A"/>
            </a:solidFill>
            <a:prstDash val="solid"/>
          </a:ln>
        </p:spPr>
        <p:txBody>
          <a:bodyPr/>
          <a:lstStyle/>
          <a:p>
            <a:endParaRPr lang="en-US">
              <a:solidFill>
                <a:srgbClr val="E9E9E9"/>
              </a:solidFill>
            </a:endParaRPr>
          </a:p>
        </p:txBody>
      </p:sp>
      <p:sp>
        <p:nvSpPr>
          <p:cNvPr id="53" name="Shape 51"/>
          <p:cNvSpPr/>
          <p:nvPr/>
        </p:nvSpPr>
        <p:spPr>
          <a:xfrm>
            <a:off x="6569997" y="4268310"/>
            <a:ext cx="839310" cy="839310"/>
          </a:xfrm>
          <a:prstGeom prst="rect">
            <a:avLst/>
          </a:prstGeom>
          <a:solidFill>
            <a:srgbClr val="000000"/>
          </a:solidFill>
          <a:ln w="9525">
            <a:solidFill>
              <a:srgbClr val="4A4A4A"/>
            </a:solidFill>
            <a:prstDash val="solid"/>
          </a:ln>
        </p:spPr>
        <p:txBody>
          <a:bodyPr/>
          <a:lstStyle/>
          <a:p>
            <a:endParaRPr lang="en-US">
              <a:solidFill>
                <a:srgbClr val="E9E9E9"/>
              </a:solidFill>
            </a:endParaRPr>
          </a:p>
        </p:txBody>
      </p:sp>
      <p:sp>
        <p:nvSpPr>
          <p:cNvPr id="54" name="Shape 52"/>
          <p:cNvSpPr/>
          <p:nvPr/>
        </p:nvSpPr>
        <p:spPr>
          <a:xfrm>
            <a:off x="7409307" y="4268310"/>
            <a:ext cx="839310" cy="839310"/>
          </a:xfrm>
          <a:prstGeom prst="rect">
            <a:avLst/>
          </a:prstGeom>
          <a:solidFill>
            <a:srgbClr val="000000"/>
          </a:solidFill>
          <a:ln w="9525">
            <a:solidFill>
              <a:srgbClr val="4A4A4A"/>
            </a:solidFill>
            <a:prstDash val="solid"/>
          </a:ln>
        </p:spPr>
        <p:txBody>
          <a:bodyPr/>
          <a:lstStyle/>
          <a:p>
            <a:endParaRPr lang="en-US">
              <a:solidFill>
                <a:srgbClr val="E9E9E9"/>
              </a:solidFill>
            </a:endParaRPr>
          </a:p>
        </p:txBody>
      </p:sp>
      <p:sp>
        <p:nvSpPr>
          <p:cNvPr id="55" name="Shape 53"/>
          <p:cNvSpPr/>
          <p:nvPr/>
        </p:nvSpPr>
        <p:spPr>
          <a:xfrm>
            <a:off x="8248617" y="4268310"/>
            <a:ext cx="839310" cy="839310"/>
          </a:xfrm>
          <a:prstGeom prst="rect">
            <a:avLst/>
          </a:prstGeom>
          <a:solidFill>
            <a:srgbClr val="000000"/>
          </a:solidFill>
          <a:ln w="9525">
            <a:solidFill>
              <a:srgbClr val="4A4A4A"/>
            </a:solidFill>
            <a:prstDash val="solid"/>
          </a:ln>
        </p:spPr>
        <p:txBody>
          <a:bodyPr/>
          <a:lstStyle/>
          <a:p>
            <a:endParaRPr lang="en-US">
              <a:solidFill>
                <a:srgbClr val="E9E9E9"/>
              </a:solidFill>
            </a:endParaRPr>
          </a:p>
        </p:txBody>
      </p:sp>
      <p:sp>
        <p:nvSpPr>
          <p:cNvPr id="56" name="Shape 54"/>
          <p:cNvSpPr/>
          <p:nvPr/>
        </p:nvSpPr>
        <p:spPr>
          <a:xfrm>
            <a:off x="9087927" y="4268310"/>
            <a:ext cx="839310" cy="839310"/>
          </a:xfrm>
          <a:prstGeom prst="rect">
            <a:avLst/>
          </a:prstGeom>
          <a:solidFill>
            <a:srgbClr val="000000"/>
          </a:solidFill>
          <a:ln w="9525">
            <a:solidFill>
              <a:srgbClr val="4A4A4A"/>
            </a:solidFill>
            <a:prstDash val="solid"/>
          </a:ln>
        </p:spPr>
        <p:txBody>
          <a:bodyPr/>
          <a:lstStyle/>
          <a:p>
            <a:endParaRPr lang="en-US">
              <a:solidFill>
                <a:srgbClr val="E9E9E9"/>
              </a:solidFill>
            </a:endParaRPr>
          </a:p>
        </p:txBody>
      </p:sp>
      <p:sp>
        <p:nvSpPr>
          <p:cNvPr id="57" name="Shape 55"/>
          <p:cNvSpPr/>
          <p:nvPr/>
        </p:nvSpPr>
        <p:spPr>
          <a:xfrm>
            <a:off x="9927237" y="4268310"/>
            <a:ext cx="839310" cy="839310"/>
          </a:xfrm>
          <a:prstGeom prst="rect">
            <a:avLst/>
          </a:prstGeom>
          <a:solidFill>
            <a:srgbClr val="000000"/>
          </a:solidFill>
          <a:ln w="9525">
            <a:solidFill>
              <a:srgbClr val="4A4A4A"/>
            </a:solidFill>
            <a:prstDash val="solid"/>
          </a:ln>
        </p:spPr>
        <p:txBody>
          <a:bodyPr/>
          <a:lstStyle/>
          <a:p>
            <a:endParaRPr lang="en-US">
              <a:solidFill>
                <a:srgbClr val="E9E9E9"/>
              </a:solidFill>
            </a:endParaRPr>
          </a:p>
        </p:txBody>
      </p:sp>
      <p:sp>
        <p:nvSpPr>
          <p:cNvPr id="58" name="Shape 56"/>
          <p:cNvSpPr/>
          <p:nvPr/>
        </p:nvSpPr>
        <p:spPr>
          <a:xfrm>
            <a:off x="10766547" y="4268310"/>
            <a:ext cx="839310" cy="839310"/>
          </a:xfrm>
          <a:prstGeom prst="rect">
            <a:avLst/>
          </a:prstGeom>
          <a:solidFill>
            <a:srgbClr val="000000"/>
          </a:solidFill>
          <a:ln w="9525">
            <a:solidFill>
              <a:srgbClr val="4A4A4A"/>
            </a:solidFill>
            <a:prstDash val="solid"/>
          </a:ln>
        </p:spPr>
        <p:txBody>
          <a:bodyPr/>
          <a:lstStyle/>
          <a:p>
            <a:endParaRPr lang="en-US">
              <a:solidFill>
                <a:srgbClr val="E9E9E9"/>
              </a:solidFill>
            </a:endParaRPr>
          </a:p>
        </p:txBody>
      </p:sp>
      <p:sp>
        <p:nvSpPr>
          <p:cNvPr id="59" name="Shape 57"/>
          <p:cNvSpPr/>
          <p:nvPr/>
        </p:nvSpPr>
        <p:spPr>
          <a:xfrm>
            <a:off x="6569997" y="5107620"/>
            <a:ext cx="839310" cy="839310"/>
          </a:xfrm>
          <a:prstGeom prst="rect">
            <a:avLst/>
          </a:prstGeom>
          <a:solidFill>
            <a:srgbClr val="000000"/>
          </a:solidFill>
          <a:ln w="9525">
            <a:solidFill>
              <a:srgbClr val="4A4A4A"/>
            </a:solidFill>
            <a:prstDash val="solid"/>
          </a:ln>
        </p:spPr>
        <p:txBody>
          <a:bodyPr/>
          <a:lstStyle/>
          <a:p>
            <a:endParaRPr lang="en-US">
              <a:solidFill>
                <a:srgbClr val="E9E9E9"/>
              </a:solidFill>
            </a:endParaRPr>
          </a:p>
        </p:txBody>
      </p:sp>
      <p:sp>
        <p:nvSpPr>
          <p:cNvPr id="60" name="Shape 58"/>
          <p:cNvSpPr/>
          <p:nvPr/>
        </p:nvSpPr>
        <p:spPr>
          <a:xfrm>
            <a:off x="7409307" y="5107620"/>
            <a:ext cx="839310" cy="839310"/>
          </a:xfrm>
          <a:prstGeom prst="rect">
            <a:avLst/>
          </a:prstGeom>
          <a:solidFill>
            <a:srgbClr val="000000"/>
          </a:solidFill>
          <a:ln w="9525">
            <a:solidFill>
              <a:srgbClr val="4A4A4A"/>
            </a:solidFill>
            <a:prstDash val="solid"/>
          </a:ln>
        </p:spPr>
        <p:txBody>
          <a:bodyPr/>
          <a:lstStyle/>
          <a:p>
            <a:endParaRPr lang="en-US">
              <a:solidFill>
                <a:srgbClr val="E9E9E9"/>
              </a:solidFill>
            </a:endParaRPr>
          </a:p>
        </p:txBody>
      </p:sp>
      <p:sp>
        <p:nvSpPr>
          <p:cNvPr id="61" name="Shape 59"/>
          <p:cNvSpPr/>
          <p:nvPr/>
        </p:nvSpPr>
        <p:spPr>
          <a:xfrm>
            <a:off x="8248617" y="5107620"/>
            <a:ext cx="839310" cy="839310"/>
          </a:xfrm>
          <a:prstGeom prst="rect">
            <a:avLst/>
          </a:prstGeom>
          <a:solidFill>
            <a:srgbClr val="000000"/>
          </a:solidFill>
          <a:ln w="9525">
            <a:solidFill>
              <a:srgbClr val="4A4A4A"/>
            </a:solidFill>
            <a:prstDash val="solid"/>
          </a:ln>
        </p:spPr>
        <p:txBody>
          <a:bodyPr/>
          <a:lstStyle/>
          <a:p>
            <a:endParaRPr lang="en-US">
              <a:solidFill>
                <a:srgbClr val="E9E9E9"/>
              </a:solidFill>
            </a:endParaRPr>
          </a:p>
        </p:txBody>
      </p:sp>
      <p:sp>
        <p:nvSpPr>
          <p:cNvPr id="62" name="Shape 60"/>
          <p:cNvSpPr/>
          <p:nvPr/>
        </p:nvSpPr>
        <p:spPr>
          <a:xfrm>
            <a:off x="9087927" y="5107620"/>
            <a:ext cx="839310" cy="839310"/>
          </a:xfrm>
          <a:prstGeom prst="rect">
            <a:avLst/>
          </a:prstGeom>
          <a:solidFill>
            <a:srgbClr val="000000"/>
          </a:solidFill>
          <a:ln w="9525">
            <a:solidFill>
              <a:srgbClr val="4A4A4A"/>
            </a:solidFill>
            <a:prstDash val="solid"/>
          </a:ln>
        </p:spPr>
        <p:txBody>
          <a:bodyPr/>
          <a:lstStyle/>
          <a:p>
            <a:endParaRPr lang="en-US">
              <a:solidFill>
                <a:srgbClr val="E9E9E9"/>
              </a:solidFill>
            </a:endParaRPr>
          </a:p>
        </p:txBody>
      </p:sp>
      <p:sp>
        <p:nvSpPr>
          <p:cNvPr id="63" name="Shape 61"/>
          <p:cNvSpPr/>
          <p:nvPr/>
        </p:nvSpPr>
        <p:spPr>
          <a:xfrm>
            <a:off x="9927237" y="5107620"/>
            <a:ext cx="839310" cy="839310"/>
          </a:xfrm>
          <a:prstGeom prst="rect">
            <a:avLst/>
          </a:prstGeom>
          <a:solidFill>
            <a:srgbClr val="000000"/>
          </a:solidFill>
          <a:ln w="9525">
            <a:solidFill>
              <a:srgbClr val="4A4A4A"/>
            </a:solidFill>
            <a:prstDash val="solid"/>
          </a:ln>
        </p:spPr>
        <p:txBody>
          <a:bodyPr/>
          <a:lstStyle/>
          <a:p>
            <a:endParaRPr lang="en-US">
              <a:solidFill>
                <a:srgbClr val="E9E9E9"/>
              </a:solidFill>
            </a:endParaRPr>
          </a:p>
        </p:txBody>
      </p:sp>
      <p:sp>
        <p:nvSpPr>
          <p:cNvPr id="64" name="Shape 62"/>
          <p:cNvSpPr/>
          <p:nvPr/>
        </p:nvSpPr>
        <p:spPr>
          <a:xfrm>
            <a:off x="10766547" y="5107620"/>
            <a:ext cx="839310" cy="839310"/>
          </a:xfrm>
          <a:prstGeom prst="rect">
            <a:avLst/>
          </a:prstGeom>
          <a:solidFill>
            <a:srgbClr val="000000"/>
          </a:solidFill>
          <a:ln w="9525">
            <a:solidFill>
              <a:srgbClr val="4A4A4A"/>
            </a:solidFill>
            <a:prstDash val="solid"/>
          </a:ln>
        </p:spPr>
        <p:txBody>
          <a:bodyPr/>
          <a:lstStyle/>
          <a:p>
            <a:endParaRPr lang="en-US">
              <a:solidFill>
                <a:srgbClr val="E9E9E9"/>
              </a:solidFill>
            </a:endParaRPr>
          </a:p>
        </p:txBody>
      </p:sp>
      <p:sp>
        <p:nvSpPr>
          <p:cNvPr id="65" name="Shape 63"/>
          <p:cNvSpPr/>
          <p:nvPr/>
        </p:nvSpPr>
        <p:spPr>
          <a:xfrm>
            <a:off x="7089569" y="2431789"/>
            <a:ext cx="2517930" cy="1678620"/>
          </a:xfrm>
          <a:prstGeom prst="rect">
            <a:avLst/>
          </a:prstGeom>
          <a:ln w="25400">
            <a:solidFill>
              <a:srgbClr val="FFCC00"/>
            </a:solidFill>
            <a:prstDash val="solid"/>
          </a:ln>
        </p:spPr>
        <p:txBody>
          <a:bodyPr/>
          <a:lstStyle/>
          <a:p>
            <a:endParaRPr lang="en-US">
              <a:solidFill>
                <a:srgbClr val="E9E9E9"/>
              </a:solidFill>
            </a:endParaRPr>
          </a:p>
        </p:txBody>
      </p:sp>
      <p:sp>
        <p:nvSpPr>
          <p:cNvPr id="66" name="Shape 64"/>
          <p:cNvSpPr/>
          <p:nvPr/>
        </p:nvSpPr>
        <p:spPr>
          <a:xfrm>
            <a:off x="10330906" y="2070117"/>
            <a:ext cx="199835" cy="199835"/>
          </a:xfrm>
          <a:prstGeom prst="ellipse">
            <a:avLst/>
          </a:prstGeom>
          <a:solidFill>
            <a:srgbClr val="FFCC00"/>
          </a:solidFill>
          <a:ln w="12700">
            <a:solidFill>
              <a:srgbClr val="FFCC00"/>
            </a:solidFill>
            <a:prstDash val="solid"/>
          </a:ln>
        </p:spPr>
        <p:txBody>
          <a:bodyPr/>
          <a:lstStyle/>
          <a:p>
            <a:endParaRPr lang="en-US">
              <a:solidFill>
                <a:srgbClr val="E9E9E9"/>
              </a:solidFill>
            </a:endParaRPr>
          </a:p>
        </p:txBody>
      </p:sp>
      <p:sp>
        <p:nvSpPr>
          <p:cNvPr id="67" name="Shape 65"/>
          <p:cNvSpPr/>
          <p:nvPr/>
        </p:nvSpPr>
        <p:spPr>
          <a:xfrm>
            <a:off x="10918422" y="4252324"/>
            <a:ext cx="199835" cy="199835"/>
          </a:xfrm>
          <a:prstGeom prst="ellipse">
            <a:avLst/>
          </a:prstGeom>
          <a:solidFill>
            <a:srgbClr val="FFCC00"/>
          </a:solidFill>
          <a:ln w="12700">
            <a:solidFill>
              <a:srgbClr val="FFCC00"/>
            </a:solidFill>
            <a:prstDash val="solid"/>
          </a:ln>
        </p:spPr>
        <p:txBody>
          <a:bodyPr/>
          <a:lstStyle/>
          <a:p>
            <a:endParaRPr lang="en-US">
              <a:solidFill>
                <a:srgbClr val="E9E9E9"/>
              </a:solidFill>
            </a:endParaRPr>
          </a:p>
        </p:txBody>
      </p:sp>
      <p:sp>
        <p:nvSpPr>
          <p:cNvPr id="68" name="Shape 66"/>
          <p:cNvSpPr/>
          <p:nvPr/>
        </p:nvSpPr>
        <p:spPr>
          <a:xfrm>
            <a:off x="6889734" y="5259495"/>
            <a:ext cx="199835" cy="199835"/>
          </a:xfrm>
          <a:prstGeom prst="ellipse">
            <a:avLst/>
          </a:prstGeom>
          <a:solidFill>
            <a:srgbClr val="FFCC00"/>
          </a:solidFill>
          <a:ln w="12700">
            <a:solidFill>
              <a:srgbClr val="FFCC00"/>
            </a:solidFill>
            <a:prstDash val="solid"/>
          </a:ln>
        </p:spPr>
        <p:txBody>
          <a:bodyPr/>
          <a:lstStyle/>
          <a:p>
            <a:endParaRPr lang="en-US">
              <a:solidFill>
                <a:srgbClr val="E9E9E9"/>
              </a:solidFill>
            </a:endParaRPr>
          </a:p>
        </p:txBody>
      </p:sp>
      <p:sp>
        <p:nvSpPr>
          <p:cNvPr id="70" name="Text 2">
            <a:extLst>
              <a:ext uri="{FF2B5EF4-FFF2-40B4-BE49-F238E27FC236}">
                <a16:creationId xmlns:a16="http://schemas.microsoft.com/office/drawing/2014/main" id="{260EEB5C-FC28-E0E9-2F62-723266ADDA92}"/>
              </a:ext>
            </a:extLst>
          </p:cNvPr>
          <p:cNvSpPr txBox="1"/>
          <p:nvPr/>
        </p:nvSpPr>
        <p:spPr>
          <a:xfrm>
            <a:off x="787663" y="1033727"/>
            <a:ext cx="5410048" cy="3200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Rasters</a:t>
            </a:r>
            <a:endParaRPr lang="en-US" sz="2800" dirty="0">
              <a:solidFill>
                <a:srgbClr val="E9E9E9"/>
              </a:solidFill>
            </a:endParaRPr>
          </a:p>
        </p:txBody>
      </p:sp>
      <p:sp>
        <p:nvSpPr>
          <p:cNvPr id="71" name="Text 3">
            <a:extLst>
              <a:ext uri="{FF2B5EF4-FFF2-40B4-BE49-F238E27FC236}">
                <a16:creationId xmlns:a16="http://schemas.microsoft.com/office/drawing/2014/main" id="{5F3338CE-2B05-8E50-DEE9-AD3C70900D26}"/>
              </a:ext>
            </a:extLst>
          </p:cNvPr>
          <p:cNvSpPr txBox="1"/>
          <p:nvPr/>
        </p:nvSpPr>
        <p:spPr>
          <a:xfrm>
            <a:off x="787663" y="1353767"/>
            <a:ext cx="5410048" cy="457200"/>
          </a:xfrm>
          <a:prstGeom prst="rect">
            <a:avLst/>
          </a:prstGeom>
          <a:noFill/>
          <a:ln/>
        </p:spPr>
        <p:txBody>
          <a:bodyPr wrap="square" lIns="0" tIns="0" rIns="0" bIns="0" rtlCol="0" anchor="t"/>
          <a:lstStyle/>
          <a:p>
            <a:pPr marL="0" indent="0" algn="l">
              <a:lnSpc>
                <a:spcPct val="105000"/>
              </a:lnSpc>
              <a:buNone/>
            </a:pPr>
            <a:r>
              <a:rPr lang="en-US" dirty="0">
                <a:solidFill>
                  <a:srgbClr val="E9E9E9"/>
                </a:solidFill>
                <a:latin typeface="Calibri" pitchFamily="34" charset="0"/>
                <a:ea typeface="Calibri" pitchFamily="34" charset="-122"/>
                <a:cs typeface="Calibri" pitchFamily="34" charset="-120"/>
              </a:rPr>
              <a:t>A grid of values over space, at some resolution.</a:t>
            </a:r>
            <a:endParaRPr lang="en-US" dirty="0">
              <a:solidFill>
                <a:srgbClr val="E9E9E9"/>
              </a:solidFill>
            </a:endParaRPr>
          </a:p>
        </p:txBody>
      </p:sp>
      <p:sp>
        <p:nvSpPr>
          <p:cNvPr id="72" name="Text 5">
            <a:extLst>
              <a:ext uri="{FF2B5EF4-FFF2-40B4-BE49-F238E27FC236}">
                <a16:creationId xmlns:a16="http://schemas.microsoft.com/office/drawing/2014/main" id="{547819B9-E003-D2D5-36AC-E9D162FC0CD5}"/>
              </a:ext>
            </a:extLst>
          </p:cNvPr>
          <p:cNvSpPr txBox="1"/>
          <p:nvPr/>
        </p:nvSpPr>
        <p:spPr>
          <a:xfrm>
            <a:off x="6563471" y="1033727"/>
            <a:ext cx="5410048" cy="3200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Vectors</a:t>
            </a:r>
            <a:endParaRPr lang="en-US" sz="2800" dirty="0">
              <a:solidFill>
                <a:srgbClr val="E9E9E9"/>
              </a:solidFill>
            </a:endParaRPr>
          </a:p>
        </p:txBody>
      </p:sp>
      <p:sp>
        <p:nvSpPr>
          <p:cNvPr id="73" name="Text 6">
            <a:extLst>
              <a:ext uri="{FF2B5EF4-FFF2-40B4-BE49-F238E27FC236}">
                <a16:creationId xmlns:a16="http://schemas.microsoft.com/office/drawing/2014/main" id="{34393695-2780-E0AF-9669-190782A48218}"/>
              </a:ext>
            </a:extLst>
          </p:cNvPr>
          <p:cNvSpPr txBox="1"/>
          <p:nvPr/>
        </p:nvSpPr>
        <p:spPr>
          <a:xfrm>
            <a:off x="6563471" y="1353767"/>
            <a:ext cx="5410048" cy="457200"/>
          </a:xfrm>
          <a:prstGeom prst="rect">
            <a:avLst/>
          </a:prstGeom>
          <a:noFill/>
          <a:ln/>
        </p:spPr>
        <p:txBody>
          <a:bodyPr wrap="square" lIns="0" tIns="0" rIns="0" bIns="0" rtlCol="0" anchor="t"/>
          <a:lstStyle/>
          <a:p>
            <a:pPr marL="0" indent="0" algn="l">
              <a:lnSpc>
                <a:spcPct val="105000"/>
              </a:lnSpc>
              <a:buNone/>
            </a:pPr>
            <a:r>
              <a:rPr lang="en-US" dirty="0">
                <a:solidFill>
                  <a:srgbClr val="E9E9E9"/>
                </a:solidFill>
                <a:latin typeface="Calibri" pitchFamily="34" charset="0"/>
                <a:ea typeface="Calibri" pitchFamily="34" charset="-122"/>
                <a:cs typeface="Calibri" pitchFamily="34" charset="-120"/>
              </a:rPr>
              <a:t>Discrete features with geometry: points, lines or polygons.</a:t>
            </a:r>
            <a:endParaRPr lang="en-US" dirty="0">
              <a:solidFill>
                <a:srgbClr val="E9E9E9"/>
              </a:solidFill>
            </a:endParaRPr>
          </a:p>
        </p:txBody>
      </p:sp>
      <p:sp>
        <p:nvSpPr>
          <p:cNvPr id="74" name="Text 1">
            <a:extLst>
              <a:ext uri="{FF2B5EF4-FFF2-40B4-BE49-F238E27FC236}">
                <a16:creationId xmlns:a16="http://schemas.microsoft.com/office/drawing/2014/main" id="{AD2F3DB7-E59F-5DA9-AA0A-5D2AA35B3167}"/>
              </a:ext>
            </a:extLst>
          </p:cNvPr>
          <p:cNvSpPr txBox="1"/>
          <p:nvPr/>
        </p:nvSpPr>
        <p:spPr>
          <a:xfrm>
            <a:off x="761017" y="371089"/>
            <a:ext cx="11185855" cy="685800"/>
          </a:xfrm>
          <a:prstGeom prst="rect">
            <a:avLst/>
          </a:prstGeom>
          <a:noFill/>
          <a:ln/>
        </p:spPr>
        <p:txBody>
          <a:bodyPr wrap="square" lIns="0" tIns="0" rIns="0" bIns="0" rtlCol="0" anchor="t"/>
          <a:lstStyle/>
          <a:p>
            <a:pPr marL="0" indent="0">
              <a:buNone/>
            </a:pPr>
            <a:r>
              <a:rPr lang="en-US" sz="2600" b="1" dirty="0">
                <a:solidFill>
                  <a:schemeClr val="accent4"/>
                </a:solidFill>
                <a:latin typeface="Calibri" pitchFamily="34" charset="0"/>
                <a:ea typeface="Calibri" pitchFamily="34" charset="-122"/>
                <a:cs typeface="Calibri" pitchFamily="34" charset="-120"/>
              </a:rPr>
              <a:t>Two kinds of spatial data</a:t>
            </a:r>
            <a:endParaRPr lang="en-US" sz="2600" dirty="0">
              <a:solidFill>
                <a:schemeClr val="accent4"/>
              </a:solidFill>
            </a:endParaRPr>
          </a:p>
        </p:txBody>
      </p:sp>
    </p:spTree>
    <p:extLst>
      <p:ext uri="{BB962C8B-B14F-4D97-AF65-F5344CB8AC3E}">
        <p14:creationId xmlns:p14="http://schemas.microsoft.com/office/powerpoint/2010/main" val="38156176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5">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10722305" y="6886907"/>
            <a:ext cx="1188720" cy="274320"/>
          </a:xfrm>
          <a:prstGeom prst="rect">
            <a:avLst/>
          </a:prstGeom>
          <a:noFill/>
          <a:ln/>
        </p:spPr>
        <p:txBody>
          <a:bodyPr wrap="square" lIns="0" tIns="0" rIns="0" bIns="0"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5 / 54</a:t>
            </a:r>
            <a:endParaRPr lang="en-US" sz="900" dirty="0">
              <a:solidFill>
                <a:srgbClr val="E9E9E9"/>
              </a:solidFill>
            </a:endParaRPr>
          </a:p>
        </p:txBody>
      </p:sp>
      <p:sp>
        <p:nvSpPr>
          <p:cNvPr id="3" name="Text 1"/>
          <p:cNvSpPr txBox="1"/>
          <p:nvPr/>
        </p:nvSpPr>
        <p:spPr>
          <a:xfrm>
            <a:off x="496722" y="1074879"/>
            <a:ext cx="11185855" cy="685800"/>
          </a:xfrm>
          <a:prstGeom prst="rect">
            <a:avLst/>
          </a:prstGeom>
          <a:noFill/>
          <a:ln/>
        </p:spPr>
        <p:txBody>
          <a:bodyPr wrap="square" lIns="0" tIns="0" rIns="0" bIns="0" rtlCol="0" anchor="t"/>
          <a:lstStyle/>
          <a:p>
            <a:pPr marL="0" indent="0">
              <a:buNone/>
            </a:pPr>
            <a:r>
              <a:rPr lang="en-US" sz="2600" b="1" dirty="0">
                <a:solidFill>
                  <a:srgbClr val="FFFFFF"/>
                </a:solidFill>
                <a:latin typeface="Calibri" pitchFamily="34" charset="0"/>
                <a:ea typeface="Calibri" pitchFamily="34" charset="-122"/>
                <a:cs typeface="Calibri" pitchFamily="34" charset="-120"/>
              </a:rPr>
              <a:t>Quick point on coordinates </a:t>
            </a:r>
            <a:r>
              <a:rPr lang="en-US" sz="2600" dirty="0">
                <a:solidFill>
                  <a:srgbClr val="FFFFFF"/>
                </a:solidFill>
                <a:latin typeface="Calibri" pitchFamily="34" charset="0"/>
                <a:ea typeface="Calibri" pitchFamily="34" charset="-122"/>
                <a:cs typeface="Calibri" pitchFamily="34" charset="-120"/>
              </a:rPr>
              <a:t>(…the module doesn’t really get into this)</a:t>
            </a:r>
            <a:endParaRPr lang="en-US" sz="2600" dirty="0">
              <a:solidFill>
                <a:srgbClr val="E9E9E9"/>
              </a:solidFill>
            </a:endParaRPr>
          </a:p>
        </p:txBody>
      </p:sp>
      <p:sp>
        <p:nvSpPr>
          <p:cNvPr id="102" name="Shape 102"/>
          <p:cNvSpPr/>
          <p:nvPr/>
        </p:nvSpPr>
        <p:spPr>
          <a:xfrm>
            <a:off x="501650" y="1797255"/>
            <a:ext cx="3594100" cy="2616200"/>
          </a:xfrm>
          <a:prstGeom prst="rect">
            <a:avLst/>
          </a:prstGeom>
          <a:solidFill>
            <a:srgbClr val="1F1F1F"/>
          </a:solidFill>
          <a:ln>
            <a:noFill/>
          </a:ln>
        </p:spPr>
        <p:txBody>
          <a:bodyPr wrap="square" lIns="177800" tIns="177800" rIns="177800" bIns="177800" anchor="t">
            <a:noAutofit/>
          </a:bodyPr>
          <a:lstStyle/>
          <a:p>
            <a:pPr marL="0" indent="0">
              <a:spcAft>
                <a:spcPts val="800"/>
              </a:spcAft>
              <a:buNone/>
            </a:pPr>
            <a:r>
              <a:rPr lang="en-US" sz="2200" b="1" dirty="0">
                <a:solidFill>
                  <a:srgbClr val="E9E9E9"/>
                </a:solidFill>
                <a:latin typeface="Calibri" pitchFamily="34" charset="0"/>
                <a:ea typeface="Calibri" pitchFamily="34" charset="-122"/>
                <a:cs typeface="Calibri" pitchFamily="34" charset="-120"/>
              </a:rPr>
              <a:t>Reference system (CRS)</a:t>
            </a:r>
            <a:endParaRPr lang="en-US" b="1" dirty="0">
              <a:solidFill>
                <a:srgbClr val="E9E9E9"/>
              </a:solidFill>
              <a:latin typeface="Calibri" pitchFamily="34" charset="0"/>
              <a:ea typeface="Calibri" pitchFamily="34" charset="-122"/>
              <a:cs typeface="Calibri" pitchFamily="34" charset="-120"/>
            </a:endParaRPr>
          </a:p>
          <a:p>
            <a:pPr marL="228600" indent="-228600">
              <a:spcAft>
                <a:spcPts val="800"/>
              </a:spcAft>
              <a:buFont typeface="Arial"/>
              <a:buChar char="•"/>
            </a:pPr>
            <a:r>
              <a:rPr lang="en-US" dirty="0">
                <a:solidFill>
                  <a:srgbClr val="E9E9E9"/>
                </a:solidFill>
                <a:latin typeface="Calibri" pitchFamily="34" charset="0"/>
                <a:ea typeface="Calibri" pitchFamily="34" charset="-122"/>
                <a:cs typeface="Calibri" pitchFamily="34" charset="-120"/>
              </a:rPr>
              <a:t>Says what the numbers in a coordinate mean</a:t>
            </a:r>
          </a:p>
          <a:p>
            <a:pPr marL="228600" indent="-228600">
              <a:spcAft>
                <a:spcPts val="800"/>
              </a:spcAft>
              <a:buFont typeface="Arial"/>
              <a:buChar char="•"/>
            </a:pPr>
            <a:r>
              <a:rPr lang="en-US" dirty="0">
                <a:solidFill>
                  <a:srgbClr val="E9E9E9"/>
                </a:solidFill>
                <a:latin typeface="Calibri" pitchFamily="34" charset="0"/>
                <a:ea typeface="Calibri" pitchFamily="34" charset="-122"/>
                <a:cs typeface="Calibri" pitchFamily="34" charset="-120"/>
              </a:rPr>
              <a:t>Geographic CRS: latitude and longitude in degrees, e.g. WGS 84</a:t>
            </a:r>
            <a:endParaRPr lang="en-US" sz="1600" dirty="0">
              <a:solidFill>
                <a:srgbClr val="E9E9E9"/>
              </a:solidFill>
              <a:latin typeface="Calibri" pitchFamily="34" charset="0"/>
              <a:ea typeface="Calibri" pitchFamily="34" charset="-122"/>
              <a:cs typeface="Calibri" pitchFamily="34" charset="-120"/>
            </a:endParaRPr>
          </a:p>
        </p:txBody>
      </p:sp>
      <p:sp>
        <p:nvSpPr>
          <p:cNvPr id="104" name="Shape 104"/>
          <p:cNvSpPr/>
          <p:nvPr/>
        </p:nvSpPr>
        <p:spPr>
          <a:xfrm>
            <a:off x="4298950" y="1797255"/>
            <a:ext cx="3594100" cy="2616200"/>
          </a:xfrm>
          <a:prstGeom prst="rect">
            <a:avLst/>
          </a:prstGeom>
          <a:solidFill>
            <a:srgbClr val="1F1F1F"/>
          </a:solidFill>
          <a:ln>
            <a:noFill/>
          </a:ln>
        </p:spPr>
        <p:txBody>
          <a:bodyPr wrap="square" lIns="177800" tIns="177800" rIns="177800" bIns="177800" anchor="t">
            <a:noAutofit/>
          </a:bodyPr>
          <a:lstStyle/>
          <a:p>
            <a:pPr marL="0" indent="0">
              <a:spcAft>
                <a:spcPts val="800"/>
              </a:spcAft>
              <a:buNone/>
            </a:pPr>
            <a:r>
              <a:rPr lang="en-US" sz="2200" b="1" dirty="0">
                <a:solidFill>
                  <a:srgbClr val="E9E9E9"/>
                </a:solidFill>
                <a:latin typeface="Calibri" pitchFamily="34" charset="0"/>
                <a:ea typeface="Calibri" pitchFamily="34" charset="-122"/>
                <a:cs typeface="Calibri" pitchFamily="34" charset="-120"/>
              </a:rPr>
              <a:t>Projection</a:t>
            </a:r>
            <a:endParaRPr lang="en-US" b="1" dirty="0">
              <a:solidFill>
                <a:srgbClr val="E9E9E9"/>
              </a:solidFill>
              <a:latin typeface="Calibri" pitchFamily="34" charset="0"/>
              <a:ea typeface="Calibri" pitchFamily="34" charset="-122"/>
              <a:cs typeface="Calibri" pitchFamily="34" charset="-120"/>
            </a:endParaRPr>
          </a:p>
          <a:p>
            <a:pPr marL="228600" indent="-228600">
              <a:spcAft>
                <a:spcPts val="800"/>
              </a:spcAft>
              <a:buFont typeface="Arial"/>
              <a:buChar char="•"/>
            </a:pPr>
            <a:r>
              <a:rPr lang="en-US" dirty="0">
                <a:solidFill>
                  <a:srgbClr val="E9E9E9"/>
                </a:solidFill>
                <a:latin typeface="Calibri" pitchFamily="34" charset="0"/>
                <a:ea typeface="Calibri" pitchFamily="34" charset="-122"/>
                <a:cs typeface="Calibri" pitchFamily="34" charset="-120"/>
              </a:rPr>
              <a:t>Flattens the curved Earth onto a grid of x/y in metres</a:t>
            </a:r>
          </a:p>
          <a:p>
            <a:pPr marL="228600" indent="-228600">
              <a:spcAft>
                <a:spcPts val="800"/>
              </a:spcAft>
              <a:buFont typeface="Arial"/>
              <a:buChar char="•"/>
            </a:pPr>
            <a:r>
              <a:rPr lang="en-US" dirty="0">
                <a:solidFill>
                  <a:srgbClr val="E9E9E9"/>
                </a:solidFill>
                <a:latin typeface="Calibri" pitchFamily="34" charset="0"/>
                <a:ea typeface="Calibri" pitchFamily="34" charset="-122"/>
                <a:cs typeface="Calibri" pitchFamily="34" charset="-120"/>
              </a:rPr>
              <a:t>Every projection distorts area, shape, distance or direction</a:t>
            </a:r>
            <a:endParaRPr lang="en-US" sz="1600" dirty="0">
              <a:solidFill>
                <a:srgbClr val="E9E9E9"/>
              </a:solidFill>
              <a:latin typeface="Calibri" pitchFamily="34" charset="0"/>
              <a:ea typeface="Calibri" pitchFamily="34" charset="-122"/>
              <a:cs typeface="Calibri" pitchFamily="34" charset="-120"/>
            </a:endParaRPr>
          </a:p>
        </p:txBody>
      </p:sp>
      <p:sp>
        <p:nvSpPr>
          <p:cNvPr id="106" name="Shape 106"/>
          <p:cNvSpPr/>
          <p:nvPr/>
        </p:nvSpPr>
        <p:spPr>
          <a:xfrm>
            <a:off x="8096250" y="1797255"/>
            <a:ext cx="3594100" cy="2616200"/>
          </a:xfrm>
          <a:prstGeom prst="rect">
            <a:avLst/>
          </a:prstGeom>
          <a:solidFill>
            <a:srgbClr val="1F1F1F"/>
          </a:solidFill>
          <a:ln>
            <a:noFill/>
          </a:ln>
        </p:spPr>
        <p:txBody>
          <a:bodyPr wrap="square" lIns="177800" tIns="177800" rIns="177800" bIns="177800" anchor="t">
            <a:noAutofit/>
          </a:bodyPr>
          <a:lstStyle/>
          <a:p>
            <a:pPr marL="0" indent="0">
              <a:spcAft>
                <a:spcPts val="800"/>
              </a:spcAft>
              <a:buNone/>
            </a:pPr>
            <a:r>
              <a:rPr lang="en-US" sz="2200" b="1" dirty="0">
                <a:solidFill>
                  <a:srgbClr val="E9E9E9"/>
                </a:solidFill>
                <a:latin typeface="Calibri" pitchFamily="34" charset="0"/>
                <a:ea typeface="Calibri" pitchFamily="34" charset="-122"/>
                <a:cs typeface="Calibri" pitchFamily="34" charset="-120"/>
              </a:rPr>
              <a:t>EPSG codes</a:t>
            </a:r>
            <a:endParaRPr lang="en-US" b="1" dirty="0">
              <a:solidFill>
                <a:srgbClr val="E9E9E9"/>
              </a:solidFill>
              <a:latin typeface="Calibri" pitchFamily="34" charset="0"/>
              <a:ea typeface="Calibri" pitchFamily="34" charset="-122"/>
              <a:cs typeface="Calibri" pitchFamily="34" charset="-120"/>
            </a:endParaRPr>
          </a:p>
          <a:p>
            <a:pPr marL="228600" indent="-228600">
              <a:spcAft>
                <a:spcPts val="800"/>
              </a:spcAft>
              <a:buFont typeface="Arial"/>
              <a:buChar char="•"/>
            </a:pPr>
            <a:r>
              <a:rPr lang="en-US" dirty="0">
                <a:solidFill>
                  <a:srgbClr val="E9E9E9"/>
                </a:solidFill>
                <a:latin typeface="Calibri" pitchFamily="34" charset="0"/>
                <a:ea typeface="Calibri" pitchFamily="34" charset="-122"/>
                <a:cs typeface="Calibri" pitchFamily="34" charset="-120"/>
              </a:rPr>
              <a:t>Short IDs for a CRS: EPSG:4326 is WGS 84, EPSG:3857 is Web Mercator</a:t>
            </a:r>
          </a:p>
          <a:p>
            <a:pPr marL="228600" indent="-228600">
              <a:spcAft>
                <a:spcPts val="800"/>
              </a:spcAft>
              <a:buFont typeface="Arial"/>
              <a:buChar char="•"/>
            </a:pPr>
            <a:r>
              <a:rPr lang="en-US" dirty="0">
                <a:solidFill>
                  <a:srgbClr val="E9E9E9"/>
                </a:solidFill>
                <a:latin typeface="Calibri" pitchFamily="34" charset="0"/>
                <a:ea typeface="Calibri" pitchFamily="34" charset="-122"/>
                <a:cs typeface="Calibri" pitchFamily="34" charset="-120"/>
              </a:rPr>
              <a:t>Stored in the file's metadata; check it before combining layers</a:t>
            </a:r>
            <a:endParaRPr lang="en-US" sz="1600" dirty="0">
              <a:solidFill>
                <a:srgbClr val="E9E9E9"/>
              </a:solidFill>
              <a:latin typeface="Calibri" pitchFamily="34" charset="0"/>
              <a:ea typeface="Calibri" pitchFamily="34" charset="-122"/>
              <a:cs typeface="Calibri" pitchFamily="34" charset="-120"/>
            </a:endParaRPr>
          </a:p>
        </p:txBody>
      </p:sp>
      <p:sp>
        <p:nvSpPr>
          <p:cNvPr id="107" name="Shape 107"/>
          <p:cNvSpPr/>
          <p:nvPr/>
        </p:nvSpPr>
        <p:spPr>
          <a:xfrm>
            <a:off x="197992" y="4639417"/>
            <a:ext cx="5796408" cy="1895601"/>
          </a:xfrm>
          <a:prstGeom prst="rect">
            <a:avLst/>
          </a:prstGeom>
          <a:solidFill>
            <a:srgbClr val="1F1F1F"/>
          </a:solidFill>
          <a:ln>
            <a:noFill/>
          </a:ln>
        </p:spPr>
        <p:txBody>
          <a:bodyPr wrap="square" lIns="203200" tIns="152400" rIns="203200" bIns="152400" anchor="ctr">
            <a:noAutofit/>
          </a:bodyPr>
          <a:lstStyle/>
          <a:p>
            <a:pPr marL="0" indent="0">
              <a:spcAft>
                <a:spcPts val="600"/>
              </a:spcAft>
              <a:buNone/>
            </a:pPr>
            <a:r>
              <a:rPr lang="en-US" sz="2400" b="1" dirty="0">
                <a:solidFill>
                  <a:srgbClr val="FFCC00"/>
                </a:solidFill>
                <a:latin typeface="Consolas" panose="020B0609020204030204" pitchFamily="49" charset="0"/>
                <a:ea typeface="Calibri" pitchFamily="34" charset="-122"/>
                <a:cs typeface="Consolas" panose="020B0609020204030204" pitchFamily="49" charset="0"/>
              </a:rPr>
              <a:t>Why it matters: </a:t>
            </a:r>
            <a:r>
              <a:rPr lang="en-US" sz="2400" dirty="0">
                <a:solidFill>
                  <a:srgbClr val="E9E9E9"/>
                </a:solidFill>
                <a:latin typeface="Consolas" panose="020B0609020204030204" pitchFamily="49" charset="0"/>
                <a:ea typeface="Calibri" pitchFamily="34" charset="-122"/>
                <a:cs typeface="Consolas" panose="020B0609020204030204" pitchFamily="49" charset="0"/>
              </a:rPr>
              <a:t>on Web Mercator, Greenland looks about the size of Africa. Africa is roughly 14× larger.</a:t>
            </a:r>
          </a:p>
        </p:txBody>
      </p:sp>
      <p:pic>
        <p:nvPicPr>
          <p:cNvPr id="1026" name="Picture 2" descr="Africa is 14 times bigger than Greendland. However, The standard Mercator  map shows that they are the same size. : r/geography">
            <a:extLst>
              <a:ext uri="{FF2B5EF4-FFF2-40B4-BE49-F238E27FC236}">
                <a16:creationId xmlns:a16="http://schemas.microsoft.com/office/drawing/2014/main" id="{A76E365F-6610-838B-D585-9AAA3232F2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9649" y="4066431"/>
            <a:ext cx="4155968" cy="269454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ED70EB80-2F38-C4C8-837B-80D0BBC6F02D}"/>
              </a:ext>
            </a:extLst>
          </p:cNvPr>
          <p:cNvPicPr>
            <a:picLocks noChangeAspect="1"/>
          </p:cNvPicPr>
          <p:nvPr/>
        </p:nvPicPr>
        <p:blipFill>
          <a:blip r:embed="rId4"/>
          <a:srcRect/>
          <a:stretch/>
        </p:blipFill>
        <p:spPr>
          <a:xfrm>
            <a:off x="9699516" y="4200855"/>
            <a:ext cx="2540000" cy="2425700"/>
          </a:xfrm>
          <a:prstGeom prst="rect">
            <a:avLst/>
          </a:prstGeom>
        </p:spPr>
      </p:pic>
    </p:spTree>
    <p:extLst>
      <p:ext uri="{BB962C8B-B14F-4D97-AF65-F5344CB8AC3E}">
        <p14:creationId xmlns:p14="http://schemas.microsoft.com/office/powerpoint/2010/main" val="3932297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0BBA9-3FFF-DA15-2B77-8EBF5AE4671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ED0D7A6-B420-40F7-E7C6-A2974AC3B0AB}"/>
              </a:ext>
            </a:extLst>
          </p:cNvPr>
          <p:cNvSpPr txBox="1"/>
          <p:nvPr/>
        </p:nvSpPr>
        <p:spPr>
          <a:xfrm>
            <a:off x="3460955" y="3539613"/>
            <a:ext cx="891591" cy="379656"/>
          </a:xfrm>
          <a:prstGeom prst="rect">
            <a:avLst/>
          </a:prstGeom>
          <a:noFill/>
        </p:spPr>
        <p:txBody>
          <a:bodyPr wrap="none" rtlCol="0">
            <a:spAutoFit/>
          </a:bodyPr>
          <a:lstStyle/>
          <a:p>
            <a:pPr defTabSz="1219170">
              <a:buClr>
                <a:srgbClr val="000000"/>
              </a:buClr>
            </a:pPr>
            <a:r>
              <a:rPr lang="en-US" sz="1867" kern="0" dirty="0">
                <a:solidFill>
                  <a:srgbClr val="000000"/>
                </a:solidFill>
                <a:latin typeface="Arial"/>
                <a:cs typeface="Arial"/>
                <a:sym typeface="Arial"/>
              </a:rPr>
              <a:t>IPBES</a:t>
            </a:r>
          </a:p>
        </p:txBody>
      </p:sp>
      <p:pic>
        <p:nvPicPr>
          <p:cNvPr id="3" name="Picture 2" descr="A map of the world&#10;&#10;AI-generated content may be incorrect.">
            <a:extLst>
              <a:ext uri="{FF2B5EF4-FFF2-40B4-BE49-F238E27FC236}">
                <a16:creationId xmlns:a16="http://schemas.microsoft.com/office/drawing/2014/main" id="{6355384B-D52D-22ED-788A-DEE924558A70}"/>
              </a:ext>
            </a:extLst>
          </p:cNvPr>
          <p:cNvPicPr>
            <a:picLocks noChangeAspect="1"/>
          </p:cNvPicPr>
          <p:nvPr/>
        </p:nvPicPr>
        <p:blipFill>
          <a:blip r:embed="rId3"/>
          <a:stretch>
            <a:fillRect/>
          </a:stretch>
        </p:blipFill>
        <p:spPr>
          <a:xfrm>
            <a:off x="-514247" y="-537149"/>
            <a:ext cx="13220493" cy="7932296"/>
          </a:xfrm>
          <a:prstGeom prst="rect">
            <a:avLst/>
          </a:prstGeom>
        </p:spPr>
      </p:pic>
    </p:spTree>
    <p:extLst>
      <p:ext uri="{BB962C8B-B14F-4D97-AF65-F5344CB8AC3E}">
        <p14:creationId xmlns:p14="http://schemas.microsoft.com/office/powerpoint/2010/main" val="22395446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7">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10728655" y="6473952"/>
            <a:ext cx="1188720" cy="274320"/>
          </a:xfrm>
          <a:prstGeom prst="rect">
            <a:avLst/>
          </a:prstGeom>
          <a:noFill/>
          <a:ln/>
        </p:spPr>
        <p:txBody>
          <a:bodyPr wrap="square" lIns="0" tIns="0" rIns="0" bIns="0"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7 / 54</a:t>
            </a:r>
            <a:endParaRPr lang="en-US" sz="900" dirty="0">
              <a:solidFill>
                <a:srgbClr val="E9E9E9"/>
              </a:solidFill>
            </a:endParaRPr>
          </a:p>
        </p:txBody>
      </p:sp>
      <p:sp>
        <p:nvSpPr>
          <p:cNvPr id="3" name="Text 1"/>
          <p:cNvSpPr txBox="1"/>
          <p:nvPr/>
        </p:nvSpPr>
        <p:spPr>
          <a:xfrm>
            <a:off x="1006145" y="2743200"/>
            <a:ext cx="11185855" cy="685800"/>
          </a:xfrm>
          <a:prstGeom prst="rect">
            <a:avLst/>
          </a:prstGeom>
          <a:noFill/>
          <a:ln/>
        </p:spPr>
        <p:txBody>
          <a:bodyPr wrap="square" lIns="0" tIns="0" rIns="0" bIns="0" rtlCol="0" anchor="t"/>
          <a:lstStyle/>
          <a:p>
            <a:pPr marL="0" indent="0">
              <a:buNone/>
            </a:pPr>
            <a:r>
              <a:rPr lang="en-US" sz="3200" b="1" dirty="0">
                <a:solidFill>
                  <a:schemeClr val="accent4"/>
                </a:solidFill>
                <a:latin typeface="Calibri" pitchFamily="34" charset="0"/>
                <a:ea typeface="Calibri" pitchFamily="34" charset="-122"/>
                <a:cs typeface="Calibri" pitchFamily="34" charset="-120"/>
              </a:rPr>
              <a:t>These data have gotten </a:t>
            </a:r>
          </a:p>
          <a:p>
            <a:pPr marL="0" indent="0">
              <a:buNone/>
            </a:pPr>
            <a:r>
              <a:rPr lang="en-US" sz="3200" b="1" dirty="0">
                <a:solidFill>
                  <a:schemeClr val="accent4"/>
                </a:solidFill>
                <a:latin typeface="Calibri" pitchFamily="34" charset="0"/>
                <a:ea typeface="Calibri" pitchFamily="34" charset="-122"/>
                <a:cs typeface="Calibri" pitchFamily="34" charset="-120"/>
              </a:rPr>
              <a:t>(and continue to get) really big*</a:t>
            </a:r>
          </a:p>
          <a:p>
            <a:pPr marL="0" indent="0">
              <a:buNone/>
            </a:pPr>
            <a:r>
              <a:rPr lang="en-US" sz="2800" dirty="0">
                <a:solidFill>
                  <a:schemeClr val="bg1"/>
                </a:solidFill>
                <a:latin typeface="Calibri" pitchFamily="34" charset="0"/>
                <a:cs typeface="Calibri" pitchFamily="34" charset="-120"/>
              </a:rPr>
              <a:t>* bigger than what can fit in memory on our laptops</a:t>
            </a:r>
            <a:endParaRPr lang="en-US" sz="2800" dirty="0">
              <a:solidFill>
                <a:schemeClr val="bg1"/>
              </a:solidFill>
            </a:endParaRPr>
          </a:p>
        </p:txBody>
      </p:sp>
    </p:spTree>
    <p:extLst>
      <p:ext uri="{BB962C8B-B14F-4D97-AF65-F5344CB8AC3E}">
        <p14:creationId xmlns:p14="http://schemas.microsoft.com/office/powerpoint/2010/main" val="11971824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10728655" y="6473952"/>
            <a:ext cx="1188720" cy="274320"/>
          </a:xfrm>
          <a:prstGeom prst="rect">
            <a:avLst/>
          </a:prstGeom>
          <a:noFill/>
          <a:ln/>
        </p:spPr>
        <p:txBody>
          <a:bodyPr wrap="square" lIns="0" tIns="0" rIns="0" bIns="0"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10 / 54</a:t>
            </a:r>
            <a:endParaRPr lang="en-US" sz="900" dirty="0">
              <a:solidFill>
                <a:srgbClr val="E9E9E9"/>
              </a:solidFill>
            </a:endParaRPr>
          </a:p>
        </p:txBody>
      </p:sp>
      <p:sp>
        <p:nvSpPr>
          <p:cNvPr id="3" name="Text 1"/>
          <p:cNvSpPr txBox="1"/>
          <p:nvPr/>
        </p:nvSpPr>
        <p:spPr>
          <a:xfrm>
            <a:off x="502920" y="320040"/>
            <a:ext cx="11185855" cy="685800"/>
          </a:xfrm>
          <a:prstGeom prst="rect">
            <a:avLst/>
          </a:prstGeom>
          <a:noFill/>
          <a:ln/>
        </p:spPr>
        <p:txBody>
          <a:bodyPr wrap="square" lIns="0" tIns="0" rIns="0" bIns="0" rtlCol="0" anchor="t"/>
          <a:lstStyle/>
          <a:p>
            <a:pPr marL="0" indent="0">
              <a:buNone/>
            </a:pPr>
            <a:r>
              <a:rPr lang="en-US" sz="2600" b="1" dirty="0">
                <a:solidFill>
                  <a:srgbClr val="FFFFFF"/>
                </a:solidFill>
                <a:latin typeface="Calibri" pitchFamily="34" charset="0"/>
                <a:ea typeface="Calibri" pitchFamily="34" charset="-122"/>
                <a:cs typeface="Calibri" pitchFamily="34" charset="-120"/>
              </a:rPr>
              <a:t>The familiar workflow</a:t>
            </a:r>
            <a:endParaRPr lang="en-US" sz="2600" dirty="0">
              <a:solidFill>
                <a:srgbClr val="E9E9E9"/>
              </a:solidFill>
            </a:endParaRPr>
          </a:p>
        </p:txBody>
      </p:sp>
      <p:sp>
        <p:nvSpPr>
          <p:cNvPr id="4" name="Shape 2"/>
          <p:cNvSpPr/>
          <p:nvPr/>
        </p:nvSpPr>
        <p:spPr>
          <a:xfrm>
            <a:off x="508000" y="1397000"/>
            <a:ext cx="2413000" cy="812800"/>
          </a:xfrm>
          <a:prstGeom prst="roundRect">
            <a:avLst>
              <a:gd name="adj" fmla="val 5333"/>
            </a:avLst>
          </a:prstGeom>
          <a:solidFill>
            <a:srgbClr val="1F1F1F"/>
          </a:solidFill>
          <a:ln>
            <a:noFill/>
          </a:ln>
        </p:spPr>
        <p:txBody>
          <a:bodyPr/>
          <a:lstStyle/>
          <a:p>
            <a:endParaRPr lang="en-US" sz="2500">
              <a:solidFill>
                <a:srgbClr val="E9E9E9"/>
              </a:solidFill>
            </a:endParaRPr>
          </a:p>
        </p:txBody>
      </p:sp>
      <p:sp>
        <p:nvSpPr>
          <p:cNvPr id="5" name="Text 3"/>
          <p:cNvSpPr txBox="1"/>
          <p:nvPr/>
        </p:nvSpPr>
        <p:spPr>
          <a:xfrm>
            <a:off x="508000" y="1397000"/>
            <a:ext cx="2413000" cy="812800"/>
          </a:xfrm>
          <a:prstGeom prst="rect">
            <a:avLst/>
          </a:prstGeom>
          <a:noFill/>
          <a:ln/>
        </p:spPr>
        <p:txBody>
          <a:bodyPr wrap="square" lIns="0" tIns="0" rIns="0" bIns="0" rtlCol="0" anchor="ctr"/>
          <a:lstStyle/>
          <a:p>
            <a:pPr marL="0" indent="0" algn="ctr">
              <a:buNone/>
            </a:pPr>
            <a:r>
              <a:rPr lang="en-US" sz="1800" dirty="0">
                <a:solidFill>
                  <a:srgbClr val="E9E9E9"/>
                </a:solidFill>
                <a:latin typeface="Calibri" pitchFamily="34" charset="0"/>
                <a:ea typeface="Calibri" pitchFamily="34" charset="-122"/>
                <a:cs typeface="Calibri" pitchFamily="34" charset="-120"/>
              </a:rPr>
              <a:t>Remote archive</a:t>
            </a:r>
          </a:p>
        </p:txBody>
      </p:sp>
      <p:sp>
        <p:nvSpPr>
          <p:cNvPr id="6" name="Shape 4"/>
          <p:cNvSpPr/>
          <p:nvPr/>
        </p:nvSpPr>
        <p:spPr>
          <a:xfrm>
            <a:off x="3429000" y="1397000"/>
            <a:ext cx="2413000" cy="812800"/>
          </a:xfrm>
          <a:prstGeom prst="roundRect">
            <a:avLst>
              <a:gd name="adj" fmla="val 5333"/>
            </a:avLst>
          </a:prstGeom>
          <a:solidFill>
            <a:srgbClr val="FFCC00"/>
          </a:solidFill>
          <a:ln>
            <a:noFill/>
          </a:ln>
        </p:spPr>
        <p:txBody>
          <a:bodyPr/>
          <a:lstStyle/>
          <a:p>
            <a:endParaRPr lang="en-US" sz="2500">
              <a:solidFill>
                <a:srgbClr val="E9E9E9"/>
              </a:solidFill>
            </a:endParaRPr>
          </a:p>
        </p:txBody>
      </p:sp>
      <p:sp>
        <p:nvSpPr>
          <p:cNvPr id="7" name="Text 5"/>
          <p:cNvSpPr txBox="1"/>
          <p:nvPr/>
        </p:nvSpPr>
        <p:spPr>
          <a:xfrm>
            <a:off x="3429000" y="1397000"/>
            <a:ext cx="2413000" cy="812800"/>
          </a:xfrm>
          <a:prstGeom prst="rect">
            <a:avLst/>
          </a:prstGeom>
          <a:noFill/>
          <a:ln/>
        </p:spPr>
        <p:txBody>
          <a:bodyPr wrap="square" lIns="0" tIns="0" rIns="0" bIns="0" rtlCol="0" anchor="ctr"/>
          <a:lstStyle/>
          <a:p>
            <a:pPr marL="0" indent="0" algn="ctr">
              <a:buNone/>
            </a:pPr>
            <a:r>
              <a:rPr lang="en-US" sz="1800" b="1" dirty="0">
                <a:solidFill>
                  <a:srgbClr val="000000"/>
                </a:solidFill>
                <a:latin typeface="Calibri" pitchFamily="34" charset="0"/>
                <a:ea typeface="Calibri" pitchFamily="34" charset="-122"/>
                <a:cs typeface="Calibri" pitchFamily="34" charset="-120"/>
              </a:rPr>
              <a:t>Download everything</a:t>
            </a:r>
          </a:p>
        </p:txBody>
      </p:sp>
      <p:sp>
        <p:nvSpPr>
          <p:cNvPr id="8" name="Shape 6"/>
          <p:cNvSpPr/>
          <p:nvPr/>
        </p:nvSpPr>
        <p:spPr>
          <a:xfrm>
            <a:off x="6350000" y="1397000"/>
            <a:ext cx="2413000" cy="812800"/>
          </a:xfrm>
          <a:prstGeom prst="roundRect">
            <a:avLst>
              <a:gd name="adj" fmla="val 5333"/>
            </a:avLst>
          </a:prstGeom>
          <a:solidFill>
            <a:srgbClr val="1F1F1F"/>
          </a:solidFill>
          <a:ln>
            <a:noFill/>
          </a:ln>
        </p:spPr>
        <p:txBody>
          <a:bodyPr/>
          <a:lstStyle/>
          <a:p>
            <a:endParaRPr lang="en-US" sz="2500">
              <a:solidFill>
                <a:srgbClr val="E9E9E9"/>
              </a:solidFill>
            </a:endParaRPr>
          </a:p>
        </p:txBody>
      </p:sp>
      <p:sp>
        <p:nvSpPr>
          <p:cNvPr id="9" name="Text 7"/>
          <p:cNvSpPr txBox="1"/>
          <p:nvPr/>
        </p:nvSpPr>
        <p:spPr>
          <a:xfrm>
            <a:off x="6350000" y="1397000"/>
            <a:ext cx="2413000" cy="812800"/>
          </a:xfrm>
          <a:prstGeom prst="rect">
            <a:avLst/>
          </a:prstGeom>
          <a:noFill/>
          <a:ln/>
        </p:spPr>
        <p:txBody>
          <a:bodyPr wrap="square" lIns="0" tIns="0" rIns="0" bIns="0" rtlCol="0" anchor="ctr"/>
          <a:lstStyle/>
          <a:p>
            <a:pPr marL="0" indent="0" algn="ctr">
              <a:buNone/>
            </a:pPr>
            <a:r>
              <a:rPr lang="en-US" sz="1800" dirty="0">
                <a:solidFill>
                  <a:srgbClr val="E9E9E9"/>
                </a:solidFill>
                <a:latin typeface="Calibri" pitchFamily="34" charset="0"/>
                <a:ea typeface="Calibri" pitchFamily="34" charset="-122"/>
                <a:cs typeface="Calibri" pitchFamily="34" charset="-120"/>
              </a:rPr>
              <a:t>Filter, summarise</a:t>
            </a:r>
          </a:p>
        </p:txBody>
      </p:sp>
      <p:sp>
        <p:nvSpPr>
          <p:cNvPr id="10" name="Shape 8"/>
          <p:cNvSpPr/>
          <p:nvPr/>
        </p:nvSpPr>
        <p:spPr>
          <a:xfrm>
            <a:off x="9271000" y="1397000"/>
            <a:ext cx="2413000" cy="812800"/>
          </a:xfrm>
          <a:prstGeom prst="roundRect">
            <a:avLst>
              <a:gd name="adj" fmla="val 5333"/>
            </a:avLst>
          </a:prstGeom>
          <a:solidFill>
            <a:srgbClr val="1F1F1F"/>
          </a:solidFill>
          <a:ln>
            <a:noFill/>
          </a:ln>
        </p:spPr>
        <p:txBody>
          <a:bodyPr/>
          <a:lstStyle/>
          <a:p>
            <a:endParaRPr lang="en-US" sz="2500">
              <a:solidFill>
                <a:srgbClr val="E9E9E9"/>
              </a:solidFill>
            </a:endParaRPr>
          </a:p>
        </p:txBody>
      </p:sp>
      <p:sp>
        <p:nvSpPr>
          <p:cNvPr id="11" name="Text 9"/>
          <p:cNvSpPr txBox="1"/>
          <p:nvPr/>
        </p:nvSpPr>
        <p:spPr>
          <a:xfrm>
            <a:off x="9271000" y="1397000"/>
            <a:ext cx="2413000" cy="812800"/>
          </a:xfrm>
          <a:prstGeom prst="rect">
            <a:avLst/>
          </a:prstGeom>
          <a:noFill/>
          <a:ln/>
        </p:spPr>
        <p:txBody>
          <a:bodyPr wrap="square" lIns="0" tIns="0" rIns="0" bIns="0" rtlCol="0" anchor="ctr"/>
          <a:lstStyle/>
          <a:p>
            <a:pPr marL="0" indent="0" algn="ctr">
              <a:buNone/>
            </a:pPr>
            <a:r>
              <a:rPr lang="en-US" sz="1800" dirty="0">
                <a:solidFill>
                  <a:srgbClr val="E9E9E9"/>
                </a:solidFill>
                <a:latin typeface="Calibri" pitchFamily="34" charset="0"/>
                <a:ea typeface="Calibri" pitchFamily="34" charset="-122"/>
                <a:cs typeface="Calibri" pitchFamily="34" charset="-120"/>
              </a:rPr>
              <a:t>A small answer</a:t>
            </a:r>
          </a:p>
        </p:txBody>
      </p:sp>
      <p:sp>
        <p:nvSpPr>
          <p:cNvPr id="12" name="Shape 10"/>
          <p:cNvSpPr/>
          <p:nvPr/>
        </p:nvSpPr>
        <p:spPr>
          <a:xfrm>
            <a:off x="2997200" y="1803400"/>
            <a:ext cx="355600" cy="0"/>
          </a:xfrm>
          <a:prstGeom prst="line">
            <a:avLst/>
          </a:prstGeom>
          <a:noFill/>
          <a:ln w="19050">
            <a:solidFill>
              <a:srgbClr val="A6A6A6"/>
            </a:solidFill>
            <a:prstDash val="solid"/>
            <a:tailEnd type="triangle"/>
          </a:ln>
        </p:spPr>
        <p:txBody>
          <a:bodyPr/>
          <a:lstStyle/>
          <a:p>
            <a:endParaRPr lang="en-US" sz="2500">
              <a:solidFill>
                <a:srgbClr val="E9E9E9"/>
              </a:solidFill>
            </a:endParaRPr>
          </a:p>
        </p:txBody>
      </p:sp>
      <p:sp>
        <p:nvSpPr>
          <p:cNvPr id="13" name="Shape 11"/>
          <p:cNvSpPr/>
          <p:nvPr/>
        </p:nvSpPr>
        <p:spPr>
          <a:xfrm>
            <a:off x="5918200" y="1803400"/>
            <a:ext cx="355600" cy="0"/>
          </a:xfrm>
          <a:prstGeom prst="line">
            <a:avLst/>
          </a:prstGeom>
          <a:noFill/>
          <a:ln w="19050">
            <a:solidFill>
              <a:srgbClr val="A6A6A6"/>
            </a:solidFill>
            <a:prstDash val="solid"/>
            <a:tailEnd type="triangle"/>
          </a:ln>
        </p:spPr>
        <p:txBody>
          <a:bodyPr/>
          <a:lstStyle/>
          <a:p>
            <a:endParaRPr lang="en-US" sz="2500">
              <a:solidFill>
                <a:srgbClr val="E9E9E9"/>
              </a:solidFill>
            </a:endParaRPr>
          </a:p>
        </p:txBody>
      </p:sp>
      <p:sp>
        <p:nvSpPr>
          <p:cNvPr id="14" name="Shape 12"/>
          <p:cNvSpPr/>
          <p:nvPr/>
        </p:nvSpPr>
        <p:spPr>
          <a:xfrm>
            <a:off x="8839200" y="1803400"/>
            <a:ext cx="355600" cy="0"/>
          </a:xfrm>
          <a:prstGeom prst="line">
            <a:avLst/>
          </a:prstGeom>
          <a:noFill/>
          <a:ln w="19050">
            <a:solidFill>
              <a:srgbClr val="A6A6A6"/>
            </a:solidFill>
            <a:prstDash val="solid"/>
            <a:tailEnd type="triangle"/>
          </a:ln>
        </p:spPr>
        <p:txBody>
          <a:bodyPr/>
          <a:lstStyle/>
          <a:p>
            <a:endParaRPr lang="en-US" sz="2500">
              <a:solidFill>
                <a:srgbClr val="E9E9E9"/>
              </a:solidFill>
            </a:endParaRPr>
          </a:p>
        </p:txBody>
      </p:sp>
      <p:sp>
        <p:nvSpPr>
          <p:cNvPr id="15" name="Text 13"/>
          <p:cNvSpPr txBox="1"/>
          <p:nvPr/>
        </p:nvSpPr>
        <p:spPr>
          <a:xfrm>
            <a:off x="508000" y="2730500"/>
            <a:ext cx="11188700" cy="3556000"/>
          </a:xfrm>
          <a:prstGeom prst="rect">
            <a:avLst/>
          </a:prstGeom>
          <a:noFill/>
          <a:ln/>
        </p:spPr>
        <p:txBody>
          <a:bodyPr wrap="square" lIns="0" tIns="0" rIns="0" bIns="0" rtlCol="0" anchor="t"/>
          <a:lstStyle/>
          <a:p>
            <a:pPr marL="342900" indent="-342900">
              <a:lnSpc>
                <a:spcPct val="105000"/>
              </a:lnSpc>
              <a:spcAft>
                <a:spcPts val="1200"/>
              </a:spcAft>
              <a:buSzPct val="100000"/>
              <a:buChar char="•"/>
            </a:pPr>
            <a:r>
              <a:rPr lang="en-US" sz="2200" dirty="0">
                <a:solidFill>
                  <a:srgbClr val="E9E9E9"/>
                </a:solidFill>
                <a:latin typeface="Calibri" pitchFamily="34" charset="0"/>
                <a:ea typeface="Calibri" pitchFamily="34" charset="-122"/>
                <a:cs typeface="Calibri" pitchFamily="34" charset="-120"/>
              </a:rPr>
              <a:t>You copy far more than you need to get a small answer</a:t>
            </a:r>
            <a:endParaRPr lang="en-US" sz="2200" dirty="0">
              <a:solidFill>
                <a:srgbClr val="E9E9E9"/>
              </a:solidFill>
            </a:endParaRPr>
          </a:p>
          <a:p>
            <a:pPr marL="342900" indent="-342900">
              <a:lnSpc>
                <a:spcPct val="105000"/>
              </a:lnSpc>
              <a:spcAft>
                <a:spcPts val="1200"/>
              </a:spcAft>
              <a:buSzPct val="100000"/>
              <a:buChar char="•"/>
            </a:pPr>
            <a:r>
              <a:rPr lang="en-US" sz="2200" dirty="0">
                <a:solidFill>
                  <a:srgbClr val="E9E9E9"/>
                </a:solidFill>
                <a:latin typeface="Calibri" pitchFamily="34" charset="0"/>
                <a:ea typeface="Calibri" pitchFamily="34" charset="-122"/>
                <a:cs typeface="Calibri" pitchFamily="34" charset="-120"/>
              </a:rPr>
              <a:t>Your copy is a snapshot that nobody else can check against the source</a:t>
            </a:r>
            <a:endParaRPr lang="en-US" sz="2200" dirty="0">
              <a:solidFill>
                <a:srgbClr val="E9E9E9"/>
              </a:solidFill>
            </a:endParaRPr>
          </a:p>
          <a:p>
            <a:pPr marL="342900" indent="-342900">
              <a:lnSpc>
                <a:spcPct val="105000"/>
              </a:lnSpc>
              <a:spcAft>
                <a:spcPts val="1200"/>
              </a:spcAft>
              <a:buSzPct val="100000"/>
              <a:buChar char="•"/>
            </a:pPr>
            <a:r>
              <a:rPr lang="en-US" sz="2200" dirty="0">
                <a:solidFill>
                  <a:srgbClr val="E9E9E9"/>
                </a:solidFill>
                <a:latin typeface="Calibri" pitchFamily="34" charset="0"/>
                <a:ea typeface="Calibri" pitchFamily="34" charset="-122"/>
                <a:cs typeface="Calibri" pitchFamily="34" charset="-120"/>
              </a:rPr>
              <a:t>A large analysis needs a lot of local disk space, or a cluster that not everyone has access to</a:t>
            </a:r>
            <a:endParaRPr lang="en-US" sz="2200" dirty="0">
              <a:solidFill>
                <a:srgbClr val="E9E9E9"/>
              </a:solidFill>
            </a:endParaRPr>
          </a:p>
          <a:p>
            <a:pPr marL="342900" indent="-342900">
              <a:lnSpc>
                <a:spcPct val="105000"/>
              </a:lnSpc>
              <a:spcAft>
                <a:spcPts val="1200"/>
              </a:spcAft>
              <a:buSzPct val="100000"/>
              <a:buChar char="•"/>
            </a:pPr>
            <a:r>
              <a:rPr lang="en-US" sz="2200" dirty="0">
                <a:solidFill>
                  <a:srgbClr val="E9E9E9"/>
                </a:solidFill>
                <a:latin typeface="Calibri" pitchFamily="34" charset="0"/>
                <a:ea typeface="Calibri" pitchFamily="34" charset="-122"/>
                <a:cs typeface="Calibri" pitchFamily="34" charset="-120"/>
              </a:rPr>
              <a:t>Keeping the copy current means downloading it again</a:t>
            </a:r>
            <a:endParaRPr lang="en-US" sz="2200" dirty="0">
              <a:solidFill>
                <a:srgbClr val="E9E9E9"/>
              </a:solidFill>
            </a:endParaRPr>
          </a:p>
        </p:txBody>
      </p:sp>
    </p:spTree>
    <p:extLst>
      <p:ext uri="{BB962C8B-B14F-4D97-AF65-F5344CB8AC3E}">
        <p14:creationId xmlns:p14="http://schemas.microsoft.com/office/powerpoint/2010/main" val="11549576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10728655" y="6473952"/>
            <a:ext cx="1188720" cy="274320"/>
          </a:xfrm>
          <a:prstGeom prst="rect">
            <a:avLst/>
          </a:prstGeom>
          <a:noFill/>
          <a:ln/>
        </p:spPr>
        <p:txBody>
          <a:bodyPr wrap="square" lIns="0" tIns="0" rIns="0" bIns="0"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13 / 54</a:t>
            </a:r>
            <a:endParaRPr lang="en-US" sz="900" dirty="0">
              <a:solidFill>
                <a:srgbClr val="E9E9E9"/>
              </a:solidFill>
            </a:endParaRPr>
          </a:p>
        </p:txBody>
      </p:sp>
      <p:sp>
        <p:nvSpPr>
          <p:cNvPr id="3" name="Text 1"/>
          <p:cNvSpPr txBox="1"/>
          <p:nvPr/>
        </p:nvSpPr>
        <p:spPr>
          <a:xfrm>
            <a:off x="502920" y="320040"/>
            <a:ext cx="11185855" cy="685800"/>
          </a:xfrm>
          <a:prstGeom prst="rect">
            <a:avLst/>
          </a:prstGeom>
          <a:noFill/>
          <a:ln/>
        </p:spPr>
        <p:txBody>
          <a:bodyPr wrap="square" lIns="0" tIns="0" rIns="0" bIns="0" rtlCol="0" anchor="t"/>
          <a:lstStyle/>
          <a:p>
            <a:pPr marL="0" indent="0">
              <a:buNone/>
            </a:pPr>
            <a:r>
              <a:rPr lang="en-US" sz="2600" b="1" dirty="0">
                <a:solidFill>
                  <a:srgbClr val="FFFFFF"/>
                </a:solidFill>
                <a:latin typeface="Calibri" pitchFamily="34" charset="0"/>
                <a:ea typeface="Calibri" pitchFamily="34" charset="-122"/>
                <a:cs typeface="Calibri" pitchFamily="34" charset="-120"/>
              </a:rPr>
              <a:t>Cloud-native workflows: Ask for only the bytes you need</a:t>
            </a:r>
            <a:endParaRPr lang="en-US" sz="2600" dirty="0">
              <a:solidFill>
                <a:srgbClr val="E9E9E9"/>
              </a:solidFill>
            </a:endParaRPr>
          </a:p>
        </p:txBody>
      </p:sp>
      <p:sp>
        <p:nvSpPr>
          <p:cNvPr id="4" name="Shape 2"/>
          <p:cNvSpPr/>
          <p:nvPr/>
        </p:nvSpPr>
        <p:spPr>
          <a:xfrm>
            <a:off x="508000" y="1397000"/>
            <a:ext cx="3386667" cy="812800"/>
          </a:xfrm>
          <a:prstGeom prst="roundRect">
            <a:avLst>
              <a:gd name="adj" fmla="val 5333"/>
            </a:avLst>
          </a:prstGeom>
          <a:solidFill>
            <a:srgbClr val="1F1F1F"/>
          </a:solidFill>
          <a:ln>
            <a:noFill/>
          </a:ln>
        </p:spPr>
        <p:txBody>
          <a:bodyPr/>
          <a:lstStyle/>
          <a:p>
            <a:endParaRPr lang="en-US">
              <a:solidFill>
                <a:srgbClr val="E9E9E9"/>
              </a:solidFill>
            </a:endParaRPr>
          </a:p>
        </p:txBody>
      </p:sp>
      <p:sp>
        <p:nvSpPr>
          <p:cNvPr id="5" name="Text 3"/>
          <p:cNvSpPr txBox="1"/>
          <p:nvPr/>
        </p:nvSpPr>
        <p:spPr>
          <a:xfrm>
            <a:off x="508000" y="1397000"/>
            <a:ext cx="3386667" cy="812800"/>
          </a:xfrm>
          <a:prstGeom prst="rect">
            <a:avLst/>
          </a:prstGeom>
          <a:noFill/>
          <a:ln/>
        </p:spPr>
        <p:txBody>
          <a:bodyPr wrap="square" lIns="0" tIns="0" rIns="0" bIns="0" rtlCol="0" anchor="ctr"/>
          <a:lstStyle/>
          <a:p>
            <a:pPr marL="0" indent="0" algn="ctr">
              <a:buNone/>
            </a:pPr>
            <a:r>
              <a:rPr lang="en-US" sz="1800" dirty="0">
                <a:solidFill>
                  <a:srgbClr val="E9E9E9"/>
                </a:solidFill>
                <a:latin typeface="Calibri" pitchFamily="34" charset="0"/>
                <a:ea typeface="Calibri" pitchFamily="34" charset="-122"/>
                <a:cs typeface="Calibri" pitchFamily="34" charset="-120"/>
              </a:rPr>
              <a:t>Catalogue and file metadata</a:t>
            </a:r>
          </a:p>
        </p:txBody>
      </p:sp>
      <p:sp>
        <p:nvSpPr>
          <p:cNvPr id="6" name="Shape 4"/>
          <p:cNvSpPr/>
          <p:nvPr/>
        </p:nvSpPr>
        <p:spPr>
          <a:xfrm>
            <a:off x="4402667" y="1397000"/>
            <a:ext cx="3386667" cy="812800"/>
          </a:xfrm>
          <a:prstGeom prst="roundRect">
            <a:avLst>
              <a:gd name="adj" fmla="val 5333"/>
            </a:avLst>
          </a:prstGeom>
          <a:solidFill>
            <a:srgbClr val="FFCC00"/>
          </a:solidFill>
          <a:ln>
            <a:noFill/>
          </a:ln>
        </p:spPr>
        <p:txBody>
          <a:bodyPr/>
          <a:lstStyle/>
          <a:p>
            <a:endParaRPr lang="en-US">
              <a:solidFill>
                <a:srgbClr val="E9E9E9"/>
              </a:solidFill>
            </a:endParaRPr>
          </a:p>
        </p:txBody>
      </p:sp>
      <p:sp>
        <p:nvSpPr>
          <p:cNvPr id="7" name="Text 5"/>
          <p:cNvSpPr txBox="1"/>
          <p:nvPr/>
        </p:nvSpPr>
        <p:spPr>
          <a:xfrm>
            <a:off x="4402667" y="1397000"/>
            <a:ext cx="3386667" cy="812800"/>
          </a:xfrm>
          <a:prstGeom prst="rect">
            <a:avLst/>
          </a:prstGeom>
          <a:noFill/>
          <a:ln/>
        </p:spPr>
        <p:txBody>
          <a:bodyPr wrap="square" lIns="0" tIns="0" rIns="0" bIns="0" rtlCol="0" anchor="ctr"/>
          <a:lstStyle/>
          <a:p>
            <a:pPr marL="0" indent="0" algn="ctr">
              <a:buNone/>
            </a:pPr>
            <a:r>
              <a:rPr lang="en-US" sz="1800" b="1" dirty="0">
                <a:solidFill>
                  <a:srgbClr val="000000"/>
                </a:solidFill>
                <a:latin typeface="Calibri" pitchFamily="34" charset="0"/>
                <a:ea typeface="Calibri" pitchFamily="34" charset="-122"/>
                <a:cs typeface="Calibri" pitchFamily="34" charset="-120"/>
              </a:rPr>
              <a:t>Request only the needed bytes</a:t>
            </a:r>
          </a:p>
        </p:txBody>
      </p:sp>
      <p:sp>
        <p:nvSpPr>
          <p:cNvPr id="8" name="Shape 6"/>
          <p:cNvSpPr/>
          <p:nvPr/>
        </p:nvSpPr>
        <p:spPr>
          <a:xfrm>
            <a:off x="8297333" y="1397000"/>
            <a:ext cx="3386667" cy="812800"/>
          </a:xfrm>
          <a:prstGeom prst="roundRect">
            <a:avLst>
              <a:gd name="adj" fmla="val 5333"/>
            </a:avLst>
          </a:prstGeom>
          <a:solidFill>
            <a:srgbClr val="1F1F1F"/>
          </a:solidFill>
          <a:ln>
            <a:noFill/>
          </a:ln>
        </p:spPr>
        <p:txBody>
          <a:bodyPr/>
          <a:lstStyle/>
          <a:p>
            <a:endParaRPr lang="en-US">
              <a:solidFill>
                <a:srgbClr val="E9E9E9"/>
              </a:solidFill>
            </a:endParaRPr>
          </a:p>
        </p:txBody>
      </p:sp>
      <p:sp>
        <p:nvSpPr>
          <p:cNvPr id="9" name="Text 7"/>
          <p:cNvSpPr txBox="1"/>
          <p:nvPr/>
        </p:nvSpPr>
        <p:spPr>
          <a:xfrm>
            <a:off x="8297333" y="1397000"/>
            <a:ext cx="3386667" cy="812800"/>
          </a:xfrm>
          <a:prstGeom prst="rect">
            <a:avLst/>
          </a:prstGeom>
          <a:noFill/>
          <a:ln/>
        </p:spPr>
        <p:txBody>
          <a:bodyPr wrap="square" lIns="0" tIns="0" rIns="0" bIns="0" rtlCol="0" anchor="ctr"/>
          <a:lstStyle/>
          <a:p>
            <a:pPr marL="0" indent="0" algn="ctr">
              <a:buNone/>
            </a:pPr>
            <a:r>
              <a:rPr lang="en-US" sz="1800" dirty="0">
                <a:solidFill>
                  <a:srgbClr val="E9E9E9"/>
                </a:solidFill>
                <a:latin typeface="Calibri" pitchFamily="34" charset="0"/>
                <a:ea typeface="Calibri" pitchFamily="34" charset="-122"/>
                <a:cs typeface="Calibri" pitchFamily="34" charset="-120"/>
              </a:rPr>
              <a:t>Analyse the small result</a:t>
            </a:r>
          </a:p>
        </p:txBody>
      </p:sp>
      <p:sp>
        <p:nvSpPr>
          <p:cNvPr id="10" name="Shape 8"/>
          <p:cNvSpPr/>
          <p:nvPr/>
        </p:nvSpPr>
        <p:spPr>
          <a:xfrm>
            <a:off x="3970867" y="1803400"/>
            <a:ext cx="355600" cy="0"/>
          </a:xfrm>
          <a:prstGeom prst="line">
            <a:avLst/>
          </a:prstGeom>
          <a:noFill/>
          <a:ln w="19050">
            <a:solidFill>
              <a:srgbClr val="A6A6A6"/>
            </a:solidFill>
            <a:prstDash val="solid"/>
            <a:tailEnd type="triangle"/>
          </a:ln>
        </p:spPr>
        <p:txBody>
          <a:bodyPr/>
          <a:lstStyle/>
          <a:p>
            <a:endParaRPr lang="en-US">
              <a:solidFill>
                <a:srgbClr val="E9E9E9"/>
              </a:solidFill>
            </a:endParaRPr>
          </a:p>
        </p:txBody>
      </p:sp>
      <p:sp>
        <p:nvSpPr>
          <p:cNvPr id="11" name="Shape 9"/>
          <p:cNvSpPr/>
          <p:nvPr/>
        </p:nvSpPr>
        <p:spPr>
          <a:xfrm>
            <a:off x="7865533" y="1803400"/>
            <a:ext cx="355600" cy="0"/>
          </a:xfrm>
          <a:prstGeom prst="line">
            <a:avLst/>
          </a:prstGeom>
          <a:noFill/>
          <a:ln w="19050">
            <a:solidFill>
              <a:srgbClr val="A6A6A6"/>
            </a:solidFill>
            <a:prstDash val="solid"/>
            <a:tailEnd type="triangle"/>
          </a:ln>
        </p:spPr>
        <p:txBody>
          <a:bodyPr/>
          <a:lstStyle/>
          <a:p>
            <a:endParaRPr lang="en-US">
              <a:solidFill>
                <a:srgbClr val="E9E9E9"/>
              </a:solidFill>
            </a:endParaRPr>
          </a:p>
        </p:txBody>
      </p:sp>
      <p:sp>
        <p:nvSpPr>
          <p:cNvPr id="12" name="Text 10"/>
          <p:cNvSpPr txBox="1"/>
          <p:nvPr/>
        </p:nvSpPr>
        <p:spPr>
          <a:xfrm>
            <a:off x="508000" y="2667000"/>
            <a:ext cx="11188700" cy="457200"/>
          </a:xfrm>
          <a:prstGeom prst="rect">
            <a:avLst/>
          </a:prstGeom>
          <a:noFill/>
          <a:ln/>
        </p:spPr>
        <p:txBody>
          <a:bodyPr wrap="square" lIns="0" tIns="0" rIns="0" bIns="0" rtlCol="0" anchor="t"/>
          <a:lstStyle/>
          <a:p>
            <a:pPr marL="0" indent="0" algn="l">
              <a:lnSpc>
                <a:spcPct val="105000"/>
              </a:lnSpc>
              <a:buNone/>
            </a:pPr>
            <a:r>
              <a:rPr lang="en-US" sz="2200" b="1" dirty="0">
                <a:solidFill>
                  <a:srgbClr val="E9E9E9"/>
                </a:solidFill>
                <a:latin typeface="Calibri" pitchFamily="34" charset="0"/>
                <a:ea typeface="Calibri" pitchFamily="34" charset="-122"/>
                <a:cs typeface="Calibri" pitchFamily="34" charset="-120"/>
              </a:rPr>
              <a:t>depends on three things:</a:t>
            </a:r>
            <a:endParaRPr lang="en-US" sz="2200" dirty="0">
              <a:solidFill>
                <a:srgbClr val="E9E9E9"/>
              </a:solidFill>
            </a:endParaRPr>
          </a:p>
        </p:txBody>
      </p:sp>
      <p:sp>
        <p:nvSpPr>
          <p:cNvPr id="13" name="Text 11"/>
          <p:cNvSpPr txBox="1"/>
          <p:nvPr/>
        </p:nvSpPr>
        <p:spPr>
          <a:xfrm>
            <a:off x="508000" y="3238500"/>
            <a:ext cx="11188700" cy="3048000"/>
          </a:xfrm>
          <a:prstGeom prst="rect">
            <a:avLst/>
          </a:prstGeom>
          <a:noFill/>
          <a:ln/>
        </p:spPr>
        <p:txBody>
          <a:bodyPr wrap="square" lIns="0" tIns="0" rIns="0" bIns="0" rtlCol="0" anchor="t"/>
          <a:lstStyle/>
          <a:p>
            <a:pPr marL="342900" indent="-342900">
              <a:lnSpc>
                <a:spcPct val="105000"/>
              </a:lnSpc>
              <a:spcAft>
                <a:spcPts val="1200"/>
              </a:spcAft>
              <a:buNone/>
            </a:pPr>
            <a:r>
              <a:rPr lang="en-US" sz="2200" dirty="0">
                <a:solidFill>
                  <a:srgbClr val="E9E9E9"/>
                </a:solidFill>
                <a:latin typeface="Calibri" pitchFamily="34" charset="0"/>
                <a:ea typeface="Calibri" pitchFamily="34" charset="-122"/>
                <a:cs typeface="Calibri" pitchFamily="34" charset="-120"/>
              </a:rPr>
              <a:t>1.	Object storage over HTTP: files at a URL that can return any slice of themselves on request</a:t>
            </a:r>
            <a:endParaRPr lang="en-US" sz="2200" dirty="0">
              <a:solidFill>
                <a:srgbClr val="E9E9E9"/>
              </a:solidFill>
            </a:endParaRPr>
          </a:p>
          <a:p>
            <a:pPr marL="342900" indent="-342900">
              <a:lnSpc>
                <a:spcPct val="105000"/>
              </a:lnSpc>
              <a:spcAft>
                <a:spcPts val="1200"/>
              </a:spcAft>
              <a:buNone/>
            </a:pPr>
            <a:r>
              <a:rPr lang="en-US" sz="2200" dirty="0">
                <a:solidFill>
                  <a:srgbClr val="E9E9E9"/>
                </a:solidFill>
                <a:latin typeface="Calibri" pitchFamily="34" charset="0"/>
                <a:ea typeface="Calibri" pitchFamily="34" charset="-122"/>
                <a:cs typeface="Calibri" pitchFamily="34" charset="-120"/>
              </a:rPr>
              <a:t>2.	Formats designed for partial reads: Parquet for tables, Cloud Optimized GeoTIFF for rasters</a:t>
            </a:r>
            <a:endParaRPr lang="en-US" sz="2200" dirty="0">
              <a:solidFill>
                <a:srgbClr val="E9E9E9"/>
              </a:solidFill>
            </a:endParaRPr>
          </a:p>
          <a:p>
            <a:pPr marL="342900" indent="-342900">
              <a:lnSpc>
                <a:spcPct val="105000"/>
              </a:lnSpc>
              <a:spcAft>
                <a:spcPts val="1200"/>
              </a:spcAft>
              <a:buNone/>
            </a:pPr>
            <a:r>
              <a:rPr lang="en-US" sz="2200" dirty="0">
                <a:solidFill>
                  <a:srgbClr val="E9E9E9"/>
                </a:solidFill>
                <a:latin typeface="Calibri" pitchFamily="34" charset="0"/>
                <a:ea typeface="Calibri" pitchFamily="34" charset="-122"/>
                <a:cs typeface="Calibri" pitchFamily="34" charset="-120"/>
              </a:rPr>
              <a:t>3.	Catalogues that describe data so you can search before reading anything: STAC</a:t>
            </a:r>
            <a:endParaRPr lang="en-US" sz="2200" dirty="0">
              <a:solidFill>
                <a:srgbClr val="E9E9E9"/>
              </a:solidFill>
            </a:endParaRPr>
          </a:p>
        </p:txBody>
      </p:sp>
    </p:spTree>
    <p:extLst>
      <p:ext uri="{BB962C8B-B14F-4D97-AF65-F5344CB8AC3E}">
        <p14:creationId xmlns:p14="http://schemas.microsoft.com/office/powerpoint/2010/main" val="845652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10728655" y="6473952"/>
            <a:ext cx="1188720" cy="274320"/>
          </a:xfrm>
          <a:prstGeom prst="rect">
            <a:avLst/>
          </a:prstGeom>
          <a:noFill/>
          <a:ln/>
        </p:spPr>
        <p:txBody>
          <a:bodyPr wrap="square" lIns="0" tIns="0" rIns="0" bIns="0"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15 / 54</a:t>
            </a:r>
            <a:endParaRPr lang="en-US" sz="900" dirty="0">
              <a:solidFill>
                <a:srgbClr val="E9E9E9"/>
              </a:solidFill>
            </a:endParaRPr>
          </a:p>
        </p:txBody>
      </p:sp>
      <p:sp>
        <p:nvSpPr>
          <p:cNvPr id="3" name="Text 1"/>
          <p:cNvSpPr txBox="1"/>
          <p:nvPr/>
        </p:nvSpPr>
        <p:spPr>
          <a:xfrm>
            <a:off x="502920" y="320040"/>
            <a:ext cx="11185855" cy="685800"/>
          </a:xfrm>
          <a:prstGeom prst="rect">
            <a:avLst/>
          </a:prstGeom>
          <a:noFill/>
          <a:ln/>
        </p:spPr>
        <p:txBody>
          <a:bodyPr wrap="square" lIns="0" tIns="0" rIns="0" bIns="0" rtlCol="0" anchor="t"/>
          <a:lstStyle/>
          <a:p>
            <a:pPr marL="0" indent="0">
              <a:buNone/>
            </a:pPr>
            <a:r>
              <a:rPr lang="en-US" sz="2600" b="1" dirty="0">
                <a:solidFill>
                  <a:srgbClr val="FFFFFF"/>
                </a:solidFill>
                <a:latin typeface="Calibri" pitchFamily="34" charset="0"/>
                <a:ea typeface="Calibri" pitchFamily="34" charset="-122"/>
                <a:cs typeface="Calibri" pitchFamily="34" charset="-120"/>
              </a:rPr>
              <a:t>Parquet: columnar storage</a:t>
            </a:r>
            <a:endParaRPr lang="en-US" sz="2600" dirty="0">
              <a:solidFill>
                <a:srgbClr val="E9E9E9"/>
              </a:solidFill>
            </a:endParaRPr>
          </a:p>
        </p:txBody>
      </p:sp>
      <p:sp>
        <p:nvSpPr>
          <p:cNvPr id="4" name="Shape 2"/>
          <p:cNvSpPr/>
          <p:nvPr/>
        </p:nvSpPr>
        <p:spPr>
          <a:xfrm>
            <a:off x="1828800" y="1371600"/>
            <a:ext cx="8503920" cy="2103120"/>
          </a:xfrm>
          <a:prstGeom prst="rect">
            <a:avLst/>
          </a:prstGeom>
          <a:ln w="15875">
            <a:solidFill>
              <a:srgbClr val="8A8A8A"/>
            </a:solidFill>
            <a:prstDash val="solid"/>
          </a:ln>
        </p:spPr>
        <p:txBody>
          <a:bodyPr/>
          <a:lstStyle/>
          <a:p>
            <a:endParaRPr lang="en-US">
              <a:solidFill>
                <a:srgbClr val="E9E9E9"/>
              </a:solidFill>
            </a:endParaRPr>
          </a:p>
        </p:txBody>
      </p:sp>
      <p:sp>
        <p:nvSpPr>
          <p:cNvPr id="5" name="Text 3"/>
          <p:cNvSpPr txBox="1"/>
          <p:nvPr/>
        </p:nvSpPr>
        <p:spPr>
          <a:xfrm>
            <a:off x="2057400" y="1426464"/>
            <a:ext cx="2529840" cy="274320"/>
          </a:xfrm>
          <a:prstGeom prst="rect">
            <a:avLst/>
          </a:prstGeom>
          <a:noFill/>
          <a:ln/>
        </p:spPr>
        <p:txBody>
          <a:bodyPr wrap="non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row group 1</a:t>
            </a:r>
            <a:endParaRPr lang="en-US" sz="1400" b="1" dirty="0">
              <a:solidFill>
                <a:srgbClr val="FFFFFF"/>
              </a:solidFill>
            </a:endParaRPr>
          </a:p>
        </p:txBody>
      </p:sp>
      <p:sp>
        <p:nvSpPr>
          <p:cNvPr id="6" name="Shape 4"/>
          <p:cNvSpPr/>
          <p:nvPr/>
        </p:nvSpPr>
        <p:spPr>
          <a:xfrm>
            <a:off x="2145944" y="1737360"/>
            <a:ext cx="455371" cy="1417320"/>
          </a:xfrm>
          <a:prstGeom prst="rect">
            <a:avLst/>
          </a:prstGeom>
          <a:solidFill>
            <a:srgbClr val="5A5A5A"/>
          </a:solidFill>
          <a:ln w="6350">
            <a:solidFill>
              <a:srgbClr val="8A8A8A"/>
            </a:solidFill>
            <a:prstDash val="solid"/>
          </a:ln>
        </p:spPr>
        <p:txBody>
          <a:bodyPr/>
          <a:lstStyle/>
          <a:p>
            <a:endParaRPr lang="en-US">
              <a:solidFill>
                <a:srgbClr val="E9E9E9"/>
              </a:solidFill>
            </a:endParaRPr>
          </a:p>
        </p:txBody>
      </p:sp>
      <p:sp>
        <p:nvSpPr>
          <p:cNvPr id="7" name="Text 5"/>
          <p:cNvSpPr txBox="1"/>
          <p:nvPr/>
        </p:nvSpPr>
        <p:spPr>
          <a:xfrm>
            <a:off x="2100224" y="3182112"/>
            <a:ext cx="546811" cy="274320"/>
          </a:xfrm>
          <a:prstGeom prst="rect">
            <a:avLst/>
          </a:prstGeom>
          <a:noFill/>
          <a:ln/>
        </p:spPr>
        <p:txBody>
          <a:bodyPr wrap="none" lIns="0" tIns="0" rIns="0" bIns="0" rtlCol="0" anchor="ctr"/>
          <a:lstStyle/>
          <a:p>
            <a:pPr marL="0" indent="0" algn="ctr">
              <a:buNone/>
            </a:pPr>
            <a:r>
              <a:rPr lang="en-US" sz="1100" dirty="0">
                <a:solidFill>
                  <a:srgbClr val="D9D9D9"/>
                </a:solidFill>
                <a:latin typeface="Calibri" pitchFamily="34" charset="0"/>
                <a:ea typeface="Calibri" pitchFamily="34" charset="-122"/>
                <a:cs typeface="Calibri" pitchFamily="34" charset="-120"/>
              </a:rPr>
              <a:t>id</a:t>
            </a:r>
            <a:endParaRPr lang="en-US" sz="1100" dirty="0">
              <a:solidFill>
                <a:srgbClr val="D9D9D9"/>
              </a:solidFill>
            </a:endParaRPr>
          </a:p>
        </p:txBody>
      </p:sp>
      <p:sp>
        <p:nvSpPr>
          <p:cNvPr id="8" name="Shape 6"/>
          <p:cNvSpPr/>
          <p:nvPr/>
        </p:nvSpPr>
        <p:spPr>
          <a:xfrm>
            <a:off x="2778404" y="1737360"/>
            <a:ext cx="455371" cy="1417320"/>
          </a:xfrm>
          <a:prstGeom prst="rect">
            <a:avLst/>
          </a:prstGeom>
          <a:solidFill>
            <a:srgbClr val="FFCC00"/>
          </a:solidFill>
          <a:ln w="6350">
            <a:solidFill>
              <a:srgbClr val="FFCC00"/>
            </a:solidFill>
            <a:prstDash val="solid"/>
          </a:ln>
        </p:spPr>
        <p:txBody>
          <a:bodyPr/>
          <a:lstStyle/>
          <a:p>
            <a:endParaRPr lang="en-US">
              <a:solidFill>
                <a:srgbClr val="E9E9E9"/>
              </a:solidFill>
            </a:endParaRPr>
          </a:p>
        </p:txBody>
      </p:sp>
      <p:sp>
        <p:nvSpPr>
          <p:cNvPr id="9" name="Text 7"/>
          <p:cNvSpPr txBox="1"/>
          <p:nvPr/>
        </p:nvSpPr>
        <p:spPr>
          <a:xfrm>
            <a:off x="2732684" y="3182112"/>
            <a:ext cx="546811" cy="274320"/>
          </a:xfrm>
          <a:prstGeom prst="rect">
            <a:avLst/>
          </a:prstGeom>
          <a:noFill/>
          <a:ln/>
        </p:spPr>
        <p:txBody>
          <a:bodyPr wrap="none" lIns="0" tIns="0" rIns="0" bIns="0" rtlCol="0" anchor="ctr"/>
          <a:lstStyle/>
          <a:p>
            <a:pPr marL="0" indent="0" algn="ctr">
              <a:buNone/>
            </a:pPr>
            <a:r>
              <a:rPr lang="en-US" sz="1100" dirty="0">
                <a:solidFill>
                  <a:srgbClr val="D9D9D9"/>
                </a:solidFill>
                <a:latin typeface="Calibri" pitchFamily="34" charset="0"/>
                <a:ea typeface="Calibri" pitchFamily="34" charset="-122"/>
                <a:cs typeface="Calibri" pitchFamily="34" charset="-120"/>
              </a:rPr>
              <a:t>country</a:t>
            </a:r>
            <a:endParaRPr lang="en-US" sz="1100" dirty="0">
              <a:solidFill>
                <a:srgbClr val="D9D9D9"/>
              </a:solidFill>
            </a:endParaRPr>
          </a:p>
        </p:txBody>
      </p:sp>
      <p:sp>
        <p:nvSpPr>
          <p:cNvPr id="10" name="Shape 8"/>
          <p:cNvSpPr/>
          <p:nvPr/>
        </p:nvSpPr>
        <p:spPr>
          <a:xfrm>
            <a:off x="3410864" y="1737360"/>
            <a:ext cx="455371" cy="1417320"/>
          </a:xfrm>
          <a:prstGeom prst="rect">
            <a:avLst/>
          </a:prstGeom>
          <a:solidFill>
            <a:srgbClr val="5A5A5A"/>
          </a:solidFill>
          <a:ln w="6350">
            <a:solidFill>
              <a:srgbClr val="8A8A8A"/>
            </a:solidFill>
            <a:prstDash val="solid"/>
          </a:ln>
        </p:spPr>
        <p:txBody>
          <a:bodyPr/>
          <a:lstStyle/>
          <a:p>
            <a:endParaRPr lang="en-US">
              <a:solidFill>
                <a:srgbClr val="E9E9E9"/>
              </a:solidFill>
            </a:endParaRPr>
          </a:p>
        </p:txBody>
      </p:sp>
      <p:sp>
        <p:nvSpPr>
          <p:cNvPr id="11" name="Text 9"/>
          <p:cNvSpPr txBox="1"/>
          <p:nvPr/>
        </p:nvSpPr>
        <p:spPr>
          <a:xfrm>
            <a:off x="3365144" y="3182112"/>
            <a:ext cx="546811" cy="274320"/>
          </a:xfrm>
          <a:prstGeom prst="rect">
            <a:avLst/>
          </a:prstGeom>
          <a:noFill/>
          <a:ln/>
        </p:spPr>
        <p:txBody>
          <a:bodyPr wrap="none" lIns="0" tIns="0" rIns="0" bIns="0" rtlCol="0" anchor="ctr"/>
          <a:lstStyle/>
          <a:p>
            <a:pPr marL="0" indent="0" algn="ctr">
              <a:buNone/>
            </a:pPr>
            <a:r>
              <a:rPr lang="en-US" sz="1100" dirty="0">
                <a:solidFill>
                  <a:srgbClr val="D9D9D9"/>
                </a:solidFill>
                <a:latin typeface="Calibri" pitchFamily="34" charset="0"/>
                <a:ea typeface="Calibri" pitchFamily="34" charset="-122"/>
                <a:cs typeface="Calibri" pitchFamily="34" charset="-120"/>
              </a:rPr>
              <a:t>year</a:t>
            </a:r>
            <a:endParaRPr lang="en-US" sz="1100" dirty="0">
              <a:solidFill>
                <a:srgbClr val="D9D9D9"/>
              </a:solidFill>
            </a:endParaRPr>
          </a:p>
        </p:txBody>
      </p:sp>
      <p:sp>
        <p:nvSpPr>
          <p:cNvPr id="12" name="Shape 10"/>
          <p:cNvSpPr/>
          <p:nvPr/>
        </p:nvSpPr>
        <p:spPr>
          <a:xfrm>
            <a:off x="4043324" y="1737360"/>
            <a:ext cx="455371" cy="1417320"/>
          </a:xfrm>
          <a:prstGeom prst="rect">
            <a:avLst/>
          </a:prstGeom>
          <a:solidFill>
            <a:srgbClr val="5A5A5A"/>
          </a:solidFill>
          <a:ln w="6350">
            <a:solidFill>
              <a:srgbClr val="8A8A8A"/>
            </a:solidFill>
            <a:prstDash val="solid"/>
          </a:ln>
        </p:spPr>
        <p:txBody>
          <a:bodyPr/>
          <a:lstStyle/>
          <a:p>
            <a:endParaRPr lang="en-US">
              <a:solidFill>
                <a:srgbClr val="E9E9E9"/>
              </a:solidFill>
            </a:endParaRPr>
          </a:p>
        </p:txBody>
      </p:sp>
      <p:sp>
        <p:nvSpPr>
          <p:cNvPr id="13" name="Text 11"/>
          <p:cNvSpPr txBox="1"/>
          <p:nvPr/>
        </p:nvSpPr>
        <p:spPr>
          <a:xfrm>
            <a:off x="3997604" y="3182112"/>
            <a:ext cx="546811" cy="274320"/>
          </a:xfrm>
          <a:prstGeom prst="rect">
            <a:avLst/>
          </a:prstGeom>
          <a:noFill/>
          <a:ln/>
        </p:spPr>
        <p:txBody>
          <a:bodyPr wrap="none" lIns="0" tIns="0" rIns="0" bIns="0" rtlCol="0" anchor="ctr"/>
          <a:lstStyle/>
          <a:p>
            <a:pPr marL="0" indent="0" algn="ctr">
              <a:buNone/>
            </a:pPr>
            <a:r>
              <a:rPr lang="en-US" sz="1100" dirty="0">
                <a:solidFill>
                  <a:srgbClr val="D9D9D9"/>
                </a:solidFill>
                <a:latin typeface="Calibri" pitchFamily="34" charset="0"/>
                <a:ea typeface="Calibri" pitchFamily="34" charset="-122"/>
                <a:cs typeface="Calibri" pitchFamily="34" charset="-120"/>
              </a:rPr>
              <a:t>class</a:t>
            </a:r>
            <a:endParaRPr lang="en-US" sz="1100" dirty="0">
              <a:solidFill>
                <a:srgbClr val="D9D9D9"/>
              </a:solidFill>
            </a:endParaRPr>
          </a:p>
        </p:txBody>
      </p:sp>
      <p:sp>
        <p:nvSpPr>
          <p:cNvPr id="14" name="Text 12"/>
          <p:cNvSpPr txBox="1"/>
          <p:nvPr/>
        </p:nvSpPr>
        <p:spPr>
          <a:xfrm>
            <a:off x="4815840" y="1426464"/>
            <a:ext cx="2529840" cy="274320"/>
          </a:xfrm>
          <a:prstGeom prst="rect">
            <a:avLst/>
          </a:prstGeom>
          <a:noFill/>
          <a:ln/>
        </p:spPr>
        <p:txBody>
          <a:bodyPr wrap="non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row group 2</a:t>
            </a:r>
            <a:endParaRPr lang="en-US" sz="1400" b="1" dirty="0">
              <a:solidFill>
                <a:srgbClr val="FFFFFF"/>
              </a:solidFill>
            </a:endParaRPr>
          </a:p>
        </p:txBody>
      </p:sp>
      <p:sp>
        <p:nvSpPr>
          <p:cNvPr id="15" name="Shape 13"/>
          <p:cNvSpPr/>
          <p:nvPr/>
        </p:nvSpPr>
        <p:spPr>
          <a:xfrm>
            <a:off x="4904384" y="1737360"/>
            <a:ext cx="455371" cy="1417320"/>
          </a:xfrm>
          <a:prstGeom prst="rect">
            <a:avLst/>
          </a:prstGeom>
          <a:solidFill>
            <a:srgbClr val="5A5A5A"/>
          </a:solidFill>
          <a:ln w="6350">
            <a:solidFill>
              <a:srgbClr val="8A8A8A"/>
            </a:solidFill>
            <a:prstDash val="solid"/>
          </a:ln>
        </p:spPr>
        <p:txBody>
          <a:bodyPr/>
          <a:lstStyle/>
          <a:p>
            <a:endParaRPr lang="en-US">
              <a:solidFill>
                <a:srgbClr val="E9E9E9"/>
              </a:solidFill>
            </a:endParaRPr>
          </a:p>
        </p:txBody>
      </p:sp>
      <p:sp>
        <p:nvSpPr>
          <p:cNvPr id="16" name="Text 14"/>
          <p:cNvSpPr txBox="1"/>
          <p:nvPr/>
        </p:nvSpPr>
        <p:spPr>
          <a:xfrm>
            <a:off x="4858664" y="3182112"/>
            <a:ext cx="546811" cy="274320"/>
          </a:xfrm>
          <a:prstGeom prst="rect">
            <a:avLst/>
          </a:prstGeom>
          <a:noFill/>
          <a:ln/>
        </p:spPr>
        <p:txBody>
          <a:bodyPr wrap="none" lIns="0" tIns="0" rIns="0" bIns="0" rtlCol="0" anchor="ctr"/>
          <a:lstStyle/>
          <a:p>
            <a:pPr marL="0" indent="0" algn="ctr">
              <a:buNone/>
            </a:pPr>
            <a:r>
              <a:rPr lang="en-US" sz="1100" dirty="0">
                <a:solidFill>
                  <a:srgbClr val="D9D9D9"/>
                </a:solidFill>
                <a:latin typeface="Calibri" pitchFamily="34" charset="0"/>
                <a:ea typeface="Calibri" pitchFamily="34" charset="-122"/>
                <a:cs typeface="Calibri" pitchFamily="34" charset="-120"/>
              </a:rPr>
              <a:t>id</a:t>
            </a:r>
            <a:endParaRPr lang="en-US" sz="1100" dirty="0">
              <a:solidFill>
                <a:srgbClr val="D9D9D9"/>
              </a:solidFill>
            </a:endParaRPr>
          </a:p>
        </p:txBody>
      </p:sp>
      <p:sp>
        <p:nvSpPr>
          <p:cNvPr id="17" name="Shape 15"/>
          <p:cNvSpPr/>
          <p:nvPr/>
        </p:nvSpPr>
        <p:spPr>
          <a:xfrm>
            <a:off x="5536844" y="1737360"/>
            <a:ext cx="455371" cy="1417320"/>
          </a:xfrm>
          <a:prstGeom prst="rect">
            <a:avLst/>
          </a:prstGeom>
          <a:solidFill>
            <a:srgbClr val="FFCC00"/>
          </a:solidFill>
          <a:ln w="6350">
            <a:solidFill>
              <a:srgbClr val="FFCC00"/>
            </a:solidFill>
            <a:prstDash val="solid"/>
          </a:ln>
        </p:spPr>
        <p:txBody>
          <a:bodyPr/>
          <a:lstStyle/>
          <a:p>
            <a:endParaRPr lang="en-US">
              <a:solidFill>
                <a:srgbClr val="E9E9E9"/>
              </a:solidFill>
            </a:endParaRPr>
          </a:p>
        </p:txBody>
      </p:sp>
      <p:sp>
        <p:nvSpPr>
          <p:cNvPr id="18" name="Text 16"/>
          <p:cNvSpPr txBox="1"/>
          <p:nvPr/>
        </p:nvSpPr>
        <p:spPr>
          <a:xfrm>
            <a:off x="5491124" y="3182112"/>
            <a:ext cx="546811" cy="274320"/>
          </a:xfrm>
          <a:prstGeom prst="rect">
            <a:avLst/>
          </a:prstGeom>
          <a:noFill/>
          <a:ln/>
        </p:spPr>
        <p:txBody>
          <a:bodyPr wrap="none" lIns="0" tIns="0" rIns="0" bIns="0" rtlCol="0" anchor="ctr"/>
          <a:lstStyle/>
          <a:p>
            <a:pPr marL="0" indent="0" algn="ctr">
              <a:buNone/>
            </a:pPr>
            <a:r>
              <a:rPr lang="en-US" sz="1100" dirty="0">
                <a:solidFill>
                  <a:srgbClr val="D9D9D9"/>
                </a:solidFill>
                <a:latin typeface="Calibri" pitchFamily="34" charset="0"/>
                <a:ea typeface="Calibri" pitchFamily="34" charset="-122"/>
                <a:cs typeface="Calibri" pitchFamily="34" charset="-120"/>
              </a:rPr>
              <a:t>country</a:t>
            </a:r>
            <a:endParaRPr lang="en-US" sz="1100" dirty="0">
              <a:solidFill>
                <a:srgbClr val="D9D9D9"/>
              </a:solidFill>
            </a:endParaRPr>
          </a:p>
        </p:txBody>
      </p:sp>
      <p:sp>
        <p:nvSpPr>
          <p:cNvPr id="19" name="Shape 17"/>
          <p:cNvSpPr/>
          <p:nvPr/>
        </p:nvSpPr>
        <p:spPr>
          <a:xfrm>
            <a:off x="6169304" y="1737360"/>
            <a:ext cx="455371" cy="1417320"/>
          </a:xfrm>
          <a:prstGeom prst="rect">
            <a:avLst/>
          </a:prstGeom>
          <a:solidFill>
            <a:srgbClr val="5A5A5A"/>
          </a:solidFill>
          <a:ln w="6350">
            <a:solidFill>
              <a:srgbClr val="8A8A8A"/>
            </a:solidFill>
            <a:prstDash val="solid"/>
          </a:ln>
        </p:spPr>
        <p:txBody>
          <a:bodyPr/>
          <a:lstStyle/>
          <a:p>
            <a:endParaRPr lang="en-US">
              <a:solidFill>
                <a:srgbClr val="E9E9E9"/>
              </a:solidFill>
            </a:endParaRPr>
          </a:p>
        </p:txBody>
      </p:sp>
      <p:sp>
        <p:nvSpPr>
          <p:cNvPr id="20" name="Text 18"/>
          <p:cNvSpPr txBox="1"/>
          <p:nvPr/>
        </p:nvSpPr>
        <p:spPr>
          <a:xfrm>
            <a:off x="6123584" y="3182112"/>
            <a:ext cx="546811" cy="274320"/>
          </a:xfrm>
          <a:prstGeom prst="rect">
            <a:avLst/>
          </a:prstGeom>
          <a:noFill/>
          <a:ln/>
        </p:spPr>
        <p:txBody>
          <a:bodyPr wrap="none" lIns="0" tIns="0" rIns="0" bIns="0" rtlCol="0" anchor="ctr"/>
          <a:lstStyle/>
          <a:p>
            <a:pPr marL="0" indent="0" algn="ctr">
              <a:buNone/>
            </a:pPr>
            <a:r>
              <a:rPr lang="en-US" sz="1100" dirty="0">
                <a:solidFill>
                  <a:srgbClr val="D9D9D9"/>
                </a:solidFill>
                <a:latin typeface="Calibri" pitchFamily="34" charset="0"/>
                <a:ea typeface="Calibri" pitchFamily="34" charset="-122"/>
                <a:cs typeface="Calibri" pitchFamily="34" charset="-120"/>
              </a:rPr>
              <a:t>year</a:t>
            </a:r>
            <a:endParaRPr lang="en-US" sz="1100" dirty="0">
              <a:solidFill>
                <a:srgbClr val="D9D9D9"/>
              </a:solidFill>
            </a:endParaRPr>
          </a:p>
        </p:txBody>
      </p:sp>
      <p:sp>
        <p:nvSpPr>
          <p:cNvPr id="21" name="Shape 19"/>
          <p:cNvSpPr/>
          <p:nvPr/>
        </p:nvSpPr>
        <p:spPr>
          <a:xfrm>
            <a:off x="6801764" y="1737360"/>
            <a:ext cx="455371" cy="1417320"/>
          </a:xfrm>
          <a:prstGeom prst="rect">
            <a:avLst/>
          </a:prstGeom>
          <a:solidFill>
            <a:srgbClr val="5A5A5A"/>
          </a:solidFill>
          <a:ln w="6350">
            <a:solidFill>
              <a:srgbClr val="8A8A8A"/>
            </a:solidFill>
            <a:prstDash val="solid"/>
          </a:ln>
        </p:spPr>
        <p:txBody>
          <a:bodyPr/>
          <a:lstStyle/>
          <a:p>
            <a:endParaRPr lang="en-US">
              <a:solidFill>
                <a:srgbClr val="E9E9E9"/>
              </a:solidFill>
            </a:endParaRPr>
          </a:p>
        </p:txBody>
      </p:sp>
      <p:sp>
        <p:nvSpPr>
          <p:cNvPr id="22" name="Text 20"/>
          <p:cNvSpPr txBox="1"/>
          <p:nvPr/>
        </p:nvSpPr>
        <p:spPr>
          <a:xfrm>
            <a:off x="6756044" y="3182112"/>
            <a:ext cx="546811" cy="274320"/>
          </a:xfrm>
          <a:prstGeom prst="rect">
            <a:avLst/>
          </a:prstGeom>
          <a:noFill/>
          <a:ln/>
        </p:spPr>
        <p:txBody>
          <a:bodyPr wrap="none" lIns="0" tIns="0" rIns="0" bIns="0" rtlCol="0" anchor="ctr"/>
          <a:lstStyle/>
          <a:p>
            <a:pPr marL="0" indent="0" algn="ctr">
              <a:buNone/>
            </a:pPr>
            <a:r>
              <a:rPr lang="en-US" sz="1100" dirty="0">
                <a:solidFill>
                  <a:srgbClr val="D9D9D9"/>
                </a:solidFill>
                <a:latin typeface="Calibri" pitchFamily="34" charset="0"/>
                <a:ea typeface="Calibri" pitchFamily="34" charset="-122"/>
                <a:cs typeface="Calibri" pitchFamily="34" charset="-120"/>
              </a:rPr>
              <a:t>class</a:t>
            </a:r>
            <a:endParaRPr lang="en-US" sz="1100" dirty="0">
              <a:solidFill>
                <a:srgbClr val="D9D9D9"/>
              </a:solidFill>
            </a:endParaRPr>
          </a:p>
        </p:txBody>
      </p:sp>
      <p:sp>
        <p:nvSpPr>
          <p:cNvPr id="23" name="Text 21"/>
          <p:cNvSpPr txBox="1"/>
          <p:nvPr/>
        </p:nvSpPr>
        <p:spPr>
          <a:xfrm>
            <a:off x="7574280" y="1426464"/>
            <a:ext cx="2529840" cy="274320"/>
          </a:xfrm>
          <a:prstGeom prst="rect">
            <a:avLst/>
          </a:prstGeom>
          <a:noFill/>
          <a:ln/>
        </p:spPr>
        <p:txBody>
          <a:bodyPr wrap="non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row group 3</a:t>
            </a:r>
            <a:endParaRPr lang="en-US" sz="1400" b="1" dirty="0">
              <a:solidFill>
                <a:srgbClr val="FFFFFF"/>
              </a:solidFill>
            </a:endParaRPr>
          </a:p>
        </p:txBody>
      </p:sp>
      <p:sp>
        <p:nvSpPr>
          <p:cNvPr id="24" name="Shape 22"/>
          <p:cNvSpPr/>
          <p:nvPr/>
        </p:nvSpPr>
        <p:spPr>
          <a:xfrm>
            <a:off x="7662824" y="1737360"/>
            <a:ext cx="455371" cy="1417320"/>
          </a:xfrm>
          <a:prstGeom prst="rect">
            <a:avLst/>
          </a:prstGeom>
          <a:solidFill>
            <a:srgbClr val="5A5A5A"/>
          </a:solidFill>
          <a:ln w="6350">
            <a:solidFill>
              <a:srgbClr val="8A8A8A"/>
            </a:solidFill>
            <a:prstDash val="solid"/>
          </a:ln>
        </p:spPr>
        <p:txBody>
          <a:bodyPr/>
          <a:lstStyle/>
          <a:p>
            <a:endParaRPr lang="en-US">
              <a:solidFill>
                <a:srgbClr val="E9E9E9"/>
              </a:solidFill>
            </a:endParaRPr>
          </a:p>
        </p:txBody>
      </p:sp>
      <p:sp>
        <p:nvSpPr>
          <p:cNvPr id="25" name="Text 23"/>
          <p:cNvSpPr txBox="1"/>
          <p:nvPr/>
        </p:nvSpPr>
        <p:spPr>
          <a:xfrm>
            <a:off x="7617104" y="3182112"/>
            <a:ext cx="546811" cy="274320"/>
          </a:xfrm>
          <a:prstGeom prst="rect">
            <a:avLst/>
          </a:prstGeom>
          <a:noFill/>
          <a:ln/>
        </p:spPr>
        <p:txBody>
          <a:bodyPr wrap="none" lIns="0" tIns="0" rIns="0" bIns="0" rtlCol="0" anchor="ctr"/>
          <a:lstStyle/>
          <a:p>
            <a:pPr marL="0" indent="0" algn="ctr">
              <a:buNone/>
            </a:pPr>
            <a:r>
              <a:rPr lang="en-US" sz="1100" dirty="0">
                <a:solidFill>
                  <a:srgbClr val="D9D9D9"/>
                </a:solidFill>
                <a:latin typeface="Calibri" pitchFamily="34" charset="0"/>
                <a:ea typeface="Calibri" pitchFamily="34" charset="-122"/>
                <a:cs typeface="Calibri" pitchFamily="34" charset="-120"/>
              </a:rPr>
              <a:t>id</a:t>
            </a:r>
            <a:endParaRPr lang="en-US" sz="1100" dirty="0">
              <a:solidFill>
                <a:srgbClr val="D9D9D9"/>
              </a:solidFill>
            </a:endParaRPr>
          </a:p>
        </p:txBody>
      </p:sp>
      <p:sp>
        <p:nvSpPr>
          <p:cNvPr id="26" name="Shape 24"/>
          <p:cNvSpPr/>
          <p:nvPr/>
        </p:nvSpPr>
        <p:spPr>
          <a:xfrm>
            <a:off x="8295284" y="1737360"/>
            <a:ext cx="455371" cy="1417320"/>
          </a:xfrm>
          <a:prstGeom prst="rect">
            <a:avLst/>
          </a:prstGeom>
          <a:solidFill>
            <a:srgbClr val="FFCC00"/>
          </a:solidFill>
          <a:ln w="6350">
            <a:solidFill>
              <a:srgbClr val="FFCC00"/>
            </a:solidFill>
            <a:prstDash val="solid"/>
          </a:ln>
        </p:spPr>
        <p:txBody>
          <a:bodyPr/>
          <a:lstStyle/>
          <a:p>
            <a:endParaRPr lang="en-US">
              <a:solidFill>
                <a:srgbClr val="E9E9E9"/>
              </a:solidFill>
            </a:endParaRPr>
          </a:p>
        </p:txBody>
      </p:sp>
      <p:sp>
        <p:nvSpPr>
          <p:cNvPr id="27" name="Text 25"/>
          <p:cNvSpPr txBox="1"/>
          <p:nvPr/>
        </p:nvSpPr>
        <p:spPr>
          <a:xfrm>
            <a:off x="8249564" y="3182112"/>
            <a:ext cx="546811" cy="274320"/>
          </a:xfrm>
          <a:prstGeom prst="rect">
            <a:avLst/>
          </a:prstGeom>
          <a:noFill/>
          <a:ln/>
        </p:spPr>
        <p:txBody>
          <a:bodyPr wrap="none" lIns="0" tIns="0" rIns="0" bIns="0" rtlCol="0" anchor="ctr"/>
          <a:lstStyle/>
          <a:p>
            <a:pPr marL="0" indent="0" algn="ctr">
              <a:buNone/>
            </a:pPr>
            <a:r>
              <a:rPr lang="en-US" sz="1100" dirty="0">
                <a:solidFill>
                  <a:srgbClr val="D9D9D9"/>
                </a:solidFill>
                <a:latin typeface="Calibri" pitchFamily="34" charset="0"/>
                <a:ea typeface="Calibri" pitchFamily="34" charset="-122"/>
                <a:cs typeface="Calibri" pitchFamily="34" charset="-120"/>
              </a:rPr>
              <a:t>country</a:t>
            </a:r>
            <a:endParaRPr lang="en-US" sz="1100" dirty="0">
              <a:solidFill>
                <a:srgbClr val="D9D9D9"/>
              </a:solidFill>
            </a:endParaRPr>
          </a:p>
        </p:txBody>
      </p:sp>
      <p:sp>
        <p:nvSpPr>
          <p:cNvPr id="28" name="Shape 26"/>
          <p:cNvSpPr/>
          <p:nvPr/>
        </p:nvSpPr>
        <p:spPr>
          <a:xfrm>
            <a:off x="8927744" y="1737360"/>
            <a:ext cx="455371" cy="1417320"/>
          </a:xfrm>
          <a:prstGeom prst="rect">
            <a:avLst/>
          </a:prstGeom>
          <a:solidFill>
            <a:srgbClr val="5A5A5A"/>
          </a:solidFill>
          <a:ln w="6350">
            <a:solidFill>
              <a:srgbClr val="8A8A8A"/>
            </a:solidFill>
            <a:prstDash val="solid"/>
          </a:ln>
        </p:spPr>
        <p:txBody>
          <a:bodyPr/>
          <a:lstStyle/>
          <a:p>
            <a:endParaRPr lang="en-US">
              <a:solidFill>
                <a:srgbClr val="E9E9E9"/>
              </a:solidFill>
            </a:endParaRPr>
          </a:p>
        </p:txBody>
      </p:sp>
      <p:sp>
        <p:nvSpPr>
          <p:cNvPr id="29" name="Text 27"/>
          <p:cNvSpPr txBox="1"/>
          <p:nvPr/>
        </p:nvSpPr>
        <p:spPr>
          <a:xfrm>
            <a:off x="8882024" y="3182112"/>
            <a:ext cx="546811" cy="274320"/>
          </a:xfrm>
          <a:prstGeom prst="rect">
            <a:avLst/>
          </a:prstGeom>
          <a:noFill/>
          <a:ln/>
        </p:spPr>
        <p:txBody>
          <a:bodyPr wrap="none" lIns="0" tIns="0" rIns="0" bIns="0" rtlCol="0" anchor="ctr"/>
          <a:lstStyle/>
          <a:p>
            <a:pPr marL="0" indent="0" algn="ctr">
              <a:buNone/>
            </a:pPr>
            <a:r>
              <a:rPr lang="en-US" sz="1100" dirty="0">
                <a:solidFill>
                  <a:srgbClr val="D9D9D9"/>
                </a:solidFill>
                <a:latin typeface="Calibri" pitchFamily="34" charset="0"/>
                <a:ea typeface="Calibri" pitchFamily="34" charset="-122"/>
                <a:cs typeface="Calibri" pitchFamily="34" charset="-120"/>
              </a:rPr>
              <a:t>year</a:t>
            </a:r>
            <a:endParaRPr lang="en-US" sz="1100" dirty="0">
              <a:solidFill>
                <a:srgbClr val="D9D9D9"/>
              </a:solidFill>
            </a:endParaRPr>
          </a:p>
        </p:txBody>
      </p:sp>
      <p:sp>
        <p:nvSpPr>
          <p:cNvPr id="30" name="Shape 28"/>
          <p:cNvSpPr/>
          <p:nvPr/>
        </p:nvSpPr>
        <p:spPr>
          <a:xfrm>
            <a:off x="9560204" y="1737360"/>
            <a:ext cx="455371" cy="1417320"/>
          </a:xfrm>
          <a:prstGeom prst="rect">
            <a:avLst/>
          </a:prstGeom>
          <a:solidFill>
            <a:srgbClr val="5A5A5A"/>
          </a:solidFill>
          <a:ln w="6350">
            <a:solidFill>
              <a:srgbClr val="8A8A8A"/>
            </a:solidFill>
            <a:prstDash val="solid"/>
          </a:ln>
        </p:spPr>
        <p:txBody>
          <a:bodyPr/>
          <a:lstStyle/>
          <a:p>
            <a:endParaRPr lang="en-US">
              <a:solidFill>
                <a:srgbClr val="E9E9E9"/>
              </a:solidFill>
            </a:endParaRPr>
          </a:p>
        </p:txBody>
      </p:sp>
      <p:sp>
        <p:nvSpPr>
          <p:cNvPr id="31" name="Text 29"/>
          <p:cNvSpPr txBox="1"/>
          <p:nvPr/>
        </p:nvSpPr>
        <p:spPr>
          <a:xfrm>
            <a:off x="9514484" y="3182112"/>
            <a:ext cx="546811" cy="274320"/>
          </a:xfrm>
          <a:prstGeom prst="rect">
            <a:avLst/>
          </a:prstGeom>
          <a:noFill/>
          <a:ln/>
        </p:spPr>
        <p:txBody>
          <a:bodyPr wrap="none" lIns="0" tIns="0" rIns="0" bIns="0" rtlCol="0" anchor="ctr"/>
          <a:lstStyle/>
          <a:p>
            <a:pPr marL="0" indent="0" algn="ctr">
              <a:buNone/>
            </a:pPr>
            <a:r>
              <a:rPr lang="en-US" sz="1100" dirty="0">
                <a:solidFill>
                  <a:srgbClr val="D9D9D9"/>
                </a:solidFill>
                <a:latin typeface="Calibri" pitchFamily="34" charset="0"/>
                <a:ea typeface="Calibri" pitchFamily="34" charset="-122"/>
                <a:cs typeface="Calibri" pitchFamily="34" charset="-120"/>
              </a:rPr>
              <a:t>class</a:t>
            </a:r>
            <a:endParaRPr lang="en-US" sz="1100" dirty="0">
              <a:solidFill>
                <a:srgbClr val="D9D9D9"/>
              </a:solidFill>
            </a:endParaRPr>
          </a:p>
        </p:txBody>
      </p:sp>
      <p:sp>
        <p:nvSpPr>
          <p:cNvPr id="32" name="Shape 30"/>
          <p:cNvSpPr/>
          <p:nvPr/>
        </p:nvSpPr>
        <p:spPr>
          <a:xfrm>
            <a:off x="10469880" y="2148840"/>
            <a:ext cx="914400" cy="548640"/>
          </a:xfrm>
          <a:prstGeom prst="roundRect">
            <a:avLst>
              <a:gd name="adj" fmla="val 6667"/>
            </a:avLst>
          </a:prstGeom>
          <a:solidFill>
            <a:srgbClr val="000000"/>
          </a:solidFill>
          <a:ln w="12700">
            <a:solidFill>
              <a:srgbClr val="D9D9D9"/>
            </a:solidFill>
            <a:prstDash val="solid"/>
          </a:ln>
        </p:spPr>
        <p:txBody>
          <a:bodyPr/>
          <a:lstStyle/>
          <a:p>
            <a:endParaRPr lang="en-US">
              <a:solidFill>
                <a:srgbClr val="E9E9E9"/>
              </a:solidFill>
            </a:endParaRPr>
          </a:p>
        </p:txBody>
      </p:sp>
      <p:sp>
        <p:nvSpPr>
          <p:cNvPr id="33" name="Text 31"/>
          <p:cNvSpPr txBox="1"/>
          <p:nvPr/>
        </p:nvSpPr>
        <p:spPr>
          <a:xfrm>
            <a:off x="10469880" y="2148840"/>
            <a:ext cx="914400" cy="548640"/>
          </a:xfrm>
          <a:prstGeom prst="rect">
            <a:avLst/>
          </a:prstGeom>
          <a:noFill/>
          <a:ln/>
        </p:spPr>
        <p:txBody>
          <a:bodyPr wrap="none" lIns="0" tIns="0" rIns="0" bIns="0" rtlCol="0" anchor="ctr"/>
          <a:lstStyle/>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footer</a:t>
            </a:r>
            <a:endParaRPr lang="en-US" sz="1400" b="1" dirty="0">
              <a:solidFill>
                <a:srgbClr val="FFFFFF"/>
              </a:solidFill>
            </a:endParaRPr>
          </a:p>
        </p:txBody>
      </p:sp>
      <p:sp>
        <p:nvSpPr>
          <p:cNvPr id="34" name="Text 32"/>
          <p:cNvSpPr txBox="1"/>
          <p:nvPr/>
        </p:nvSpPr>
        <p:spPr>
          <a:xfrm>
            <a:off x="502920" y="3794760"/>
            <a:ext cx="11185855" cy="1554480"/>
          </a:xfrm>
          <a:prstGeom prst="rect">
            <a:avLst/>
          </a:prstGeom>
          <a:noFill/>
          <a:ln/>
        </p:spPr>
        <p:txBody>
          <a:bodyPr wrap="square" lIns="0" tIns="0" rIns="0" bIns="0" rtlCol="0" anchor="t"/>
          <a:lstStyle/>
          <a:p>
            <a:pPr marL="228600" indent="-228600">
              <a:lnSpc>
                <a:spcPct val="105000"/>
              </a:lnSpc>
              <a:spcAft>
                <a:spcPts val="800"/>
              </a:spcAft>
              <a:buSzPct val="100000"/>
              <a:buChar char="•"/>
            </a:pPr>
            <a:r>
              <a:rPr lang="en-US" sz="2400" dirty="0">
                <a:solidFill>
                  <a:srgbClr val="E9E9E9"/>
                </a:solidFill>
                <a:latin typeface="Calibri" pitchFamily="34" charset="0"/>
                <a:ea typeface="Calibri" pitchFamily="34" charset="-122"/>
                <a:cs typeface="Calibri" pitchFamily="34" charset="-120"/>
              </a:rPr>
              <a:t>A query that needs one column (yellow) reads that column, not the whole file.</a:t>
            </a:r>
            <a:endParaRPr lang="en-US" sz="2400" dirty="0">
              <a:solidFill>
                <a:srgbClr val="E9E9E9"/>
              </a:solidFill>
            </a:endParaRPr>
          </a:p>
          <a:p>
            <a:pPr marL="228600" indent="-228600">
              <a:lnSpc>
                <a:spcPct val="105000"/>
              </a:lnSpc>
              <a:spcAft>
                <a:spcPts val="800"/>
              </a:spcAft>
              <a:buSzPct val="100000"/>
              <a:buChar char="•"/>
            </a:pPr>
            <a:r>
              <a:rPr lang="en-US" sz="2400" dirty="0">
                <a:solidFill>
                  <a:srgbClr val="E9E9E9"/>
                </a:solidFill>
                <a:latin typeface="Calibri" pitchFamily="34" charset="0"/>
                <a:ea typeface="Calibri" pitchFamily="34" charset="-122"/>
                <a:cs typeface="Calibri" pitchFamily="34" charset="-120"/>
              </a:rPr>
              <a:t>The footer holds the schema, row counts, and min/max statistics per column chunk</a:t>
            </a:r>
          </a:p>
          <a:p>
            <a:pPr marL="228600" indent="-228600">
              <a:lnSpc>
                <a:spcPct val="105000"/>
              </a:lnSpc>
              <a:spcAft>
                <a:spcPts val="800"/>
              </a:spcAft>
              <a:buSzPct val="100000"/>
              <a:buChar char="•"/>
            </a:pPr>
            <a:r>
              <a:rPr lang="en-US" sz="2400" dirty="0">
                <a:solidFill>
                  <a:srgbClr val="E9E9E9"/>
                </a:solidFill>
                <a:latin typeface="Calibri" pitchFamily="34" charset="0"/>
                <a:ea typeface="Calibri" pitchFamily="34" charset="-122"/>
                <a:cs typeface="Calibri" pitchFamily="34" charset="-120"/>
              </a:rPr>
              <a:t>Files are split into row groups, so many files can be read in parallel.</a:t>
            </a:r>
            <a:endParaRPr lang="en-US" sz="2400" dirty="0">
              <a:solidFill>
                <a:srgbClr val="E9E9E9"/>
              </a:solidFill>
            </a:endParaRPr>
          </a:p>
        </p:txBody>
      </p:sp>
    </p:spTree>
    <p:extLst>
      <p:ext uri="{BB962C8B-B14F-4D97-AF65-F5344CB8AC3E}">
        <p14:creationId xmlns:p14="http://schemas.microsoft.com/office/powerpoint/2010/main" val="37120676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a:effectLst/>
      </p:bgPr>
    </p:bg>
    <p:spTree>
      <p:nvGrpSpPr>
        <p:cNvPr id="1" name=""/>
        <p:cNvGrpSpPr/>
        <p:nvPr/>
      </p:nvGrpSpPr>
      <p:grpSpPr>
        <a:xfrm>
          <a:off x="0" y="0"/>
          <a:ext cx="0" cy="0"/>
          <a:chOff x="0" y="0"/>
          <a:chExt cx="0" cy="0"/>
        </a:xfrm>
      </p:grpSpPr>
      <p:sp>
        <p:nvSpPr>
          <p:cNvPr id="2" name="Text 0"/>
          <p:cNvSpPr txBox="1"/>
          <p:nvPr/>
        </p:nvSpPr>
        <p:spPr>
          <a:xfrm>
            <a:off x="10728655" y="6473952"/>
            <a:ext cx="1188720" cy="274320"/>
          </a:xfrm>
          <a:prstGeom prst="rect">
            <a:avLst/>
          </a:prstGeom>
          <a:noFill/>
          <a:ln/>
        </p:spPr>
        <p:txBody>
          <a:bodyPr wrap="square" lIns="0" tIns="0" rIns="0" bIns="0"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16 / 54</a:t>
            </a:r>
            <a:endParaRPr lang="en-US" sz="900" dirty="0">
              <a:solidFill>
                <a:srgbClr val="E9E9E9"/>
              </a:solidFill>
            </a:endParaRPr>
          </a:p>
        </p:txBody>
      </p:sp>
      <p:sp>
        <p:nvSpPr>
          <p:cNvPr id="3" name="Text 1"/>
          <p:cNvSpPr txBox="1"/>
          <p:nvPr/>
        </p:nvSpPr>
        <p:spPr>
          <a:xfrm>
            <a:off x="502920" y="320040"/>
            <a:ext cx="11185855" cy="685800"/>
          </a:xfrm>
          <a:prstGeom prst="rect">
            <a:avLst/>
          </a:prstGeom>
          <a:noFill/>
          <a:ln/>
        </p:spPr>
        <p:txBody>
          <a:bodyPr wrap="square" lIns="0" tIns="0" rIns="0" bIns="0" rtlCol="0" anchor="t"/>
          <a:lstStyle/>
          <a:p>
            <a:pPr marL="0" indent="0">
              <a:buNone/>
            </a:pPr>
            <a:r>
              <a:rPr lang="en-US" sz="2600" b="1" dirty="0">
                <a:solidFill>
                  <a:srgbClr val="FFFFFF"/>
                </a:solidFill>
                <a:latin typeface="Calibri" pitchFamily="34" charset="0"/>
                <a:ea typeface="Calibri" pitchFamily="34" charset="-122"/>
                <a:cs typeface="Calibri" pitchFamily="34" charset="-120"/>
              </a:rPr>
              <a:t>Cloud Optimized GeoTIFF (COG)</a:t>
            </a:r>
            <a:endParaRPr lang="en-US" sz="2600" dirty="0">
              <a:solidFill>
                <a:srgbClr val="E9E9E9"/>
              </a:solidFill>
            </a:endParaRPr>
          </a:p>
        </p:txBody>
      </p:sp>
      <p:sp>
        <p:nvSpPr>
          <p:cNvPr id="4" name="Shape 2"/>
          <p:cNvSpPr/>
          <p:nvPr/>
        </p:nvSpPr>
        <p:spPr>
          <a:xfrm>
            <a:off x="1584655" y="12618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5" name="Shape 3"/>
          <p:cNvSpPr/>
          <p:nvPr/>
        </p:nvSpPr>
        <p:spPr>
          <a:xfrm>
            <a:off x="2041855" y="12618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6" name="Shape 4"/>
          <p:cNvSpPr/>
          <p:nvPr/>
        </p:nvSpPr>
        <p:spPr>
          <a:xfrm>
            <a:off x="2499055" y="12618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7" name="Shape 5"/>
          <p:cNvSpPr/>
          <p:nvPr/>
        </p:nvSpPr>
        <p:spPr>
          <a:xfrm>
            <a:off x="2956255" y="12618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8" name="Shape 6"/>
          <p:cNvSpPr/>
          <p:nvPr/>
        </p:nvSpPr>
        <p:spPr>
          <a:xfrm>
            <a:off x="3413455" y="12618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9" name="Shape 7"/>
          <p:cNvSpPr/>
          <p:nvPr/>
        </p:nvSpPr>
        <p:spPr>
          <a:xfrm>
            <a:off x="3870655" y="12618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10" name="Shape 8"/>
          <p:cNvSpPr/>
          <p:nvPr/>
        </p:nvSpPr>
        <p:spPr>
          <a:xfrm>
            <a:off x="1584655" y="17190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11" name="Shape 9"/>
          <p:cNvSpPr/>
          <p:nvPr/>
        </p:nvSpPr>
        <p:spPr>
          <a:xfrm>
            <a:off x="2041855" y="17190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12" name="Shape 10"/>
          <p:cNvSpPr/>
          <p:nvPr/>
        </p:nvSpPr>
        <p:spPr>
          <a:xfrm>
            <a:off x="2499055" y="17190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13" name="Shape 11"/>
          <p:cNvSpPr/>
          <p:nvPr/>
        </p:nvSpPr>
        <p:spPr>
          <a:xfrm>
            <a:off x="2956255" y="17190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14" name="Shape 12"/>
          <p:cNvSpPr/>
          <p:nvPr/>
        </p:nvSpPr>
        <p:spPr>
          <a:xfrm>
            <a:off x="3413455" y="17190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15" name="Shape 13"/>
          <p:cNvSpPr/>
          <p:nvPr/>
        </p:nvSpPr>
        <p:spPr>
          <a:xfrm>
            <a:off x="3870655" y="17190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16" name="Shape 14"/>
          <p:cNvSpPr/>
          <p:nvPr/>
        </p:nvSpPr>
        <p:spPr>
          <a:xfrm>
            <a:off x="1584655" y="21762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17" name="Shape 15"/>
          <p:cNvSpPr/>
          <p:nvPr/>
        </p:nvSpPr>
        <p:spPr>
          <a:xfrm>
            <a:off x="2041855" y="21762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18" name="Shape 16"/>
          <p:cNvSpPr/>
          <p:nvPr/>
        </p:nvSpPr>
        <p:spPr>
          <a:xfrm>
            <a:off x="2499055" y="21762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19" name="Shape 17"/>
          <p:cNvSpPr/>
          <p:nvPr/>
        </p:nvSpPr>
        <p:spPr>
          <a:xfrm>
            <a:off x="2956255" y="21762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20" name="Shape 18"/>
          <p:cNvSpPr/>
          <p:nvPr/>
        </p:nvSpPr>
        <p:spPr>
          <a:xfrm>
            <a:off x="3413455" y="21762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21" name="Shape 19"/>
          <p:cNvSpPr/>
          <p:nvPr/>
        </p:nvSpPr>
        <p:spPr>
          <a:xfrm>
            <a:off x="3870655" y="21762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22" name="Shape 20"/>
          <p:cNvSpPr/>
          <p:nvPr/>
        </p:nvSpPr>
        <p:spPr>
          <a:xfrm>
            <a:off x="1584655" y="26334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23" name="Shape 21"/>
          <p:cNvSpPr/>
          <p:nvPr/>
        </p:nvSpPr>
        <p:spPr>
          <a:xfrm>
            <a:off x="2041855" y="26334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24" name="Shape 22"/>
          <p:cNvSpPr/>
          <p:nvPr/>
        </p:nvSpPr>
        <p:spPr>
          <a:xfrm>
            <a:off x="2499055" y="26334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25" name="Shape 23"/>
          <p:cNvSpPr/>
          <p:nvPr/>
        </p:nvSpPr>
        <p:spPr>
          <a:xfrm>
            <a:off x="2956255" y="26334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26" name="Shape 24"/>
          <p:cNvSpPr/>
          <p:nvPr/>
        </p:nvSpPr>
        <p:spPr>
          <a:xfrm>
            <a:off x="3413455" y="26334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27" name="Shape 25"/>
          <p:cNvSpPr/>
          <p:nvPr/>
        </p:nvSpPr>
        <p:spPr>
          <a:xfrm>
            <a:off x="3870655" y="26334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28" name="Shape 26"/>
          <p:cNvSpPr/>
          <p:nvPr/>
        </p:nvSpPr>
        <p:spPr>
          <a:xfrm>
            <a:off x="1584655" y="30906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29" name="Shape 27"/>
          <p:cNvSpPr/>
          <p:nvPr/>
        </p:nvSpPr>
        <p:spPr>
          <a:xfrm>
            <a:off x="2041855" y="30906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30" name="Shape 28"/>
          <p:cNvSpPr/>
          <p:nvPr/>
        </p:nvSpPr>
        <p:spPr>
          <a:xfrm>
            <a:off x="2499055" y="30906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31" name="Shape 29"/>
          <p:cNvSpPr/>
          <p:nvPr/>
        </p:nvSpPr>
        <p:spPr>
          <a:xfrm>
            <a:off x="2956255" y="30906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32" name="Shape 30"/>
          <p:cNvSpPr/>
          <p:nvPr/>
        </p:nvSpPr>
        <p:spPr>
          <a:xfrm>
            <a:off x="3413455" y="30906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33" name="Shape 31"/>
          <p:cNvSpPr/>
          <p:nvPr/>
        </p:nvSpPr>
        <p:spPr>
          <a:xfrm>
            <a:off x="3870655" y="30906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34" name="Shape 32"/>
          <p:cNvSpPr/>
          <p:nvPr/>
        </p:nvSpPr>
        <p:spPr>
          <a:xfrm>
            <a:off x="1584655" y="35478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35" name="Shape 33"/>
          <p:cNvSpPr/>
          <p:nvPr/>
        </p:nvSpPr>
        <p:spPr>
          <a:xfrm>
            <a:off x="2041855" y="35478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36" name="Shape 34"/>
          <p:cNvSpPr/>
          <p:nvPr/>
        </p:nvSpPr>
        <p:spPr>
          <a:xfrm>
            <a:off x="2499055" y="35478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37" name="Shape 35"/>
          <p:cNvSpPr/>
          <p:nvPr/>
        </p:nvSpPr>
        <p:spPr>
          <a:xfrm>
            <a:off x="2956255" y="35478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38" name="Shape 36"/>
          <p:cNvSpPr/>
          <p:nvPr/>
        </p:nvSpPr>
        <p:spPr>
          <a:xfrm>
            <a:off x="3413455" y="35478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39" name="Shape 37"/>
          <p:cNvSpPr/>
          <p:nvPr/>
        </p:nvSpPr>
        <p:spPr>
          <a:xfrm>
            <a:off x="3870655" y="3547872"/>
            <a:ext cx="457200" cy="457200"/>
          </a:xfrm>
          <a:prstGeom prst="rect">
            <a:avLst/>
          </a:prstGeom>
          <a:solidFill>
            <a:srgbClr val="3C3C3C"/>
          </a:solidFill>
          <a:ln w="9525">
            <a:solidFill>
              <a:srgbClr val="8A8A8A"/>
            </a:solidFill>
            <a:prstDash val="solid"/>
          </a:ln>
        </p:spPr>
        <p:txBody>
          <a:bodyPr/>
          <a:lstStyle/>
          <a:p>
            <a:endParaRPr lang="en-US">
              <a:solidFill>
                <a:srgbClr val="E9E9E9"/>
              </a:solidFill>
            </a:endParaRPr>
          </a:p>
        </p:txBody>
      </p:sp>
      <p:sp>
        <p:nvSpPr>
          <p:cNvPr id="40" name="Shape 38"/>
          <p:cNvSpPr/>
          <p:nvPr/>
        </p:nvSpPr>
        <p:spPr>
          <a:xfrm>
            <a:off x="2499055" y="2176272"/>
            <a:ext cx="914400" cy="914400"/>
          </a:xfrm>
          <a:prstGeom prst="rect">
            <a:avLst/>
          </a:prstGeom>
          <a:solidFill>
            <a:srgbClr val="FFCC00">
              <a:alpha val="35000"/>
            </a:srgbClr>
          </a:solidFill>
          <a:ln w="25400">
            <a:solidFill>
              <a:srgbClr val="FFCC00"/>
            </a:solidFill>
            <a:prstDash val="solid"/>
          </a:ln>
        </p:spPr>
        <p:txBody>
          <a:bodyPr/>
          <a:lstStyle/>
          <a:p>
            <a:endParaRPr lang="en-US">
              <a:solidFill>
                <a:srgbClr val="E9E9E9"/>
              </a:solidFill>
            </a:endParaRPr>
          </a:p>
        </p:txBody>
      </p:sp>
      <p:sp>
        <p:nvSpPr>
          <p:cNvPr id="41" name="Text 39"/>
          <p:cNvSpPr txBox="1"/>
          <p:nvPr/>
        </p:nvSpPr>
        <p:spPr>
          <a:xfrm>
            <a:off x="1463040" y="4292600"/>
            <a:ext cx="2743200" cy="304800"/>
          </a:xfrm>
          <a:prstGeom prst="rect">
            <a:avLst/>
          </a:prstGeom>
          <a:noFill/>
          <a:ln/>
        </p:spPr>
        <p:txBody>
          <a:bodyPr wrap="none" lIns="0" tIns="0" rIns="0" bIns="0" rtlCol="0" anchor="ctr"/>
          <a:lstStyle/>
          <a:p>
            <a:pPr marL="0" indent="0" algn="ctr">
              <a:buNone/>
            </a:pPr>
            <a:r>
              <a:rPr lang="en-US" dirty="0">
                <a:solidFill>
                  <a:srgbClr val="D9D9D9"/>
                </a:solidFill>
                <a:latin typeface="Calibri" pitchFamily="34" charset="0"/>
                <a:ea typeface="Calibri" pitchFamily="34" charset="-122"/>
                <a:cs typeface="Calibri" pitchFamily="34" charset="-120"/>
              </a:rPr>
              <a:t>internal tiles</a:t>
            </a:r>
            <a:endParaRPr lang="en-US" dirty="0">
              <a:solidFill>
                <a:srgbClr val="D9D9D9"/>
              </a:solidFill>
            </a:endParaRPr>
          </a:p>
        </p:txBody>
      </p:sp>
      <p:sp>
        <p:nvSpPr>
          <p:cNvPr id="42" name="Text 40"/>
          <p:cNvSpPr txBox="1"/>
          <p:nvPr/>
        </p:nvSpPr>
        <p:spPr>
          <a:xfrm>
            <a:off x="2072640" y="1778000"/>
            <a:ext cx="1524000" cy="304800"/>
          </a:xfrm>
          <a:prstGeom prst="rect">
            <a:avLst/>
          </a:prstGeom>
          <a:noFill/>
          <a:ln/>
        </p:spPr>
        <p:txBody>
          <a:bodyPr wrap="non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your window</a:t>
            </a:r>
            <a:endParaRPr lang="en-US" sz="1400" b="1" dirty="0">
              <a:solidFill>
                <a:srgbClr val="FFFFFF"/>
              </a:solidFill>
            </a:endParaRPr>
          </a:p>
        </p:txBody>
      </p:sp>
      <p:sp>
        <p:nvSpPr>
          <p:cNvPr id="43" name="Shape 41"/>
          <p:cNvSpPr/>
          <p:nvPr/>
        </p:nvSpPr>
        <p:spPr>
          <a:xfrm>
            <a:off x="7670800" y="1270000"/>
            <a:ext cx="2743200" cy="2743200"/>
          </a:xfrm>
          <a:prstGeom prst="rect">
            <a:avLst/>
          </a:prstGeom>
          <a:solidFill>
            <a:srgbClr val="2E2E2E"/>
          </a:solidFill>
          <a:ln w="12700">
            <a:solidFill>
              <a:srgbClr val="D9D9D9"/>
            </a:solidFill>
            <a:prstDash val="solid"/>
          </a:ln>
        </p:spPr>
        <p:txBody>
          <a:bodyPr/>
          <a:lstStyle/>
          <a:p>
            <a:endParaRPr lang="en-US">
              <a:solidFill>
                <a:srgbClr val="E9E9E9"/>
              </a:solidFill>
            </a:endParaRPr>
          </a:p>
        </p:txBody>
      </p:sp>
      <p:sp>
        <p:nvSpPr>
          <p:cNvPr id="44" name="Shape 42"/>
          <p:cNvSpPr/>
          <p:nvPr/>
        </p:nvSpPr>
        <p:spPr>
          <a:xfrm>
            <a:off x="7670800" y="1270000"/>
            <a:ext cx="1371600" cy="1371600"/>
          </a:xfrm>
          <a:prstGeom prst="rect">
            <a:avLst/>
          </a:prstGeom>
          <a:solidFill>
            <a:srgbClr val="4A4A4A"/>
          </a:solidFill>
          <a:ln w="12700">
            <a:solidFill>
              <a:srgbClr val="D9D9D9"/>
            </a:solidFill>
            <a:prstDash val="solid"/>
          </a:ln>
        </p:spPr>
        <p:txBody>
          <a:bodyPr/>
          <a:lstStyle/>
          <a:p>
            <a:endParaRPr lang="en-US">
              <a:solidFill>
                <a:srgbClr val="E9E9E9"/>
              </a:solidFill>
            </a:endParaRPr>
          </a:p>
        </p:txBody>
      </p:sp>
      <p:sp>
        <p:nvSpPr>
          <p:cNvPr id="45" name="Shape 43"/>
          <p:cNvSpPr/>
          <p:nvPr/>
        </p:nvSpPr>
        <p:spPr>
          <a:xfrm>
            <a:off x="7670800" y="1270000"/>
            <a:ext cx="685800" cy="685800"/>
          </a:xfrm>
          <a:prstGeom prst="rect">
            <a:avLst/>
          </a:prstGeom>
          <a:solidFill>
            <a:srgbClr val="6A6A6A"/>
          </a:solidFill>
          <a:ln w="12700">
            <a:solidFill>
              <a:srgbClr val="D9D9D9"/>
            </a:solidFill>
            <a:prstDash val="solid"/>
          </a:ln>
        </p:spPr>
        <p:txBody>
          <a:bodyPr/>
          <a:lstStyle/>
          <a:p>
            <a:endParaRPr lang="en-US">
              <a:solidFill>
                <a:srgbClr val="E9E9E9"/>
              </a:solidFill>
            </a:endParaRPr>
          </a:p>
        </p:txBody>
      </p:sp>
      <p:sp>
        <p:nvSpPr>
          <p:cNvPr id="46" name="Text 44"/>
          <p:cNvSpPr txBox="1"/>
          <p:nvPr/>
        </p:nvSpPr>
        <p:spPr>
          <a:xfrm>
            <a:off x="7137400" y="4292600"/>
            <a:ext cx="3810000" cy="304800"/>
          </a:xfrm>
          <a:prstGeom prst="rect">
            <a:avLst/>
          </a:prstGeom>
          <a:noFill/>
          <a:ln/>
        </p:spPr>
        <p:txBody>
          <a:bodyPr wrap="none" lIns="0" tIns="0" rIns="0" bIns="0" rtlCol="0" anchor="ctr"/>
          <a:lstStyle/>
          <a:p>
            <a:pPr marL="0" indent="0" algn="ctr">
              <a:buNone/>
            </a:pPr>
            <a:r>
              <a:rPr lang="en-US" dirty="0">
                <a:solidFill>
                  <a:srgbClr val="D9D9D9"/>
                </a:solidFill>
                <a:latin typeface="Calibri" pitchFamily="34" charset="0"/>
                <a:ea typeface="Calibri" pitchFamily="34" charset="-122"/>
                <a:cs typeface="Calibri" pitchFamily="34" charset="-120"/>
              </a:rPr>
              <a:t>overviews (lower resolution)</a:t>
            </a:r>
            <a:endParaRPr lang="en-US" dirty="0">
              <a:solidFill>
                <a:srgbClr val="D9D9D9"/>
              </a:solidFill>
            </a:endParaRPr>
          </a:p>
        </p:txBody>
      </p:sp>
      <p:sp>
        <p:nvSpPr>
          <p:cNvPr id="47" name="Text 45"/>
          <p:cNvSpPr txBox="1"/>
          <p:nvPr/>
        </p:nvSpPr>
        <p:spPr>
          <a:xfrm>
            <a:off x="502920" y="4800600"/>
            <a:ext cx="11186160" cy="1554480"/>
          </a:xfrm>
          <a:prstGeom prst="rect">
            <a:avLst/>
          </a:prstGeom>
          <a:noFill/>
          <a:ln/>
        </p:spPr>
        <p:txBody>
          <a:bodyPr wrap="square" lIns="0" tIns="0" rIns="0" bIns="0" rtlCol="0" anchor="t"/>
          <a:lstStyle/>
          <a:p>
            <a:pPr marL="228600" indent="-228600">
              <a:lnSpc>
                <a:spcPct val="105000"/>
              </a:lnSpc>
              <a:spcAft>
                <a:spcPts val="600"/>
              </a:spcAft>
              <a:buSzPct val="100000"/>
              <a:buChar char="•"/>
            </a:pPr>
            <a:r>
              <a:rPr lang="en-US" sz="2400" dirty="0">
                <a:solidFill>
                  <a:srgbClr val="E9E9E9"/>
                </a:solidFill>
                <a:latin typeface="Calibri" pitchFamily="34" charset="0"/>
                <a:ea typeface="Calibri" pitchFamily="34" charset="-122"/>
                <a:cs typeface="Calibri" pitchFamily="34" charset="-120"/>
              </a:rPr>
              <a:t>Tiles: a window overlaps a few tiles, so a few range requests fetch it.</a:t>
            </a:r>
            <a:endParaRPr lang="en-US" sz="2400" dirty="0">
              <a:solidFill>
                <a:srgbClr val="E9E9E9"/>
              </a:solidFill>
            </a:endParaRPr>
          </a:p>
          <a:p>
            <a:pPr marL="228600" indent="-228600">
              <a:lnSpc>
                <a:spcPct val="105000"/>
              </a:lnSpc>
              <a:spcAft>
                <a:spcPts val="600"/>
              </a:spcAft>
              <a:buSzPct val="100000"/>
              <a:buChar char="•"/>
            </a:pPr>
            <a:r>
              <a:rPr lang="en-US" sz="2400" dirty="0">
                <a:solidFill>
                  <a:srgbClr val="E9E9E9"/>
                </a:solidFill>
                <a:latin typeface="Calibri" pitchFamily="34" charset="0"/>
                <a:ea typeface="Calibri" pitchFamily="34" charset="-122"/>
                <a:cs typeface="Calibri" pitchFamily="34" charset="-120"/>
              </a:rPr>
              <a:t>Overviews: a zoomed-out picture is stored inside the file, so a quick look is cheap.</a:t>
            </a:r>
            <a:endParaRPr lang="en-US" sz="2400" dirty="0">
              <a:solidFill>
                <a:srgbClr val="E9E9E9"/>
              </a:solidFill>
            </a:endParaRPr>
          </a:p>
          <a:p>
            <a:pPr marL="228600" indent="-228600">
              <a:lnSpc>
                <a:spcPct val="105000"/>
              </a:lnSpc>
              <a:spcAft>
                <a:spcPts val="600"/>
              </a:spcAft>
              <a:buSzPct val="100000"/>
              <a:buChar char="•"/>
            </a:pPr>
            <a:r>
              <a:rPr lang="en-US" sz="2400" dirty="0">
                <a:solidFill>
                  <a:srgbClr val="E9E9E9"/>
                </a:solidFill>
                <a:latin typeface="Calibri" pitchFamily="34" charset="0"/>
                <a:ea typeface="Calibri" pitchFamily="34" charset="-122"/>
                <a:cs typeface="Calibri" pitchFamily="34" charset="-120"/>
              </a:rPr>
              <a:t>A Sentinel-2 tile is 10,980 x 10,980 pixels; a 15 km window is a small fraction of that.</a:t>
            </a:r>
            <a:endParaRPr lang="en-US" sz="2400" dirty="0">
              <a:solidFill>
                <a:srgbClr val="E9E9E9"/>
              </a:solidFill>
            </a:endParaRPr>
          </a:p>
        </p:txBody>
      </p:sp>
    </p:spTree>
    <p:extLst>
      <p:ext uri="{BB962C8B-B14F-4D97-AF65-F5344CB8AC3E}">
        <p14:creationId xmlns:p14="http://schemas.microsoft.com/office/powerpoint/2010/main" val="36368087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4ACB8E-0AEC-6761-A187-A2A31BD2F2ED}"/>
              </a:ext>
            </a:extLst>
          </p:cNvPr>
          <p:cNvSpPr txBox="1"/>
          <p:nvPr/>
        </p:nvSpPr>
        <p:spPr>
          <a:xfrm>
            <a:off x="1203158" y="2905780"/>
            <a:ext cx="3585410" cy="769441"/>
          </a:xfrm>
          <a:prstGeom prst="rect">
            <a:avLst/>
          </a:prstGeom>
          <a:noFill/>
        </p:spPr>
        <p:txBody>
          <a:bodyPr wrap="square" rtlCol="0">
            <a:spAutoFit/>
          </a:bodyPr>
          <a:lstStyle/>
          <a:p>
            <a:r>
              <a:rPr lang="en-US" sz="4400" dirty="0"/>
              <a:t>Live coding</a:t>
            </a:r>
          </a:p>
        </p:txBody>
      </p:sp>
    </p:spTree>
    <p:extLst>
      <p:ext uri="{BB962C8B-B14F-4D97-AF65-F5344CB8AC3E}">
        <p14:creationId xmlns:p14="http://schemas.microsoft.com/office/powerpoint/2010/main" val="26326285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E6B28B-908B-B7B2-D08E-3A375CB453E3}"/>
              </a:ext>
            </a:extLst>
          </p:cNvPr>
          <p:cNvSpPr/>
          <p:nvPr>
            <p:custDataLst>
              <p:tags r:id="rId2"/>
            </p:custDataLst>
          </p:nvPr>
        </p:nvSpPr>
        <p:spPr>
          <a:xfrm>
            <a:off x="444693" y="1742703"/>
            <a:ext cx="2371696" cy="2371696"/>
          </a:xfrm>
          <a:prstGeom prst="rect">
            <a:avLst/>
          </a:prstGeom>
          <a:blipFill>
            <a:blip r:embed="rId8">
              <a:extLst>
                <a:ext uri="{96DAC541-7B7A-43D3-8B79-37D633B846F1}">
                  <asvg:svgBlip xmlns:asvg="http://schemas.microsoft.com/office/drawing/2016/SVG/main" r:embed="rId9"/>
                </a:ext>
              </a:extLst>
            </a:blip>
            <a:stretch>
              <a:fillRect/>
            </a:stretch>
          </a:blipFill>
          <a:ln w="25400" cap="flat" cmpd="sng" algn="ctr">
            <a:noFill/>
            <a:prstDash val="solid"/>
          </a:ln>
          <a:effectLst/>
          <a:extLst>
            <a:ext uri="{91240B29-F687-4F45-9708-019B960494DF}">
              <a14:hiddenLine xmlns:a14="http://schemas.microsoft.com/office/drawing/2010/main" w="25400" cap="flat" cmpd="sng" algn="ctr">
                <a:solidFill>
                  <a:srgbClr val="FFFFF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CE36456-49FA-6BAC-41DB-447F1342351C}"/>
              </a:ext>
            </a:extLst>
          </p:cNvPr>
          <p:cNvSpPr/>
          <p:nvPr>
            <p:custDataLst>
              <p:tags r:id="rId3"/>
            </p:custDataLst>
          </p:nvPr>
        </p:nvSpPr>
        <p:spPr>
          <a:xfrm>
            <a:off x="2816389" y="1000897"/>
            <a:ext cx="8930918" cy="3855308"/>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rgbClr val="FFFFF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dirty="0">
                <a:solidFill>
                  <a:srgbClr val="000000"/>
                </a:solidFill>
              </a:rPr>
              <a:t>As you work through module 1, what topics do you want more explanation on? (e.g., STAC, COGs, a package your using, GBIF, etc.) I’ll give mini lectures on these as we go!</a:t>
            </a:r>
          </a:p>
        </p:txBody>
      </p:sp>
      <p:sp>
        <p:nvSpPr>
          <p:cNvPr id="4" name="Rectangle 3">
            <a:extLst>
              <a:ext uri="{FF2B5EF4-FFF2-40B4-BE49-F238E27FC236}">
                <a16:creationId xmlns:a16="http://schemas.microsoft.com/office/drawing/2014/main" id="{CF748C52-D8D5-CBAB-DA05-C2BBD2CA72D1}"/>
              </a:ext>
            </a:extLst>
          </p:cNvPr>
          <p:cNvSpPr/>
          <p:nvPr>
            <p:custDataLst>
              <p:tags r:id="rId4"/>
            </p:custDataLst>
          </p:nvPr>
        </p:nvSpPr>
        <p:spPr>
          <a:xfrm>
            <a:off x="0" y="5820032"/>
            <a:ext cx="12192001" cy="1037968"/>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92" rIns="1852888" bIns="203886" rtlCol="0" anchor="ctr">
            <a:normAutofit fontScale="85000" lnSpcReduction="10000"/>
          </a:bodyPr>
          <a:lstStyle/>
          <a:p>
            <a:r>
              <a:rPr lang="en-US" sz="2600">
                <a:solidFill>
                  <a:srgbClr val="FFFFFF"/>
                </a:solidFill>
              </a:rPr>
              <a:t>The </a:t>
            </a:r>
            <a:r>
              <a:rPr lang="en-US" sz="2600">
                <a:solidFill>
                  <a:srgbClr val="FFFFFF"/>
                </a:solidFill>
                <a:hlinkClick r:id="rId10">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C98BE5CF-01AB-B12F-4ED4-6F4C50E97A00}"/>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296462" y="6190785"/>
            <a:ext cx="296462" cy="296462"/>
          </a:xfrm>
          <a:prstGeom prst="rect">
            <a:avLst/>
          </a:prstGeom>
        </p:spPr>
      </p:pic>
      <p:sp>
        <p:nvSpPr>
          <p:cNvPr id="7" name="Trapezoid 6">
            <a:extLst>
              <a:ext uri="{FF2B5EF4-FFF2-40B4-BE49-F238E27FC236}">
                <a16:creationId xmlns:a16="http://schemas.microsoft.com/office/drawing/2014/main" id="{26B613B9-83EF-26C8-4948-FE5CA41FB9BD}"/>
              </a:ext>
            </a:extLst>
          </p:cNvPr>
          <p:cNvSpPr/>
          <p:nvPr>
            <p:custDataLst>
              <p:tags r:id="rId5"/>
            </p:custDataLst>
          </p:nvPr>
        </p:nvSpPr>
        <p:spPr>
          <a:xfrm rot="2700000">
            <a:off x="9620371" y="514924"/>
            <a:ext cx="3335198" cy="778213"/>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13">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E8396A41-CA6F-7F1A-B665-4F5C055B7AF7}"/>
              </a:ext>
            </a:extLst>
          </p:cNvPr>
          <p:cNvPicPr>
            <a:picLocks/>
          </p:cNvPicPr>
          <p:nvPr/>
        </p:nvPicPr>
        <p:blipFill>
          <a:blip r:embed="rId14">
            <a:extLst>
              <a:ext uri="{96DAC541-7B7A-43D3-8B79-37D633B846F1}">
                <asvg:svgBlip xmlns:asvg="http://schemas.microsoft.com/office/drawing/2016/SVG/main" r:embed="rId15"/>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7443496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F19823-AF6A-F5C2-9A13-F177C5E5B64B}"/>
              </a:ext>
            </a:extLst>
          </p:cNvPr>
          <p:cNvSpPr txBox="1"/>
          <p:nvPr/>
        </p:nvSpPr>
        <p:spPr>
          <a:xfrm>
            <a:off x="1074575" y="2939534"/>
            <a:ext cx="8313558" cy="1200329"/>
          </a:xfrm>
          <a:prstGeom prst="rect">
            <a:avLst/>
          </a:prstGeom>
          <a:noFill/>
        </p:spPr>
        <p:txBody>
          <a:bodyPr wrap="none" rtlCol="0">
            <a:spAutoFit/>
          </a:bodyPr>
          <a:lstStyle/>
          <a:p>
            <a:r>
              <a:rPr lang="en-US" dirty="0">
                <a:solidFill>
                  <a:schemeClr val="accent4"/>
                </a:solidFill>
              </a:rPr>
              <a:t>Replace:</a:t>
            </a:r>
          </a:p>
          <a:p>
            <a:r>
              <a:rPr lang="en-US" dirty="0"/>
              <a:t> request(u) |&gt; </a:t>
            </a:r>
            <a:r>
              <a:rPr lang="en-US" dirty="0" err="1"/>
              <a:t>req_error</a:t>
            </a:r>
            <a:r>
              <a:rPr lang="en-US" dirty="0"/>
              <a:t>(</a:t>
            </a:r>
            <a:r>
              <a:rPr lang="en-US" dirty="0" err="1"/>
              <a:t>is_error</a:t>
            </a:r>
            <a:r>
              <a:rPr lang="en-US" dirty="0"/>
              <a:t> = \(r) FALSE) |&gt; </a:t>
            </a:r>
            <a:r>
              <a:rPr lang="en-US" dirty="0" err="1"/>
              <a:t>req_perform</a:t>
            </a:r>
            <a:r>
              <a:rPr lang="en-US" dirty="0"/>
              <a:t>() |&gt; </a:t>
            </a:r>
            <a:r>
              <a:rPr lang="en-US" dirty="0" err="1"/>
              <a:t>resp_status</a:t>
            </a:r>
            <a:r>
              <a:rPr lang="en-US" dirty="0"/>
              <a:t>(),</a:t>
            </a:r>
          </a:p>
          <a:p>
            <a:endParaRPr lang="en-US" dirty="0"/>
          </a:p>
          <a:p>
            <a:r>
              <a:rPr lang="en-US" dirty="0">
                <a:solidFill>
                  <a:schemeClr val="accent4"/>
                </a:solidFill>
              </a:rPr>
              <a:t>with</a:t>
            </a:r>
          </a:p>
        </p:txBody>
      </p:sp>
      <p:sp>
        <p:nvSpPr>
          <p:cNvPr id="4" name="TextBox 3">
            <a:extLst>
              <a:ext uri="{FF2B5EF4-FFF2-40B4-BE49-F238E27FC236}">
                <a16:creationId xmlns:a16="http://schemas.microsoft.com/office/drawing/2014/main" id="{7119D22C-8B83-A024-432F-02EAF2EB715D}"/>
              </a:ext>
            </a:extLst>
          </p:cNvPr>
          <p:cNvSpPr txBox="1"/>
          <p:nvPr/>
        </p:nvSpPr>
        <p:spPr>
          <a:xfrm>
            <a:off x="1074575" y="4116186"/>
            <a:ext cx="8313558" cy="369332"/>
          </a:xfrm>
          <a:prstGeom prst="rect">
            <a:avLst/>
          </a:prstGeom>
          <a:noFill/>
        </p:spPr>
        <p:txBody>
          <a:bodyPr wrap="square">
            <a:spAutoFit/>
          </a:bodyPr>
          <a:lstStyle/>
          <a:p>
            <a:r>
              <a:rPr lang="en-US" dirty="0"/>
              <a:t> </a:t>
            </a:r>
            <a:r>
              <a:rPr lang="en-US" dirty="0" err="1"/>
              <a:t>attr</a:t>
            </a:r>
            <a:r>
              <a:rPr lang="en-US" dirty="0"/>
              <a:t>(</a:t>
            </a:r>
            <a:r>
              <a:rPr lang="en-US" dirty="0" err="1"/>
              <a:t>curlGetHeaders</a:t>
            </a:r>
            <a:r>
              <a:rPr lang="en-US" dirty="0"/>
              <a:t>(u), "status"),   # base R: returns the HTTP status code</a:t>
            </a:r>
          </a:p>
        </p:txBody>
      </p:sp>
      <p:sp>
        <p:nvSpPr>
          <p:cNvPr id="6" name="TextBox 5">
            <a:extLst>
              <a:ext uri="{FF2B5EF4-FFF2-40B4-BE49-F238E27FC236}">
                <a16:creationId xmlns:a16="http://schemas.microsoft.com/office/drawing/2014/main" id="{15C94C42-4F2E-5E58-9EE8-E45B6264AA42}"/>
              </a:ext>
            </a:extLst>
          </p:cNvPr>
          <p:cNvSpPr txBox="1"/>
          <p:nvPr/>
        </p:nvSpPr>
        <p:spPr>
          <a:xfrm>
            <a:off x="1562868" y="1116551"/>
            <a:ext cx="6102220" cy="1477328"/>
          </a:xfrm>
          <a:prstGeom prst="rect">
            <a:avLst/>
          </a:prstGeom>
          <a:noFill/>
        </p:spPr>
        <p:txBody>
          <a:bodyPr wrap="square">
            <a:spAutoFit/>
          </a:bodyPr>
          <a:lstStyle/>
          <a:p>
            <a:r>
              <a:rPr lang="en-US" dirty="0">
                <a:effectLst/>
              </a:rPr>
              <a:t>If </a:t>
            </a:r>
            <a:r>
              <a:rPr lang="en-US" dirty="0" err="1">
                <a:effectLst/>
              </a:rPr>
              <a:t>youre</a:t>
            </a:r>
            <a:r>
              <a:rPr lang="en-US" dirty="0">
                <a:effectLst/>
              </a:rPr>
              <a:t> having trouble with httr</a:t>
            </a:r>
            <a:r>
              <a:rPr lang="en-US" dirty="0"/>
              <a:t>2 package:</a:t>
            </a:r>
          </a:p>
          <a:p>
            <a:endParaRPr lang="en-US" dirty="0">
              <a:effectLst/>
            </a:endParaRPr>
          </a:p>
          <a:p>
            <a:r>
              <a:rPr lang="en-US" dirty="0">
                <a:solidFill>
                  <a:schemeClr val="accent4"/>
                </a:solidFill>
              </a:rPr>
              <a:t>Remove line that says:</a:t>
            </a:r>
          </a:p>
          <a:p>
            <a:endParaRPr lang="en-US" dirty="0"/>
          </a:p>
          <a:p>
            <a:r>
              <a:rPr lang="en-US" dirty="0">
                <a:effectLst/>
              </a:rPr>
              <a:t>library</a:t>
            </a:r>
            <a:r>
              <a:rPr lang="en-US" dirty="0"/>
              <a:t>(httr2)</a:t>
            </a:r>
          </a:p>
        </p:txBody>
      </p:sp>
    </p:spTree>
    <p:extLst>
      <p:ext uri="{BB962C8B-B14F-4D97-AF65-F5344CB8AC3E}">
        <p14:creationId xmlns:p14="http://schemas.microsoft.com/office/powerpoint/2010/main" val="33353299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934088-3A82-8E4A-F78B-5B2F633016C3}"/>
              </a:ext>
            </a:extLst>
          </p:cNvPr>
          <p:cNvSpPr txBox="1"/>
          <p:nvPr/>
        </p:nvSpPr>
        <p:spPr>
          <a:xfrm>
            <a:off x="4720282" y="3864348"/>
            <a:ext cx="6922964" cy="1815882"/>
          </a:xfrm>
          <a:prstGeom prst="rect">
            <a:avLst/>
          </a:prstGeom>
          <a:noFill/>
        </p:spPr>
        <p:txBody>
          <a:bodyPr wrap="square" rtlCol="0">
            <a:spAutoFit/>
          </a:bodyPr>
          <a:lstStyle/>
          <a:p>
            <a:r>
              <a:rPr lang="en-US" sz="2800" dirty="0">
                <a:latin typeface="Consolas" panose="020B0609020204030204" pitchFamily="49" charset="0"/>
                <a:cs typeface="Consolas" panose="020B0609020204030204" pitchFamily="49" charset="0"/>
              </a:rPr>
              <a:t>“Data may not disruptively illuminate for all as much as it selectively spotlights for the state.”</a:t>
            </a:r>
          </a:p>
        </p:txBody>
      </p:sp>
      <p:sp>
        <p:nvSpPr>
          <p:cNvPr id="3" name="Text 0">
            <a:extLst>
              <a:ext uri="{FF2B5EF4-FFF2-40B4-BE49-F238E27FC236}">
                <a16:creationId xmlns:a16="http://schemas.microsoft.com/office/drawing/2014/main" id="{A4EBEA46-15B5-2BBF-5FB3-AB45F541A059}"/>
              </a:ext>
            </a:extLst>
          </p:cNvPr>
          <p:cNvSpPr/>
          <p:nvPr/>
        </p:nvSpPr>
        <p:spPr>
          <a:xfrm>
            <a:off x="759853" y="541422"/>
            <a:ext cx="10883392" cy="863600"/>
          </a:xfrm>
          <a:prstGeom prst="rect">
            <a:avLst/>
          </a:prstGeom>
          <a:noFill/>
          <a:ln/>
        </p:spPr>
        <p:txBody>
          <a:bodyPr wrap="square" lIns="0" tIns="0" rIns="0" bIns="0" rtlCol="0" anchor="t">
            <a:normAutofit fontScale="92500"/>
          </a:bodyPr>
          <a:lstStyle/>
          <a:p>
            <a:pPr marL="0" indent="0" algn="l">
              <a:lnSpc>
                <a:spcPts val="6600"/>
              </a:lnSpc>
              <a:buNone/>
            </a:pPr>
            <a:r>
              <a:rPr lang="en-US" sz="6000" b="1" dirty="0">
                <a:solidFill>
                  <a:srgbClr val="EDEDED"/>
                </a:solidFill>
                <a:latin typeface="Consolas" panose="020B0609020204030204" pitchFamily="49" charset="0"/>
                <a:ea typeface="Inconsolata" pitchFamily="34" charset="-122"/>
                <a:cs typeface="Consolas" panose="020B0609020204030204" pitchFamily="49" charset="0"/>
              </a:rPr>
              <a:t>a political ecology of data</a:t>
            </a:r>
            <a:endParaRPr lang="en-US" sz="6000" dirty="0">
              <a:latin typeface="Consolas" panose="020B0609020204030204" pitchFamily="49" charset="0"/>
              <a:cs typeface="Consolas" panose="020B0609020204030204" pitchFamily="49" charset="0"/>
            </a:endParaRPr>
          </a:p>
        </p:txBody>
      </p:sp>
      <p:sp>
        <p:nvSpPr>
          <p:cNvPr id="4" name="Text 1">
            <a:extLst>
              <a:ext uri="{FF2B5EF4-FFF2-40B4-BE49-F238E27FC236}">
                <a16:creationId xmlns:a16="http://schemas.microsoft.com/office/drawing/2014/main" id="{B1C6F9D9-5E4C-9DEB-55CB-6C090FC7E89B}"/>
              </a:ext>
            </a:extLst>
          </p:cNvPr>
          <p:cNvSpPr/>
          <p:nvPr/>
        </p:nvSpPr>
        <p:spPr>
          <a:xfrm>
            <a:off x="759853" y="1633622"/>
            <a:ext cx="10883392" cy="452090"/>
          </a:xfrm>
          <a:prstGeom prst="rect">
            <a:avLst/>
          </a:prstGeom>
          <a:noFill/>
          <a:ln/>
        </p:spPr>
        <p:txBody>
          <a:bodyPr wrap="square" lIns="0" tIns="0" rIns="0" bIns="0" rtlCol="0" anchor="t">
            <a:normAutofit/>
          </a:bodyPr>
          <a:lstStyle/>
          <a:p>
            <a:pPr marL="0" indent="0" algn="l">
              <a:lnSpc>
                <a:spcPts val="3360"/>
              </a:lnSpc>
              <a:buNone/>
            </a:pPr>
            <a:r>
              <a:rPr lang="en-US" sz="2400" dirty="0">
                <a:solidFill>
                  <a:srgbClr val="00E5FF"/>
                </a:solidFill>
                <a:latin typeface="Consolas" panose="020B0609020204030204" pitchFamily="49" charset="0"/>
                <a:ea typeface="Inconsolata" pitchFamily="34" charset="-122"/>
                <a:cs typeface="Consolas" panose="020B0609020204030204" pitchFamily="49" charset="0"/>
              </a:rPr>
              <a:t>nost &amp; goldstein, 2021</a:t>
            </a:r>
            <a:endParaRPr lang="en-US" sz="24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3434210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B0B0B"/>
        </a:solidFill>
        <a:effectLst/>
      </p:bgPr>
    </p:bg>
    <p:spTree>
      <p:nvGrpSpPr>
        <p:cNvPr id="1" name=""/>
        <p:cNvGrpSpPr/>
        <p:nvPr/>
      </p:nvGrpSpPr>
      <p:grpSpPr>
        <a:xfrm>
          <a:off x="0" y="0"/>
          <a:ext cx="0" cy="0"/>
          <a:chOff x="0" y="0"/>
          <a:chExt cx="0" cy="0"/>
        </a:xfrm>
      </p:grpSpPr>
      <p:sp>
        <p:nvSpPr>
          <p:cNvPr id="2" name="Text 0"/>
          <p:cNvSpPr/>
          <p:nvPr/>
        </p:nvSpPr>
        <p:spPr>
          <a:xfrm>
            <a:off x="812800" y="1841550"/>
            <a:ext cx="10883392" cy="3454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52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6FF00"/>
                </a:solidFill>
                <a:effectLst/>
                <a:uLnTx/>
                <a:uFillTx/>
                <a:latin typeface="Consolas" panose="020B0609020204030204" pitchFamily="49" charset="0"/>
                <a:ea typeface="Inconsolata" pitchFamily="34" charset="-122"/>
                <a:cs typeface="Consolas" panose="020B0609020204030204" pitchFamily="49" charset="0"/>
              </a:rPr>
              <a:t>“fourth wave environmentalism”</a:t>
            </a:r>
            <a:endParaRPr kumimoji="0" lang="en-US" sz="1800" b="0" i="0" u="none" strike="noStrike" kern="1200" cap="none" spc="0" normalizeH="0" baseline="0" noProof="0" dirty="0">
              <a:ln>
                <a:noFill/>
              </a:ln>
              <a:solidFill>
                <a:prstClr val="black"/>
              </a:solidFill>
              <a:effectLst/>
              <a:uLnTx/>
              <a:uFillTx/>
              <a:latin typeface="Consolas" panose="020B0609020204030204" pitchFamily="49" charset="0"/>
              <a:cs typeface="Consolas" panose="020B0609020204030204" pitchFamily="49" charset="0"/>
            </a:endParaRPr>
          </a:p>
        </p:txBody>
      </p:sp>
      <p:sp>
        <p:nvSpPr>
          <p:cNvPr id="3" name="Text 1"/>
          <p:cNvSpPr/>
          <p:nvPr/>
        </p:nvSpPr>
        <p:spPr>
          <a:xfrm>
            <a:off x="812800" y="2517180"/>
            <a:ext cx="10883392" cy="1610271"/>
          </a:xfrm>
          <a:prstGeom prst="rect">
            <a:avLst/>
          </a:prstGeom>
          <a:noFill/>
          <a:ln/>
        </p:spPr>
        <p:txBody>
          <a:bodyPr wrap="square" lIns="0" tIns="0" rIns="0" bIns="0" rtlCol="0" anchor="t">
            <a:normAutofit fontScale="92500"/>
          </a:bodyPr>
          <a:lstStyle/>
          <a:p>
            <a:pPr marL="0" marR="0" lvl="0" indent="0" algn="l" defTabSz="914400" rtl="0" eaLnBrk="1" fontAlgn="auto" latinLnBrk="0" hangingPunct="1">
              <a:lnSpc>
                <a:spcPts val="416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EDEDED"/>
                </a:solidFill>
                <a:effectLst/>
                <a:uLnTx/>
                <a:uFillTx/>
                <a:latin typeface="Consolas" panose="020B0609020204030204" pitchFamily="49" charset="0"/>
                <a:ea typeface="Inconsolata" pitchFamily="34" charset="-122"/>
                <a:cs typeface="Consolas" panose="020B0609020204030204" pitchFamily="49" charset="0"/>
              </a:rPr>
              <a:t>“the vast quantities of big data produced everyday supersede the need for what are increasingly unaccountable and unresponsive governments”</a:t>
            </a:r>
            <a:endParaRPr kumimoji="0" lang="en-US" sz="3200" b="0" i="0" u="none" strike="noStrike" kern="1200" cap="none" spc="0" normalizeH="0" baseline="0" noProof="0" dirty="0">
              <a:ln>
                <a:noFill/>
              </a:ln>
              <a:solidFill>
                <a:prstClr val="black"/>
              </a:solidFill>
              <a:effectLst/>
              <a:uLnTx/>
              <a:uFillTx/>
              <a:latin typeface="Consolas" panose="020B0609020204030204" pitchFamily="49" charset="0"/>
              <a:cs typeface="Consolas" panose="020B0609020204030204" pitchFamily="49" charset="0"/>
            </a:endParaRPr>
          </a:p>
        </p:txBody>
      </p:sp>
      <p:sp>
        <p:nvSpPr>
          <p:cNvPr id="4" name="Text 2"/>
          <p:cNvSpPr/>
          <p:nvPr/>
        </p:nvSpPr>
        <p:spPr>
          <a:xfrm>
            <a:off x="9759092" y="4457651"/>
            <a:ext cx="10883392" cy="33518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3D8B"/>
                </a:solidFill>
                <a:effectLst/>
                <a:uLnTx/>
                <a:uFillTx/>
                <a:latin typeface="Consolas" panose="020B0609020204030204" pitchFamily="49" charset="0"/>
                <a:ea typeface="Inconsolata" pitchFamily="34" charset="-122"/>
                <a:cs typeface="Consolas" panose="020B0609020204030204" pitchFamily="49" charset="0"/>
              </a:rPr>
              <a:t>precision </a:t>
            </a:r>
            <a:endParaRPr lang="en-US" sz="2000" dirty="0">
              <a:solidFill>
                <a:srgbClr val="FF3D8B"/>
              </a:solidFill>
              <a:latin typeface="Consolas" panose="020B0609020204030204" pitchFamily="49" charset="0"/>
              <a:ea typeface="Inconsolata" pitchFamily="34" charset="-122"/>
              <a:cs typeface="Consolas" panose="020B0609020204030204" pitchFamily="49" charset="0"/>
            </a:endParaRPr>
          </a:p>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3D8B"/>
                </a:solidFill>
                <a:effectLst/>
                <a:uLnTx/>
                <a:uFillTx/>
                <a:latin typeface="Consolas" panose="020B0609020204030204" pitchFamily="49" charset="0"/>
                <a:ea typeface="Inconsolata" pitchFamily="34" charset="-122"/>
                <a:cs typeface="Consolas" panose="020B0609020204030204" pitchFamily="49" charset="0"/>
              </a:rPr>
              <a:t>holism </a:t>
            </a:r>
          </a:p>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3D8B"/>
                </a:solidFill>
                <a:effectLst/>
                <a:uLnTx/>
                <a:uFillTx/>
                <a:latin typeface="Consolas" panose="020B0609020204030204" pitchFamily="49" charset="0"/>
                <a:ea typeface="Inconsolata" pitchFamily="34" charset="-122"/>
                <a:cs typeface="Consolas" panose="020B0609020204030204" pitchFamily="49" charset="0"/>
              </a:rPr>
              <a:t>speed </a:t>
            </a:r>
          </a:p>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3D8B"/>
                </a:solidFill>
                <a:effectLst/>
                <a:uLnTx/>
                <a:uFillTx/>
                <a:latin typeface="Consolas" panose="020B0609020204030204" pitchFamily="49" charset="0"/>
                <a:ea typeface="Inconsolata" pitchFamily="34" charset="-122"/>
                <a:cs typeface="Consolas" panose="020B0609020204030204" pitchFamily="49" charset="0"/>
              </a:rPr>
              <a:t>transparency </a:t>
            </a:r>
          </a:p>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3D8B"/>
                </a:solidFill>
                <a:effectLst/>
                <a:uLnTx/>
                <a:uFillTx/>
                <a:latin typeface="Consolas" panose="020B0609020204030204" pitchFamily="49" charset="0"/>
                <a:ea typeface="Inconsolata" pitchFamily="34" charset="-122"/>
                <a:cs typeface="Consolas" panose="020B0609020204030204" pitchFamily="49" charset="0"/>
              </a:rPr>
              <a:t>objectivity</a:t>
            </a:r>
            <a:endParaRPr kumimoji="0" lang="en-US" sz="2000" b="0" i="0" u="none" strike="noStrike" kern="1200" cap="none" spc="0" normalizeH="0" baseline="0" noProof="0" dirty="0">
              <a:ln>
                <a:noFill/>
              </a:ln>
              <a:solidFill>
                <a:prstClr val="black"/>
              </a:solidFill>
              <a:effectLst/>
              <a:uLnTx/>
              <a:uFillTx/>
              <a:latin typeface="Consolas" panose="020B0609020204030204" pitchFamily="49" charset="0"/>
              <a:cs typeface="Consolas" panose="020B0609020204030204" pitchFamily="49" charset="0"/>
            </a:endParaRPr>
          </a:p>
        </p:txBody>
      </p:sp>
      <p:sp>
        <p:nvSpPr>
          <p:cNvPr id="5" name="Text 3"/>
          <p:cNvSpPr/>
          <p:nvPr/>
        </p:nvSpPr>
        <p:spPr>
          <a:xfrm>
            <a:off x="1826054" y="4155406"/>
            <a:ext cx="10883392" cy="2742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b="0" i="0" u="none" strike="noStrike" kern="1200" cap="none" spc="0" normalizeH="0" baseline="0" noProof="0" dirty="0">
                <a:ln>
                  <a:noFill/>
                </a:ln>
                <a:solidFill>
                  <a:srgbClr val="8C8C8C"/>
                </a:solidFill>
                <a:effectLst/>
                <a:uLnTx/>
                <a:uFillTx/>
                <a:latin typeface="Consolas" panose="020B0609020204030204" pitchFamily="49" charset="0"/>
                <a:ea typeface="Inconsolata" pitchFamily="34" charset="-122"/>
                <a:cs typeface="Consolas" panose="020B0609020204030204" pitchFamily="49" charset="0"/>
              </a:rPr>
              <a:t>fred krupp, EDF, as described in nost &amp; goldstein p. 4–5, 8</a:t>
            </a:r>
            <a:endParaRPr kumimoji="0" lang="en-US" b="0" i="0" u="none" strike="noStrike" kern="1200" cap="none" spc="0" normalizeH="0" baseline="0" noProof="0" dirty="0">
              <a:ln>
                <a:noFill/>
              </a:ln>
              <a:solidFill>
                <a:prstClr val="black"/>
              </a:solidFill>
              <a:effectLst/>
              <a:uLnTx/>
              <a:uFillTx/>
              <a:latin typeface="Consolas" panose="020B0609020204030204" pitchFamily="49" charset="0"/>
              <a:cs typeface="Consolas" panose="020B0609020204030204" pitchFamily="49"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B0B0B"/>
        </a:solidFill>
        <a:effectLst/>
      </p:bgPr>
    </p:bg>
    <p:spTree>
      <p:nvGrpSpPr>
        <p:cNvPr id="1" name=""/>
        <p:cNvGrpSpPr/>
        <p:nvPr/>
      </p:nvGrpSpPr>
      <p:grpSpPr>
        <a:xfrm>
          <a:off x="0" y="0"/>
          <a:ext cx="0" cy="0"/>
          <a:chOff x="0" y="0"/>
          <a:chExt cx="0" cy="0"/>
        </a:xfrm>
      </p:grpSpPr>
      <p:sp>
        <p:nvSpPr>
          <p:cNvPr id="3" name="Text 1"/>
          <p:cNvSpPr/>
          <p:nvPr/>
        </p:nvSpPr>
        <p:spPr>
          <a:xfrm>
            <a:off x="763373" y="1219593"/>
            <a:ext cx="10883392" cy="1366441"/>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528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EDEDED"/>
                </a:solidFill>
                <a:effectLst/>
                <a:uLnTx/>
                <a:uFillTx/>
                <a:latin typeface="Consolas" panose="020B0609020204030204" pitchFamily="49" charset="0"/>
                <a:ea typeface="Inconsolata" pitchFamily="34" charset="-122"/>
                <a:cs typeface="Consolas" panose="020B0609020204030204" pitchFamily="49" charset="0"/>
              </a:rPr>
              <a:t>better environmental data leads to better environmental governance.</a:t>
            </a:r>
            <a:endParaRPr kumimoji="0" lang="en-US" sz="4400" b="0" i="0" u="none" strike="noStrike" kern="1200" cap="none" spc="0" normalizeH="0" baseline="0" noProof="0" dirty="0">
              <a:ln>
                <a:noFill/>
              </a:ln>
              <a:solidFill>
                <a:prstClr val="black"/>
              </a:solidFill>
              <a:effectLst/>
              <a:uLnTx/>
              <a:uFillTx/>
              <a:latin typeface="Consolas" panose="020B0609020204030204" pitchFamily="49" charset="0"/>
              <a:cs typeface="Consolas" panose="020B0609020204030204" pitchFamily="49" charset="0"/>
            </a:endParaRPr>
          </a:p>
        </p:txBody>
      </p:sp>
      <p:sp>
        <p:nvSpPr>
          <p:cNvPr id="4" name="Text 2"/>
          <p:cNvSpPr/>
          <p:nvPr/>
        </p:nvSpPr>
        <p:spPr>
          <a:xfrm>
            <a:off x="763373" y="4031353"/>
            <a:ext cx="812800" cy="452090"/>
          </a:xfrm>
          <a:prstGeom prst="rect">
            <a:avLst/>
          </a:prstGeom>
          <a:noFill/>
          <a:ln/>
        </p:spPr>
        <p:txBody>
          <a:bodyPr wrap="square" lIns="0" tIns="0" rIns="0" bIns="0" rtlCol="0" anchor="t">
            <a:normAutofit fontScale="92500"/>
          </a:bodyPr>
          <a:lstStyle/>
          <a:p>
            <a:pPr marL="0" marR="0" lvl="0" indent="0" algn="l" defTabSz="914400" rtl="0" eaLnBrk="1" fontAlgn="auto" latinLnBrk="0" hangingPunct="1">
              <a:lnSpc>
                <a:spcPts val="336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E5FF"/>
                </a:solidFill>
                <a:effectLst/>
                <a:uLnTx/>
                <a:uFillTx/>
                <a:latin typeface="Consolas" panose="020B0609020204030204" pitchFamily="49" charset="0"/>
                <a:ea typeface="Inconsolata" pitchFamily="34" charset="-122"/>
                <a:cs typeface="Consolas" panose="020B0609020204030204" pitchFamily="49" charset="0"/>
              </a:rPr>
              <a:t>agree</a:t>
            </a:r>
            <a:endParaRPr kumimoji="0" lang="en-US" sz="2400" b="0" i="0" u="none" strike="noStrike" kern="1200" cap="none" spc="0" normalizeH="0" baseline="0" noProof="0" dirty="0">
              <a:ln>
                <a:noFill/>
              </a:ln>
              <a:solidFill>
                <a:prstClr val="black"/>
              </a:solidFill>
              <a:effectLst/>
              <a:uLnTx/>
              <a:uFillTx/>
              <a:latin typeface="Consolas" panose="020B0609020204030204" pitchFamily="49" charset="0"/>
              <a:cs typeface="Consolas" panose="020B0609020204030204" pitchFamily="49" charset="0"/>
            </a:endParaRPr>
          </a:p>
        </p:txBody>
      </p:sp>
      <p:sp>
        <p:nvSpPr>
          <p:cNvPr id="5" name="Shape 3"/>
          <p:cNvSpPr/>
          <p:nvPr/>
        </p:nvSpPr>
        <p:spPr>
          <a:xfrm>
            <a:off x="1779373" y="4231973"/>
            <a:ext cx="8077200" cy="25400"/>
          </a:xfrm>
          <a:prstGeom prst="rect">
            <a:avLst/>
          </a:prstGeom>
          <a:solidFill>
            <a:srgbClr val="3A3A3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onsolas" panose="020B0609020204030204" pitchFamily="49" charset="0"/>
              <a:cs typeface="Consolas" panose="020B0609020204030204" pitchFamily="49" charset="0"/>
            </a:endParaRPr>
          </a:p>
        </p:txBody>
      </p:sp>
      <p:sp>
        <p:nvSpPr>
          <p:cNvPr id="6" name="Text 4"/>
          <p:cNvSpPr/>
          <p:nvPr/>
        </p:nvSpPr>
        <p:spPr>
          <a:xfrm>
            <a:off x="10110573" y="4031353"/>
            <a:ext cx="1270000" cy="452090"/>
          </a:xfrm>
          <a:prstGeom prst="rect">
            <a:avLst/>
          </a:prstGeom>
          <a:noFill/>
          <a:ln/>
        </p:spPr>
        <p:txBody>
          <a:bodyPr wrap="square" lIns="0" tIns="0" rIns="0" bIns="0" rtlCol="0" anchor="t">
            <a:normAutofit fontScale="92500"/>
          </a:bodyPr>
          <a:lstStyle/>
          <a:p>
            <a:pPr marL="0" marR="0" lvl="0" indent="0" algn="l" defTabSz="914400" rtl="0" eaLnBrk="1" fontAlgn="auto" latinLnBrk="0" hangingPunct="1">
              <a:lnSpc>
                <a:spcPts val="336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3D8B"/>
                </a:solidFill>
                <a:effectLst/>
                <a:uLnTx/>
                <a:uFillTx/>
                <a:latin typeface="Consolas" panose="020B0609020204030204" pitchFamily="49" charset="0"/>
                <a:ea typeface="Inconsolata" pitchFamily="34" charset="-122"/>
                <a:cs typeface="Consolas" panose="020B0609020204030204" pitchFamily="49" charset="0"/>
              </a:rPr>
              <a:t>disagree</a:t>
            </a:r>
            <a:endParaRPr kumimoji="0" lang="en-US" sz="2400" b="0" i="0" u="none" strike="noStrike" kern="1200" cap="none" spc="0" normalizeH="0" baseline="0" noProof="0" dirty="0">
              <a:ln>
                <a:noFill/>
              </a:ln>
              <a:solidFill>
                <a:prstClr val="black"/>
              </a:solidFill>
              <a:effectLst/>
              <a:uLnTx/>
              <a:uFillTx/>
              <a:latin typeface="Consolas" panose="020B0609020204030204" pitchFamily="49" charset="0"/>
              <a:cs typeface="Consolas" panose="020B0609020204030204" pitchFamily="49"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B0B0B"/>
        </a:solidFill>
        <a:effectLst/>
      </p:bgPr>
    </p:bg>
    <p:spTree>
      <p:nvGrpSpPr>
        <p:cNvPr id="1" name=""/>
        <p:cNvGrpSpPr/>
        <p:nvPr/>
      </p:nvGrpSpPr>
      <p:grpSpPr>
        <a:xfrm>
          <a:off x="0" y="0"/>
          <a:ext cx="0" cy="0"/>
          <a:chOff x="0" y="0"/>
          <a:chExt cx="0" cy="0"/>
        </a:xfrm>
      </p:grpSpPr>
      <p:sp>
        <p:nvSpPr>
          <p:cNvPr id="2" name="Text 0"/>
          <p:cNvSpPr/>
          <p:nvPr/>
        </p:nvSpPr>
        <p:spPr>
          <a:xfrm>
            <a:off x="343243" y="203002"/>
            <a:ext cx="10883392" cy="955228"/>
          </a:xfrm>
          <a:prstGeom prst="rect">
            <a:avLst/>
          </a:prstGeom>
          <a:noFill/>
          <a:ln/>
        </p:spPr>
        <p:txBody>
          <a:bodyPr wrap="square" lIns="0" tIns="0" rIns="0" bIns="0" rtlCol="0" anchor="t">
            <a:noAutofit/>
          </a:bodyPr>
          <a:lstStyle/>
          <a:p>
            <a:pPr marL="0" marR="0" lvl="0" indent="0" algn="l" defTabSz="914400" rtl="0" eaLnBrk="1" fontAlgn="auto" latinLnBrk="0" hangingPunct="1">
              <a:spcBef>
                <a:spcPts val="0"/>
              </a:spcBef>
              <a:spcAft>
                <a:spcPts val="0"/>
              </a:spcAft>
              <a:buClrTx/>
              <a:buSzTx/>
              <a:buFontTx/>
              <a:buNone/>
              <a:tabLst/>
              <a:defRPr/>
            </a:pPr>
            <a:r>
              <a:rPr lang="en-US" sz="2800" dirty="0">
                <a:solidFill>
                  <a:schemeClr val="bg1"/>
                </a:solidFill>
                <a:latin typeface="Consolas" panose="020B0609020204030204" pitchFamily="49" charset="0"/>
                <a:cs typeface="Consolas" panose="020B0609020204030204" pitchFamily="49" charset="0"/>
              </a:rPr>
              <a:t>four themes from political ecology for understanding environmental data infrastructures</a:t>
            </a:r>
            <a:endParaRPr kumimoji="0" lang="en-US" sz="2800" b="0" i="0" u="none" strike="noStrike" kern="1200" cap="none" spc="0" normalizeH="0" baseline="0" noProof="0" dirty="0">
              <a:ln>
                <a:noFill/>
              </a:ln>
              <a:solidFill>
                <a:schemeClr val="bg1"/>
              </a:solidFill>
              <a:effectLst/>
              <a:uLnTx/>
              <a:uFillTx/>
              <a:latin typeface="Consolas" panose="020B0609020204030204" pitchFamily="49" charset="0"/>
              <a:cs typeface="Consolas" panose="020B0609020204030204" pitchFamily="49" charset="0"/>
            </a:endParaRPr>
          </a:p>
        </p:txBody>
      </p:sp>
      <p:sp>
        <p:nvSpPr>
          <p:cNvPr id="3" name="Text 1"/>
          <p:cNvSpPr/>
          <p:nvPr/>
        </p:nvSpPr>
        <p:spPr>
          <a:xfrm>
            <a:off x="812800" y="1437630"/>
            <a:ext cx="10883392" cy="4520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36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E5FF"/>
                </a:solidFill>
                <a:effectLst/>
                <a:uLnTx/>
                <a:uFillTx/>
                <a:latin typeface="Consolas" panose="020B0609020204030204" pitchFamily="49" charset="0"/>
                <a:ea typeface="Inconsolata" pitchFamily="34" charset="-122"/>
                <a:cs typeface="Consolas" panose="020B0609020204030204" pitchFamily="49" charset="0"/>
              </a:rPr>
              <a:t>political economy</a:t>
            </a:r>
            <a:endParaRPr kumimoji="0" lang="en-US" sz="2400" b="0" i="0" u="none" strike="noStrike" kern="1200" cap="none" spc="0" normalizeH="0" baseline="0" noProof="0" dirty="0">
              <a:ln>
                <a:noFill/>
              </a:ln>
              <a:solidFill>
                <a:prstClr val="black"/>
              </a:solidFill>
              <a:effectLst/>
              <a:uLnTx/>
              <a:uFillTx/>
              <a:latin typeface="Consolas" panose="020B0609020204030204" pitchFamily="49" charset="0"/>
              <a:cs typeface="Consolas" panose="020B0609020204030204" pitchFamily="49" charset="0"/>
            </a:endParaRPr>
          </a:p>
        </p:txBody>
      </p:sp>
      <p:sp>
        <p:nvSpPr>
          <p:cNvPr id="4" name="Text 2"/>
          <p:cNvSpPr/>
          <p:nvPr/>
        </p:nvSpPr>
        <p:spPr>
          <a:xfrm>
            <a:off x="812800" y="1915120"/>
            <a:ext cx="10883392" cy="3454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52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8C8C8C"/>
                </a:solidFill>
                <a:effectLst/>
                <a:uLnTx/>
                <a:uFillTx/>
                <a:latin typeface="Consolas" panose="020B0609020204030204" pitchFamily="49" charset="0"/>
                <a:ea typeface="Inconsolata" pitchFamily="34" charset="-122"/>
                <a:cs typeface="Consolas" panose="020B0609020204030204" pitchFamily="49" charset="0"/>
              </a:rPr>
              <a:t>who funds it, controls it, profits from it?</a:t>
            </a:r>
            <a:endParaRPr kumimoji="0" lang="en-US" sz="1800" b="0" i="0" u="none" strike="noStrike" kern="1200" cap="none" spc="0" normalizeH="0" baseline="0" noProof="0" dirty="0">
              <a:ln>
                <a:noFill/>
              </a:ln>
              <a:solidFill>
                <a:prstClr val="black"/>
              </a:solidFill>
              <a:effectLst/>
              <a:uLnTx/>
              <a:uFillTx/>
              <a:latin typeface="Consolas" panose="020B0609020204030204" pitchFamily="49" charset="0"/>
              <a:cs typeface="Consolas" panose="020B0609020204030204" pitchFamily="49" charset="0"/>
            </a:endParaRPr>
          </a:p>
        </p:txBody>
      </p:sp>
      <p:sp>
        <p:nvSpPr>
          <p:cNvPr id="5" name="Text 3"/>
          <p:cNvSpPr/>
          <p:nvPr/>
        </p:nvSpPr>
        <p:spPr>
          <a:xfrm>
            <a:off x="812800" y="2539950"/>
            <a:ext cx="10883392" cy="4520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36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3D8B"/>
                </a:solidFill>
                <a:effectLst/>
                <a:uLnTx/>
                <a:uFillTx/>
                <a:latin typeface="Consolas" panose="020B0609020204030204" pitchFamily="49" charset="0"/>
                <a:ea typeface="Inconsolata" pitchFamily="34" charset="-122"/>
                <a:cs typeface="Consolas" panose="020B0609020204030204" pitchFamily="49" charset="0"/>
              </a:rPr>
              <a:t>production of knowledge</a:t>
            </a:r>
            <a:endParaRPr kumimoji="0" lang="en-US" sz="2400" b="0" i="0" u="none" strike="noStrike" kern="1200" cap="none" spc="0" normalizeH="0" baseline="0" noProof="0" dirty="0">
              <a:ln>
                <a:noFill/>
              </a:ln>
              <a:solidFill>
                <a:prstClr val="black"/>
              </a:solidFill>
              <a:effectLst/>
              <a:uLnTx/>
              <a:uFillTx/>
              <a:latin typeface="Consolas" panose="020B0609020204030204" pitchFamily="49" charset="0"/>
              <a:cs typeface="Consolas" panose="020B0609020204030204" pitchFamily="49" charset="0"/>
            </a:endParaRPr>
          </a:p>
        </p:txBody>
      </p:sp>
      <p:sp>
        <p:nvSpPr>
          <p:cNvPr id="6" name="Text 4"/>
          <p:cNvSpPr/>
          <p:nvPr/>
        </p:nvSpPr>
        <p:spPr>
          <a:xfrm>
            <a:off x="812800" y="3017441"/>
            <a:ext cx="10883392" cy="3454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52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8C8C8C"/>
                </a:solidFill>
                <a:effectLst/>
                <a:uLnTx/>
                <a:uFillTx/>
                <a:latin typeface="Consolas" panose="020B0609020204030204" pitchFamily="49" charset="0"/>
                <a:ea typeface="Inconsolata" pitchFamily="34" charset="-122"/>
                <a:cs typeface="Consolas" panose="020B0609020204030204" pitchFamily="49" charset="0"/>
              </a:rPr>
              <a:t>how is the data “cooked”? whose expertise counts?</a:t>
            </a:r>
            <a:endParaRPr kumimoji="0" lang="en-US" sz="1800" b="0" i="0" u="none" strike="noStrike" kern="1200" cap="none" spc="0" normalizeH="0" baseline="0" noProof="0" dirty="0">
              <a:ln>
                <a:noFill/>
              </a:ln>
              <a:solidFill>
                <a:prstClr val="black"/>
              </a:solidFill>
              <a:effectLst/>
              <a:uLnTx/>
              <a:uFillTx/>
              <a:latin typeface="Consolas" panose="020B0609020204030204" pitchFamily="49" charset="0"/>
              <a:cs typeface="Consolas" panose="020B0609020204030204" pitchFamily="49" charset="0"/>
            </a:endParaRPr>
          </a:p>
        </p:txBody>
      </p:sp>
      <p:sp>
        <p:nvSpPr>
          <p:cNvPr id="7" name="Text 5"/>
          <p:cNvSpPr/>
          <p:nvPr/>
        </p:nvSpPr>
        <p:spPr>
          <a:xfrm>
            <a:off x="812800" y="3642271"/>
            <a:ext cx="10883392" cy="4520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36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6FF00"/>
                </a:solidFill>
                <a:effectLst/>
                <a:uLnTx/>
                <a:uFillTx/>
                <a:latin typeface="Consolas" panose="020B0609020204030204" pitchFamily="49" charset="0"/>
                <a:ea typeface="Inconsolata" pitchFamily="34" charset="-122"/>
                <a:cs typeface="Consolas" panose="020B0609020204030204" pitchFamily="49" charset="0"/>
              </a:rPr>
              <a:t>materiality</a:t>
            </a:r>
            <a:endParaRPr kumimoji="0" lang="en-US" sz="2400" b="0" i="0" u="none" strike="noStrike" kern="1200" cap="none" spc="0" normalizeH="0" baseline="0" noProof="0" dirty="0">
              <a:ln>
                <a:noFill/>
              </a:ln>
              <a:solidFill>
                <a:prstClr val="black"/>
              </a:solidFill>
              <a:effectLst/>
              <a:uLnTx/>
              <a:uFillTx/>
              <a:latin typeface="Consolas" panose="020B0609020204030204" pitchFamily="49" charset="0"/>
              <a:cs typeface="Consolas" panose="020B0609020204030204" pitchFamily="49" charset="0"/>
            </a:endParaRPr>
          </a:p>
        </p:txBody>
      </p:sp>
      <p:sp>
        <p:nvSpPr>
          <p:cNvPr id="8" name="Text 6"/>
          <p:cNvSpPr/>
          <p:nvPr/>
        </p:nvSpPr>
        <p:spPr>
          <a:xfrm>
            <a:off x="812800" y="4119761"/>
            <a:ext cx="10883392" cy="3454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52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8C8C8C"/>
                </a:solidFill>
                <a:effectLst/>
                <a:uLnTx/>
                <a:uFillTx/>
                <a:latin typeface="Consolas" panose="020B0609020204030204" pitchFamily="49" charset="0"/>
                <a:ea typeface="Inconsolata" pitchFamily="34" charset="-122"/>
                <a:cs typeface="Consolas" panose="020B0609020204030204" pitchFamily="49" charset="0"/>
              </a:rPr>
              <a:t>where does data physically live? what does it depend on?</a:t>
            </a:r>
            <a:endParaRPr kumimoji="0" lang="en-US" sz="1800" b="0" i="0" u="none" strike="noStrike" kern="1200" cap="none" spc="0" normalizeH="0" baseline="0" noProof="0" dirty="0">
              <a:ln>
                <a:noFill/>
              </a:ln>
              <a:solidFill>
                <a:prstClr val="black"/>
              </a:solidFill>
              <a:effectLst/>
              <a:uLnTx/>
              <a:uFillTx/>
              <a:latin typeface="Consolas" panose="020B0609020204030204" pitchFamily="49" charset="0"/>
              <a:cs typeface="Consolas" panose="020B0609020204030204" pitchFamily="49" charset="0"/>
            </a:endParaRPr>
          </a:p>
        </p:txBody>
      </p:sp>
      <p:sp>
        <p:nvSpPr>
          <p:cNvPr id="9" name="Text 7"/>
          <p:cNvSpPr/>
          <p:nvPr/>
        </p:nvSpPr>
        <p:spPr>
          <a:xfrm>
            <a:off x="812800" y="4744591"/>
            <a:ext cx="10883392" cy="4520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36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D60A"/>
                </a:solidFill>
                <a:effectLst/>
                <a:uLnTx/>
                <a:uFillTx/>
                <a:latin typeface="Consolas" panose="020B0609020204030204" pitchFamily="49" charset="0"/>
                <a:ea typeface="Inconsolata" pitchFamily="34" charset="-122"/>
                <a:cs typeface="Consolas" panose="020B0609020204030204" pitchFamily="49" charset="0"/>
              </a:rPr>
              <a:t>context</a:t>
            </a:r>
            <a:endParaRPr kumimoji="0" lang="en-US" sz="2400" b="0" i="0" u="none" strike="noStrike" kern="1200" cap="none" spc="0" normalizeH="0" baseline="0" noProof="0" dirty="0">
              <a:ln>
                <a:noFill/>
              </a:ln>
              <a:solidFill>
                <a:prstClr val="black"/>
              </a:solidFill>
              <a:effectLst/>
              <a:uLnTx/>
              <a:uFillTx/>
              <a:latin typeface="Consolas" panose="020B0609020204030204" pitchFamily="49" charset="0"/>
              <a:cs typeface="Consolas" panose="020B0609020204030204" pitchFamily="49" charset="0"/>
            </a:endParaRPr>
          </a:p>
        </p:txBody>
      </p:sp>
      <p:sp>
        <p:nvSpPr>
          <p:cNvPr id="10" name="Text 8"/>
          <p:cNvSpPr/>
          <p:nvPr/>
        </p:nvSpPr>
        <p:spPr>
          <a:xfrm>
            <a:off x="812800" y="5222081"/>
            <a:ext cx="10883392" cy="3454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52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8C8C8C"/>
                </a:solidFill>
                <a:effectLst/>
                <a:uLnTx/>
                <a:uFillTx/>
                <a:latin typeface="Consolas" panose="020B0609020204030204" pitchFamily="49" charset="0"/>
                <a:ea typeface="Inconsolata" pitchFamily="34" charset="-122"/>
                <a:cs typeface="Consolas" panose="020B0609020204030204" pitchFamily="49" charset="0"/>
              </a:rPr>
              <a:t>history, place, scale.</a:t>
            </a:r>
            <a:endParaRPr kumimoji="0" lang="en-US" sz="1800" b="0" i="0" u="none" strike="noStrike" kern="1200" cap="none" spc="0" normalizeH="0" baseline="0" noProof="0" dirty="0">
              <a:ln>
                <a:noFill/>
              </a:ln>
              <a:solidFill>
                <a:prstClr val="black"/>
              </a:solidFill>
              <a:effectLst/>
              <a:uLnTx/>
              <a:uFillTx/>
              <a:latin typeface="Consolas" panose="020B0609020204030204" pitchFamily="49" charset="0"/>
              <a:cs typeface="Consolas" panose="020B0609020204030204" pitchFamily="49" charset="0"/>
            </a:endParaRPr>
          </a:p>
        </p:txBody>
      </p:sp>
      <p:sp>
        <p:nvSpPr>
          <p:cNvPr id="11" name="Text 9"/>
          <p:cNvSpPr/>
          <p:nvPr/>
        </p:nvSpPr>
        <p:spPr>
          <a:xfrm>
            <a:off x="812800" y="6202710"/>
            <a:ext cx="10883392" cy="274290"/>
          </a:xfrm>
          <a:prstGeom prst="rect">
            <a:avLst/>
          </a:prstGeom>
          <a:noFill/>
          <a:ln/>
        </p:spPr>
        <p:txBody>
          <a:bodyPr wrap="square" lIns="0" tIns="0" rIns="0" bIns="0" rtlCol="0" anchor="t">
            <a:normAutofit/>
          </a:bodyPr>
          <a:lstStyle/>
          <a:p>
            <a:pPr marL="0" marR="0" lvl="0" indent="0" algn="r"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C8C8C"/>
                </a:solidFill>
                <a:effectLst/>
                <a:uLnTx/>
                <a:uFillTx/>
                <a:latin typeface="Consolas" panose="020B0609020204030204" pitchFamily="49" charset="0"/>
                <a:ea typeface="Inconsolata" pitchFamily="34" charset="-122"/>
                <a:cs typeface="Consolas" panose="020B0609020204030204" pitchFamily="49" charset="0"/>
              </a:rPr>
              <a:t>nost &amp; goldstein p. 6–7</a:t>
            </a:r>
            <a:endParaRPr kumimoji="0" lang="en-US" sz="1400" b="0" i="0" u="none" strike="noStrike" kern="1200" cap="none" spc="0" normalizeH="0" baseline="0" noProof="0" dirty="0">
              <a:ln>
                <a:noFill/>
              </a:ln>
              <a:solidFill>
                <a:prstClr val="black"/>
              </a:solidFill>
              <a:effectLst/>
              <a:uLnTx/>
              <a:uFillTx/>
              <a:latin typeface="Consolas" panose="020B0609020204030204" pitchFamily="49" charset="0"/>
              <a:cs typeface="Consolas" panose="020B0609020204030204" pitchFamily="49"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B0B0B"/>
        </a:solidFill>
        <a:effectLst/>
      </p:bgPr>
    </p:bg>
    <p:spTree>
      <p:nvGrpSpPr>
        <p:cNvPr id="1" name=""/>
        <p:cNvGrpSpPr/>
        <p:nvPr/>
      </p:nvGrpSpPr>
      <p:grpSpPr>
        <a:xfrm>
          <a:off x="0" y="0"/>
          <a:ext cx="0" cy="0"/>
          <a:chOff x="0" y="0"/>
          <a:chExt cx="0" cy="0"/>
        </a:xfrm>
      </p:grpSpPr>
      <p:sp>
        <p:nvSpPr>
          <p:cNvPr id="2" name="Text 0"/>
          <p:cNvSpPr/>
          <p:nvPr/>
        </p:nvSpPr>
        <p:spPr>
          <a:xfrm>
            <a:off x="508000" y="424210"/>
            <a:ext cx="4002786" cy="5282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96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EDEDED"/>
                </a:solidFill>
                <a:effectLst/>
                <a:uLnTx/>
                <a:uFillTx/>
                <a:latin typeface="Inconsolata" pitchFamily="34" charset="0"/>
                <a:ea typeface="Inconsolata" pitchFamily="34" charset="-122"/>
                <a:cs typeface="Inconsolata" pitchFamily="34" charset="-120"/>
              </a:rPr>
              <a:t>discuss your case</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11112500" y="182873"/>
            <a:ext cx="812800" cy="3810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6FF00"/>
                </a:solidFill>
                <a:effectLst/>
                <a:uLnTx/>
                <a:uFillTx/>
                <a:latin typeface="Inconsolata" pitchFamily="34" charset="0"/>
                <a:ea typeface="Inconsolata" pitchFamily="34" charset="-122"/>
                <a:cs typeface="Inconsolata" pitchFamily="34" charset="-120"/>
              </a:rPr>
              <a:t>10 min</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812800" y="1671290"/>
            <a:ext cx="304800" cy="3810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0E5FF"/>
                </a:solidFill>
                <a:effectLst/>
                <a:uLnTx/>
                <a:uFillTx/>
                <a:latin typeface="Inconsolata" pitchFamily="34" charset="0"/>
                <a:ea typeface="Inconsolata" pitchFamily="34" charset="-122"/>
                <a:cs typeface="Inconsolata" pitchFamily="34" charset="-120"/>
              </a:rPr>
              <a:t>1</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270000" y="1671290"/>
            <a:ext cx="8090370" cy="322560"/>
          </a:xfrm>
          <a:prstGeom prst="rect">
            <a:avLst/>
          </a:prstGeom>
          <a:noFill/>
          <a:ln/>
        </p:spPr>
        <p:txBody>
          <a:bodyPr wrap="square" lIns="0" tIns="0" rIns="0" bIns="0" rtlCol="0" anchor="t">
            <a:noAutofit/>
          </a:bodyPr>
          <a:lstStyle/>
          <a:p>
            <a:pPr marL="0" marR="0" lvl="0" indent="0" algn="l" defTabSz="914400" rtl="0" eaLnBrk="1" fontAlgn="auto" latinLnBrk="0" hangingPunct="1">
              <a:lnSpc>
                <a:spcPts val="2700"/>
              </a:lnSpc>
              <a:spcBef>
                <a:spcPts val="0"/>
              </a:spcBef>
              <a:spcAft>
                <a:spcPts val="0"/>
              </a:spcAft>
              <a:buClrTx/>
              <a:buSzTx/>
              <a:buFontTx/>
              <a:buNone/>
              <a:tabLst/>
              <a:defRPr/>
            </a:pPr>
            <a:r>
              <a:rPr kumimoji="0" lang="en-US" sz="2500" b="0" i="0" u="none" strike="noStrike" kern="1200" cap="none" spc="0" normalizeH="0" baseline="0" noProof="0" dirty="0">
                <a:ln>
                  <a:noFill/>
                </a:ln>
                <a:solidFill>
                  <a:srgbClr val="EDEDED"/>
                </a:solidFill>
                <a:effectLst/>
                <a:uLnTx/>
                <a:uFillTx/>
                <a:latin typeface="Inconsolata" pitchFamily="34" charset="0"/>
                <a:ea typeface="Inconsolata" pitchFamily="34" charset="-122"/>
                <a:cs typeface="Inconsolata" pitchFamily="34" charset="-120"/>
              </a:rPr>
              <a:t>who funds it, who has access, who benefits?</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812800" y="2502630"/>
            <a:ext cx="304800" cy="3810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0E5FF"/>
                </a:solidFill>
                <a:effectLst/>
                <a:uLnTx/>
                <a:uFillTx/>
                <a:latin typeface="Inconsolata" pitchFamily="34" charset="0"/>
                <a:ea typeface="Inconsolata" pitchFamily="34" charset="-122"/>
                <a:cs typeface="Inconsolata" pitchFamily="34" charset="-120"/>
              </a:rPr>
              <a:t>2</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1270000" y="2502630"/>
            <a:ext cx="10611556" cy="62287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700"/>
              </a:lnSpc>
              <a:spcBef>
                <a:spcPts val="0"/>
              </a:spcBef>
              <a:spcAft>
                <a:spcPts val="0"/>
              </a:spcAft>
              <a:buClrTx/>
              <a:buSzTx/>
              <a:buFontTx/>
              <a:buNone/>
              <a:tabLst/>
              <a:defRPr/>
            </a:pPr>
            <a:r>
              <a:rPr kumimoji="0" lang="en-US" sz="2500" b="0" i="0" u="none" strike="noStrike" kern="1200" cap="none" spc="0" normalizeH="0" baseline="0" noProof="0" dirty="0">
                <a:ln>
                  <a:noFill/>
                </a:ln>
                <a:solidFill>
                  <a:srgbClr val="EDEDED"/>
                </a:solidFill>
                <a:effectLst/>
                <a:uLnTx/>
                <a:uFillTx/>
                <a:latin typeface="Inconsolata" pitchFamily="34" charset="0"/>
                <a:ea typeface="Inconsolata" pitchFamily="34" charset="-122"/>
                <a:cs typeface="Inconsolata" pitchFamily="34" charset="-120"/>
              </a:rPr>
              <a:t>how is the data “cooked”? what is captured, what is left out?</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812800" y="3417030"/>
            <a:ext cx="304800" cy="3810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0E5FF"/>
                </a:solidFill>
                <a:effectLst/>
                <a:uLnTx/>
                <a:uFillTx/>
                <a:latin typeface="Inconsolata" pitchFamily="34" charset="0"/>
                <a:ea typeface="Inconsolata" pitchFamily="34" charset="-122"/>
                <a:cs typeface="Inconsolata" pitchFamily="34" charset="-120"/>
              </a:rPr>
              <a:t>3</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270000" y="3417030"/>
            <a:ext cx="10160000" cy="322560"/>
          </a:xfrm>
          <a:prstGeom prst="rect">
            <a:avLst/>
          </a:prstGeom>
          <a:noFill/>
          <a:ln/>
        </p:spPr>
        <p:txBody>
          <a:bodyPr wrap="square" lIns="0" tIns="0" rIns="0" bIns="0" rtlCol="0" anchor="t">
            <a:noAutofit/>
          </a:bodyPr>
          <a:lstStyle/>
          <a:p>
            <a:pPr marL="0" marR="0" lvl="0" indent="0" algn="l" defTabSz="914400" rtl="0" eaLnBrk="1" fontAlgn="auto" latinLnBrk="0" hangingPunct="1">
              <a:lnSpc>
                <a:spcPts val="2700"/>
              </a:lnSpc>
              <a:spcBef>
                <a:spcPts val="0"/>
              </a:spcBef>
              <a:spcAft>
                <a:spcPts val="0"/>
              </a:spcAft>
              <a:buClrTx/>
              <a:buSzTx/>
              <a:buFontTx/>
              <a:buNone/>
              <a:tabLst/>
              <a:defRPr/>
            </a:pPr>
            <a:r>
              <a:rPr kumimoji="0" lang="en-US" sz="2500" b="0" i="0" u="none" strike="noStrike" kern="1200" cap="none" spc="0" normalizeH="0" baseline="0" noProof="0" dirty="0">
                <a:ln>
                  <a:noFill/>
                </a:ln>
                <a:solidFill>
                  <a:srgbClr val="EDEDED"/>
                </a:solidFill>
                <a:effectLst/>
                <a:uLnTx/>
                <a:uFillTx/>
                <a:latin typeface="Inconsolata" pitchFamily="34" charset="0"/>
                <a:ea typeface="Inconsolata" pitchFamily="34" charset="-122"/>
                <a:cs typeface="Inconsolata" pitchFamily="34" charset="-120"/>
              </a:rPr>
              <a:t>where does it physically live? what does it depend on?</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812800" y="4273081"/>
            <a:ext cx="304800" cy="3810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0E5FF"/>
                </a:solidFill>
                <a:effectLst/>
                <a:uLnTx/>
                <a:uFillTx/>
                <a:latin typeface="Inconsolata" pitchFamily="34" charset="0"/>
                <a:ea typeface="Inconsolata" pitchFamily="34" charset="-122"/>
                <a:cs typeface="Inconsolata" pitchFamily="34" charset="-120"/>
              </a:rPr>
              <a:t>4</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1269999" y="4273081"/>
            <a:ext cx="6208889" cy="322560"/>
          </a:xfrm>
          <a:prstGeom prst="rect">
            <a:avLst/>
          </a:prstGeom>
          <a:noFill/>
          <a:ln/>
        </p:spPr>
        <p:txBody>
          <a:bodyPr wrap="square" lIns="0" tIns="0" rIns="0" bIns="0" rtlCol="0" anchor="t">
            <a:noAutofit/>
          </a:bodyPr>
          <a:lstStyle/>
          <a:p>
            <a:pPr marL="0" marR="0" lvl="0" indent="0" algn="l" defTabSz="914400" rtl="0" eaLnBrk="1" fontAlgn="auto" latinLnBrk="0" hangingPunct="1">
              <a:lnSpc>
                <a:spcPts val="2700"/>
              </a:lnSpc>
              <a:spcBef>
                <a:spcPts val="0"/>
              </a:spcBef>
              <a:spcAft>
                <a:spcPts val="0"/>
              </a:spcAft>
              <a:buClrTx/>
              <a:buSzTx/>
              <a:buFontTx/>
              <a:buNone/>
              <a:tabLst/>
              <a:defRPr/>
            </a:pPr>
            <a:r>
              <a:rPr kumimoji="0" lang="en-US" sz="2500" b="0" i="0" u="none" strike="noStrike" kern="1200" cap="none" spc="0" normalizeH="0" baseline="0" noProof="0" dirty="0">
                <a:ln>
                  <a:noFill/>
                </a:ln>
                <a:solidFill>
                  <a:srgbClr val="FFD60A"/>
                </a:solidFill>
                <a:effectLst/>
                <a:uLnTx/>
                <a:uFillTx/>
                <a:latin typeface="Inconsolata" pitchFamily="34" charset="0"/>
                <a:ea typeface="Inconsolata" pitchFamily="34" charset="-122"/>
                <a:cs typeface="Inconsolata" pitchFamily="34" charset="-120"/>
              </a:rPr>
              <a:t>this data shows ___ but does ___.</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9309100" y="4438221"/>
            <a:ext cx="2616200" cy="3098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24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2F92"/>
                </a:solidFill>
                <a:effectLst/>
                <a:uLnTx/>
                <a:uFillTx/>
                <a:latin typeface="Inconsolata" pitchFamily="34" charset="0"/>
                <a:ea typeface="Inconsolata" pitchFamily="34" charset="-122"/>
                <a:cs typeface="Inconsolata" pitchFamily="34" charset="-120"/>
              </a:rPr>
              <a:t>cases</a:t>
            </a:r>
            <a:endParaRPr kumimoji="0" lang="en-US" sz="2000" b="1" i="0" u="none" strike="noStrike" kern="1200" cap="none" spc="0" normalizeH="0" baseline="0" noProof="0" dirty="0">
              <a:ln>
                <a:noFill/>
              </a:ln>
              <a:solidFill>
                <a:srgbClr val="FF2F92"/>
              </a:solidFill>
              <a:effectLst/>
              <a:uLnTx/>
              <a:uFillTx/>
              <a:latin typeface="Calibri" panose="020F0502020204030204"/>
              <a:ea typeface="+mn-ea"/>
              <a:cs typeface="+mn-cs"/>
            </a:endParaRPr>
          </a:p>
        </p:txBody>
      </p:sp>
      <p:sp>
        <p:nvSpPr>
          <p:cNvPr id="13" name="Text 11"/>
          <p:cNvSpPr/>
          <p:nvPr/>
        </p:nvSpPr>
        <p:spPr>
          <a:xfrm>
            <a:off x="9309100" y="4849681"/>
            <a:ext cx="2616200" cy="3225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34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EDEDED"/>
                </a:solidFill>
                <a:effectLst/>
                <a:uLnTx/>
                <a:uFillTx/>
                <a:latin typeface="Inconsolata" pitchFamily="34" charset="0"/>
                <a:ea typeface="Inconsolata" pitchFamily="34" charset="-122"/>
                <a:cs typeface="Inconsolata" pitchFamily="34" charset="-120"/>
              </a:rPr>
              <a:t>planet</a:t>
            </a:r>
            <a:endPar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9309100" y="5199700"/>
            <a:ext cx="2616200" cy="3225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34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EDEDED"/>
                </a:solidFill>
                <a:effectLst/>
                <a:uLnTx/>
                <a:uFillTx/>
                <a:latin typeface="Inconsolata" pitchFamily="34" charset="0"/>
                <a:ea typeface="Inconsolata" pitchFamily="34" charset="-122"/>
                <a:cs typeface="Inconsolata" pitchFamily="34" charset="-120"/>
              </a:rPr>
              <a:t>global forest watch</a:t>
            </a:r>
            <a:endPar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9309100" y="5623860"/>
            <a:ext cx="2616200" cy="3225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34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EDEDED"/>
                </a:solidFill>
                <a:effectLst/>
                <a:uLnTx/>
                <a:uFillTx/>
                <a:latin typeface="Inconsolata" pitchFamily="34" charset="0"/>
                <a:ea typeface="Inconsolata" pitchFamily="34" charset="-122"/>
                <a:cs typeface="Inconsolata" pitchFamily="34" charset="-120"/>
              </a:rPr>
              <a:t>global fishing watch</a:t>
            </a:r>
            <a:endPar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9309100" y="6048020"/>
            <a:ext cx="2616200" cy="3225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34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EDEDED"/>
                </a:solidFill>
                <a:effectLst/>
                <a:uLnTx/>
                <a:uFillTx/>
                <a:latin typeface="Inconsolata" pitchFamily="34" charset="0"/>
                <a:ea typeface="Inconsolata" pitchFamily="34" charset="-122"/>
                <a:cs typeface="Inconsolata" pitchFamily="34" charset="-120"/>
              </a:rPr>
              <a:t>WDPA</a:t>
            </a:r>
            <a:endPar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B0B0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454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52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8C8C8C"/>
                </a:solidFill>
                <a:effectLst/>
                <a:uLnTx/>
                <a:uFillTx/>
                <a:latin typeface="Inconsolata" pitchFamily="34" charset="0"/>
                <a:ea typeface="Inconsolata" pitchFamily="34" charset="-122"/>
                <a:cs typeface="Inconsolata" pitchFamily="34" charset="-120"/>
              </a:rPr>
              <a:t>data is…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812800" y="1437630"/>
            <a:ext cx="10883392" cy="4520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36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E5FF"/>
                </a:solidFill>
                <a:effectLst/>
                <a:uLnTx/>
                <a:uFillTx/>
                <a:latin typeface="Inconsolata" pitchFamily="34" charset="0"/>
                <a:ea typeface="Inconsolata" pitchFamily="34" charset="-122"/>
                <a:cs typeface="Inconsolata" pitchFamily="34" charset="-120"/>
              </a:rPr>
              <a:t>material</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812800" y="1915120"/>
            <a:ext cx="10883392" cy="3454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52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8C8C8C"/>
                </a:solidFill>
                <a:effectLst/>
                <a:uLnTx/>
                <a:uFillTx/>
                <a:latin typeface="Inconsolata" pitchFamily="34" charset="0"/>
                <a:ea typeface="Inconsolata" pitchFamily="34" charset="-122"/>
                <a:cs typeface="Inconsolata" pitchFamily="34" charset="-120"/>
              </a:rPr>
              <a:t>“a moment in socio-ecological metabolism”</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812800" y="2539950"/>
            <a:ext cx="10883392" cy="4520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36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3D8B"/>
                </a:solidFill>
                <a:effectLst/>
                <a:uLnTx/>
                <a:uFillTx/>
                <a:latin typeface="Inconsolata" pitchFamily="34" charset="0"/>
                <a:ea typeface="Inconsolata" pitchFamily="34" charset="-122"/>
                <a:cs typeface="Inconsolata" pitchFamily="34" charset="-120"/>
              </a:rPr>
              <a:t>practiced</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812800" y="3017441"/>
            <a:ext cx="10883392" cy="3454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52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8C8C8C"/>
                </a:solidFill>
                <a:effectLst/>
                <a:uLnTx/>
                <a:uFillTx/>
                <a:latin typeface="Inconsolata" pitchFamily="34" charset="0"/>
                <a:ea typeface="Inconsolata" pitchFamily="34" charset="-122"/>
                <a:cs typeface="Inconsolata" pitchFamily="34" charset="-120"/>
              </a:rPr>
              <a:t>“there is no such thing as raw data”; it is always “cooked”</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812800" y="3642271"/>
            <a:ext cx="10883392" cy="4520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36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6FF00"/>
                </a:solidFill>
                <a:effectLst/>
                <a:uLnTx/>
                <a:uFillTx/>
                <a:latin typeface="Inconsolata" pitchFamily="34" charset="0"/>
                <a:ea typeface="Inconsolata" pitchFamily="34" charset="-122"/>
                <a:cs typeface="Inconsolata" pitchFamily="34" charset="-120"/>
              </a:rPr>
              <a:t>governed</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812800" y="4119761"/>
            <a:ext cx="10883392" cy="3454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52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8C8C8C"/>
                </a:solidFill>
                <a:effectLst/>
                <a:uLnTx/>
                <a:uFillTx/>
                <a:latin typeface="Inconsolata" pitchFamily="34" charset="0"/>
                <a:ea typeface="Inconsolata" pitchFamily="34" charset="-122"/>
                <a:cs typeface="Inconsolata" pitchFamily="34" charset="-120"/>
              </a:rPr>
              <a:t>“a product of social, political, cultural, and economic circumstance”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812800" y="4744591"/>
            <a:ext cx="10883392" cy="4520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36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D60A"/>
                </a:solidFill>
                <a:effectLst/>
                <a:uLnTx/>
                <a:uFillTx/>
                <a:latin typeface="Inconsolata" pitchFamily="34" charset="0"/>
                <a:ea typeface="Inconsolata" pitchFamily="34" charset="-122"/>
                <a:cs typeface="Inconsolata" pitchFamily="34" charset="-120"/>
              </a:rPr>
              <a:t>… and requires praxis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812800" y="5222081"/>
            <a:ext cx="10883392" cy="3454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52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8C8C8C"/>
                </a:solidFill>
                <a:effectLst/>
                <a:uLnTx/>
                <a:uFillTx/>
                <a:latin typeface="Inconsolata" pitchFamily="34" charset="0"/>
                <a:ea typeface="Inconsolata" pitchFamily="34" charset="-122"/>
                <a:cs typeface="Inconsolata" pitchFamily="34" charset="-120"/>
              </a:rPr>
              <a:t>a “trickster science” that “embraces yet critiques its objects of inquiry”</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812800" y="6202710"/>
            <a:ext cx="10883392" cy="2742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C8C8C"/>
                </a:solidFill>
                <a:effectLst/>
                <a:uLnTx/>
                <a:uFillTx/>
                <a:latin typeface="Inconsolata" pitchFamily="34" charset="0"/>
                <a:ea typeface="Inconsolata" pitchFamily="34" charset="-122"/>
                <a:cs typeface="Inconsolata" pitchFamily="34" charset="-120"/>
              </a:rPr>
              <a:t>nost &amp; goldstein p. 8–12</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B0B0B"/>
        </a:solidFill>
        <a:effectLst/>
      </p:bgPr>
    </p:bg>
    <p:spTree>
      <p:nvGrpSpPr>
        <p:cNvPr id="1" name=""/>
        <p:cNvGrpSpPr/>
        <p:nvPr/>
      </p:nvGrpSpPr>
      <p:grpSpPr>
        <a:xfrm>
          <a:off x="0" y="0"/>
          <a:ext cx="0" cy="0"/>
          <a:chOff x="0" y="0"/>
          <a:chExt cx="0" cy="0"/>
        </a:xfrm>
      </p:grpSpPr>
      <p:sp>
        <p:nvSpPr>
          <p:cNvPr id="2" name="Text 0"/>
          <p:cNvSpPr/>
          <p:nvPr/>
        </p:nvSpPr>
        <p:spPr>
          <a:xfrm>
            <a:off x="812800" y="812800"/>
            <a:ext cx="1193800" cy="5282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96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EDEDED"/>
                </a:solidFill>
                <a:effectLst/>
                <a:uLnTx/>
                <a:uFillTx/>
                <a:latin typeface="Inconsolata" pitchFamily="34" charset="0"/>
                <a:ea typeface="Inconsolata" pitchFamily="34" charset="-122"/>
                <a:cs typeface="Inconsolata" pitchFamily="34" charset="-120"/>
              </a:rPr>
              <a:t>share</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9474200" y="952500"/>
            <a:ext cx="1962150" cy="3810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6FF00"/>
                </a:solidFill>
                <a:effectLst/>
                <a:uLnTx/>
                <a:uFillTx/>
                <a:latin typeface="Inconsolata" pitchFamily="34" charset="0"/>
                <a:ea typeface="Inconsolata" pitchFamily="34" charset="-122"/>
                <a:cs typeface="Inconsolata" pitchFamily="34" charset="-120"/>
              </a:rPr>
              <a:t>2 min per group</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812800" y="2204283"/>
            <a:ext cx="515840" cy="546507"/>
          </a:xfrm>
          <a:prstGeom prst="rect">
            <a:avLst/>
          </a:prstGeom>
          <a:noFill/>
          <a:ln/>
        </p:spPr>
        <p:txBody>
          <a:bodyPr wrap="square" lIns="0" tIns="0" rIns="0" bIns="0" rtlCol="0" anchor="t">
            <a:no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0E5FF"/>
                </a:solidFill>
                <a:effectLst/>
                <a:uLnTx/>
                <a:uFillTx/>
                <a:latin typeface="Inconsolata" pitchFamily="34" charset="0"/>
                <a:ea typeface="Inconsolata" pitchFamily="34" charset="-122"/>
                <a:cs typeface="Inconsolata" pitchFamily="34" charset="-120"/>
              </a:rPr>
              <a:t>1</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269999" y="2209800"/>
            <a:ext cx="5534537" cy="528290"/>
          </a:xfrm>
          <a:prstGeom prst="rect">
            <a:avLst/>
          </a:prstGeom>
          <a:noFill/>
          <a:ln/>
        </p:spPr>
        <p:txBody>
          <a:bodyPr wrap="square" lIns="0" tIns="0" rIns="0" bIns="0" rtlCol="0" anchor="t">
            <a:noAutofit/>
          </a:bodyPr>
          <a:lstStyle/>
          <a:p>
            <a:pPr marL="0" marR="0" lvl="0" indent="0" algn="l" defTabSz="914400" rtl="0" eaLnBrk="1" fontAlgn="auto" latinLnBrk="0" hangingPunct="1">
              <a:lnSpc>
                <a:spcPts val="2700"/>
              </a:lnSpc>
              <a:spcBef>
                <a:spcPts val="0"/>
              </a:spcBef>
              <a:spcAft>
                <a:spcPts val="0"/>
              </a:spcAft>
              <a:buClrTx/>
              <a:buSzTx/>
              <a:buFontTx/>
              <a:buNone/>
              <a:tabLst/>
              <a:defRPr/>
            </a:pPr>
            <a:r>
              <a:rPr kumimoji="0" lang="en-US" sz="2500" b="0" i="0" u="none" strike="noStrike" kern="1200" cap="none" spc="0" normalizeH="0" baseline="0" noProof="0" dirty="0">
                <a:ln>
                  <a:noFill/>
                </a:ln>
                <a:solidFill>
                  <a:srgbClr val="EDEDED"/>
                </a:solidFill>
                <a:effectLst/>
                <a:uLnTx/>
                <a:uFillTx/>
                <a:latin typeface="Inconsolata" pitchFamily="34" charset="0"/>
                <a:ea typeface="Inconsolata" pitchFamily="34" charset="-122"/>
                <a:cs typeface="Inconsolata" pitchFamily="34" charset="-120"/>
              </a:rPr>
              <a:t>your case in one sentence</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812800" y="2813883"/>
            <a:ext cx="515840" cy="546507"/>
          </a:xfrm>
          <a:prstGeom prst="rect">
            <a:avLst/>
          </a:prstGeom>
          <a:noFill/>
          <a:ln/>
        </p:spPr>
        <p:txBody>
          <a:bodyPr wrap="square" lIns="0" tIns="0" rIns="0" bIns="0" rtlCol="0" anchor="t">
            <a:no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0E5FF"/>
                </a:solidFill>
                <a:effectLst/>
                <a:uLnTx/>
                <a:uFillTx/>
                <a:latin typeface="Inconsolata" pitchFamily="34" charset="0"/>
                <a:ea typeface="Inconsolata" pitchFamily="34" charset="-122"/>
                <a:cs typeface="Inconsolata" pitchFamily="34" charset="-120"/>
              </a:rPr>
              <a:t>2</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1269999" y="2819400"/>
            <a:ext cx="7305589" cy="528290"/>
          </a:xfrm>
          <a:prstGeom prst="rect">
            <a:avLst/>
          </a:prstGeom>
          <a:noFill/>
          <a:ln/>
        </p:spPr>
        <p:txBody>
          <a:bodyPr wrap="square" lIns="0" tIns="0" rIns="0" bIns="0" rtlCol="0" anchor="t">
            <a:noAutofit/>
          </a:bodyPr>
          <a:lstStyle/>
          <a:p>
            <a:pPr marL="0" marR="0" lvl="0" indent="0" algn="l" defTabSz="914400" rtl="0" eaLnBrk="1" fontAlgn="auto" latinLnBrk="0" hangingPunct="1">
              <a:lnSpc>
                <a:spcPts val="2700"/>
              </a:lnSpc>
              <a:spcBef>
                <a:spcPts val="0"/>
              </a:spcBef>
              <a:spcAft>
                <a:spcPts val="0"/>
              </a:spcAft>
              <a:buClrTx/>
              <a:buSzTx/>
              <a:buFontTx/>
              <a:buNone/>
              <a:tabLst/>
              <a:defRPr/>
            </a:pPr>
            <a:r>
              <a:rPr kumimoji="0" lang="en-US" sz="2500" b="0" i="0" u="none" strike="noStrike" kern="1200" cap="none" spc="0" normalizeH="0" baseline="0" noProof="0" dirty="0">
                <a:ln>
                  <a:noFill/>
                </a:ln>
                <a:solidFill>
                  <a:srgbClr val="FFD60A"/>
                </a:solidFill>
                <a:effectLst/>
                <a:uLnTx/>
                <a:uFillTx/>
                <a:latin typeface="Inconsolata" pitchFamily="34" charset="0"/>
                <a:ea typeface="Inconsolata" pitchFamily="34" charset="-122"/>
                <a:cs typeface="Inconsolata" pitchFamily="34" charset="-120"/>
              </a:rPr>
              <a:t>this data shows ___ but does ___.</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812800" y="3423483"/>
            <a:ext cx="515840" cy="546507"/>
          </a:xfrm>
          <a:prstGeom prst="rect">
            <a:avLst/>
          </a:prstGeom>
          <a:noFill/>
          <a:ln/>
        </p:spPr>
        <p:txBody>
          <a:bodyPr wrap="square" lIns="0" tIns="0" rIns="0" bIns="0" rtlCol="0" anchor="t">
            <a:no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0E5FF"/>
                </a:solidFill>
                <a:effectLst/>
                <a:uLnTx/>
                <a:uFillTx/>
                <a:latin typeface="Inconsolata" pitchFamily="34" charset="0"/>
                <a:ea typeface="Inconsolata" pitchFamily="34" charset="-122"/>
                <a:cs typeface="Inconsolata" pitchFamily="34" charset="-120"/>
              </a:rPr>
              <a:t>3</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269999" y="3429000"/>
            <a:ext cx="8855259" cy="528290"/>
          </a:xfrm>
          <a:prstGeom prst="rect">
            <a:avLst/>
          </a:prstGeom>
          <a:noFill/>
          <a:ln/>
        </p:spPr>
        <p:txBody>
          <a:bodyPr wrap="square" lIns="0" tIns="0" rIns="0" bIns="0" rtlCol="0" anchor="t">
            <a:noAutofit/>
          </a:bodyPr>
          <a:lstStyle/>
          <a:p>
            <a:pPr marL="0" marR="0" lvl="0" indent="0" algn="l" defTabSz="914400" rtl="0" eaLnBrk="1" fontAlgn="auto" latinLnBrk="0" hangingPunct="1">
              <a:lnSpc>
                <a:spcPts val="2700"/>
              </a:lnSpc>
              <a:spcBef>
                <a:spcPts val="0"/>
              </a:spcBef>
              <a:spcAft>
                <a:spcPts val="0"/>
              </a:spcAft>
              <a:buClrTx/>
              <a:buSzTx/>
              <a:buFontTx/>
              <a:buNone/>
              <a:tabLst/>
              <a:defRPr/>
            </a:pPr>
            <a:r>
              <a:rPr kumimoji="0" lang="en-US" sz="2500" b="0" i="0" u="none" strike="noStrike" kern="1200" cap="none" spc="0" normalizeH="0" baseline="0" noProof="0" dirty="0">
                <a:ln>
                  <a:noFill/>
                </a:ln>
                <a:solidFill>
                  <a:srgbClr val="EDEDED"/>
                </a:solidFill>
                <a:effectLst/>
                <a:uLnTx/>
                <a:uFillTx/>
                <a:latin typeface="Inconsolata" pitchFamily="34" charset="0"/>
                <a:ea typeface="Inconsolata" pitchFamily="34" charset="-122"/>
                <a:cs typeface="Inconsolata" pitchFamily="34" charset="-120"/>
              </a:rPr>
              <a:t>the most interesting thing you discussed as a group</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B0B0B"/>
        </a:solidFill>
        <a:effectLst/>
      </p:bgPr>
    </p:bg>
    <p:spTree>
      <p:nvGrpSpPr>
        <p:cNvPr id="1" name=""/>
        <p:cNvGrpSpPr/>
        <p:nvPr/>
      </p:nvGrpSpPr>
      <p:grpSpPr>
        <a:xfrm>
          <a:off x="0" y="0"/>
          <a:ext cx="0" cy="0"/>
          <a:chOff x="0" y="0"/>
          <a:chExt cx="0" cy="0"/>
        </a:xfrm>
      </p:grpSpPr>
      <p:sp>
        <p:nvSpPr>
          <p:cNvPr id="2" name="Text 0"/>
          <p:cNvSpPr/>
          <p:nvPr/>
        </p:nvSpPr>
        <p:spPr>
          <a:xfrm>
            <a:off x="812800" y="1511350"/>
            <a:ext cx="10883392" cy="5232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92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2F92"/>
                </a:solidFill>
                <a:effectLst/>
                <a:uLnTx/>
                <a:uFillTx/>
                <a:latin typeface="Inconsolata" pitchFamily="34" charset="0"/>
                <a:ea typeface="Inconsolata" pitchFamily="34" charset="-122"/>
                <a:cs typeface="Inconsolata" pitchFamily="34" charset="-120"/>
              </a:rPr>
              <a:t>Module 1 </a:t>
            </a:r>
            <a:r>
              <a:rPr kumimoji="0" lang="en-US" sz="2800" b="1" i="0" u="none" strike="noStrike" kern="1200" cap="none" spc="0" normalizeH="0" baseline="0" noProof="0" dirty="0">
                <a:ln>
                  <a:noFill/>
                </a:ln>
                <a:solidFill>
                  <a:srgbClr val="00E5FF"/>
                </a:solidFill>
                <a:effectLst/>
                <a:uLnTx/>
                <a:uFillTx/>
                <a:latin typeface="Inconsolata" pitchFamily="34" charset="0"/>
                <a:ea typeface="Inconsolata" pitchFamily="34" charset="-122"/>
                <a:cs typeface="Inconsolata" pitchFamily="34" charset="-120"/>
              </a:rPr>
              <a:t>a few reminders </a:t>
            </a:r>
            <a:r>
              <a:rPr lang="en-US" sz="2800" b="1" dirty="0">
                <a:solidFill>
                  <a:srgbClr val="00E5FF"/>
                </a:solidFill>
                <a:latin typeface="Inconsolata" pitchFamily="34" charset="0"/>
                <a:ea typeface="Inconsolata" pitchFamily="34" charset="-122"/>
                <a:cs typeface="Inconsolata" pitchFamily="34" charset="-120"/>
              </a:rPr>
              <a:t>and tips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0">
            <a:extLst>
              <a:ext uri="{FF2B5EF4-FFF2-40B4-BE49-F238E27FC236}">
                <a16:creationId xmlns:a16="http://schemas.microsoft.com/office/drawing/2014/main" id="{79A8F7FD-1342-884A-FF0D-A18D6827C446}"/>
              </a:ext>
            </a:extLst>
          </p:cNvPr>
          <p:cNvSpPr/>
          <p:nvPr/>
        </p:nvSpPr>
        <p:spPr>
          <a:xfrm>
            <a:off x="1060704" y="2034580"/>
            <a:ext cx="10387584" cy="4502272"/>
          </a:xfrm>
          <a:prstGeom prst="rect">
            <a:avLst/>
          </a:prstGeom>
          <a:noFill/>
          <a:ln/>
        </p:spPr>
        <p:txBody>
          <a:bodyPr wrap="square" lIns="0" tIns="0" rIns="0" bIns="0" rtlCol="0" anchor="t">
            <a:normAutofit/>
          </a:bodyPr>
          <a:lstStyle/>
          <a:p>
            <a:pPr marL="457200" marR="0" lvl="0" indent="-457200" algn="l" defTabSz="914400" rtl="0" eaLnBrk="1" fontAlgn="auto" latinLnBrk="0" hangingPunct="1">
              <a:lnSpc>
                <a:spcPts val="3920"/>
              </a:lnSpc>
              <a:spcBef>
                <a:spcPts val="0"/>
              </a:spcBef>
              <a:spcAft>
                <a:spcPts val="0"/>
              </a:spcAft>
              <a:buClrTx/>
              <a:buSzTx/>
              <a:buFontTx/>
              <a:buChar char="-"/>
              <a:tabLst/>
              <a:defRPr/>
            </a:pPr>
            <a:r>
              <a:rPr kumimoji="0" lang="en-US" sz="2500" b="1" i="0" u="none" strike="noStrike" kern="1200" cap="none" spc="0" normalizeH="0" baseline="0" noProof="0" dirty="0">
                <a:ln>
                  <a:noFill/>
                </a:ln>
                <a:solidFill>
                  <a:schemeClr val="bg1"/>
                </a:solidFill>
                <a:effectLst/>
                <a:uLnTx/>
                <a:uFillTx/>
                <a:latin typeface="Inconsolata" pitchFamily="34" charset="0"/>
                <a:ea typeface="Inconsolata" pitchFamily="34" charset="-122"/>
                <a:cs typeface="Inconsolata" pitchFamily="34" charset="-120"/>
              </a:rPr>
              <a:t>Remember to have one person code and one person direct</a:t>
            </a:r>
          </a:p>
          <a:p>
            <a:pPr marL="457200" marR="0" lvl="0" indent="-457200" algn="l" defTabSz="914400" rtl="0" eaLnBrk="1" fontAlgn="auto" latinLnBrk="0" hangingPunct="1">
              <a:lnSpc>
                <a:spcPts val="3920"/>
              </a:lnSpc>
              <a:spcBef>
                <a:spcPts val="0"/>
              </a:spcBef>
              <a:spcAft>
                <a:spcPts val="0"/>
              </a:spcAft>
              <a:buClrTx/>
              <a:buSzTx/>
              <a:buFontTx/>
              <a:buChar char="-"/>
              <a:tabLst/>
              <a:defRPr/>
            </a:pPr>
            <a:r>
              <a:rPr lang="en-US" sz="2500" b="1" dirty="0">
                <a:solidFill>
                  <a:schemeClr val="bg1"/>
                </a:solidFill>
                <a:latin typeface="Inconsolata" pitchFamily="34" charset="0"/>
                <a:ea typeface="Inconsolata" pitchFamily="34" charset="-122"/>
              </a:rPr>
              <a:t>Switch roles ever 10-15 minutes </a:t>
            </a:r>
          </a:p>
          <a:p>
            <a:pPr marR="0" lvl="0" algn="l" defTabSz="914400" rtl="0" eaLnBrk="1" fontAlgn="auto" latinLnBrk="0" hangingPunct="1">
              <a:lnSpc>
                <a:spcPts val="3920"/>
              </a:lnSpc>
              <a:spcBef>
                <a:spcPts val="0"/>
              </a:spcBef>
              <a:spcAft>
                <a:spcPts val="0"/>
              </a:spcAft>
              <a:buClrTx/>
              <a:buSzTx/>
              <a:tabLst/>
              <a:defRPr/>
            </a:pPr>
            <a:r>
              <a:rPr lang="en-US" sz="2500" b="1" dirty="0">
                <a:solidFill>
                  <a:schemeClr val="bg1"/>
                </a:solidFill>
                <a:latin typeface="Inconsolata" pitchFamily="34" charset="0"/>
                <a:ea typeface="Inconsolata" pitchFamily="34" charset="-122"/>
              </a:rPr>
              <a:t>	(practice add -&gt; commit -&gt; push and pull from </a:t>
            </a:r>
            <a:r>
              <a:rPr lang="en-US" sz="2500" b="1" dirty="0" err="1">
                <a:solidFill>
                  <a:schemeClr val="bg1"/>
                </a:solidFill>
                <a:latin typeface="Inconsolata" pitchFamily="34" charset="0"/>
                <a:ea typeface="Inconsolata" pitchFamily="34" charset="-122"/>
              </a:rPr>
              <a:t>github</a:t>
            </a:r>
            <a:r>
              <a:rPr lang="en-US" sz="2500" b="1" dirty="0">
                <a:solidFill>
                  <a:schemeClr val="bg1"/>
                </a:solidFill>
                <a:latin typeface="Inconsolata" pitchFamily="34" charset="0"/>
                <a:ea typeface="Inconsolata" pitchFamily="34" charset="-122"/>
              </a:rPr>
              <a:t>)</a:t>
            </a:r>
          </a:p>
          <a:p>
            <a:pPr marR="0" lvl="0" algn="l" defTabSz="914400" rtl="0" eaLnBrk="1" fontAlgn="auto" latinLnBrk="0" hangingPunct="1">
              <a:lnSpc>
                <a:spcPts val="3920"/>
              </a:lnSpc>
              <a:spcBef>
                <a:spcPts val="0"/>
              </a:spcBef>
              <a:spcAft>
                <a:spcPts val="0"/>
              </a:spcAft>
              <a:buClrTx/>
              <a:buSzTx/>
              <a:tabLst/>
              <a:defRPr/>
            </a:pPr>
            <a:r>
              <a:rPr kumimoji="0" lang="en-US" sz="2500" b="1" i="0" u="none" strike="noStrike" kern="1200" cap="none" spc="0" normalizeH="0" baseline="0" noProof="0" dirty="0">
                <a:ln>
                  <a:noFill/>
                </a:ln>
                <a:solidFill>
                  <a:schemeClr val="bg1"/>
                </a:solidFill>
                <a:effectLst/>
                <a:uLnTx/>
                <a:uFillTx/>
                <a:latin typeface="Inconsolata" pitchFamily="34" charset="0"/>
                <a:ea typeface="Inconsolata" pitchFamily="34" charset="-122"/>
                <a:cs typeface="+mn-cs"/>
              </a:rPr>
              <a:t>- </a:t>
            </a:r>
            <a:r>
              <a:rPr lang="en-US" sz="2500" b="1" dirty="0">
                <a:solidFill>
                  <a:schemeClr val="bg1"/>
                </a:solidFill>
                <a:latin typeface="Inconsolata" pitchFamily="34" charset="0"/>
                <a:ea typeface="Inconsolata" pitchFamily="34" charset="-122"/>
              </a:rPr>
              <a:t>Don’t be afraid to look things up – this course is about learning to learn! </a:t>
            </a:r>
          </a:p>
          <a:p>
            <a:pPr marR="0" lvl="0" algn="l" defTabSz="914400" rtl="0" eaLnBrk="1" fontAlgn="auto" latinLnBrk="0" hangingPunct="1">
              <a:lnSpc>
                <a:spcPts val="3920"/>
              </a:lnSpc>
              <a:spcBef>
                <a:spcPts val="0"/>
              </a:spcBef>
              <a:spcAft>
                <a:spcPts val="0"/>
              </a:spcAft>
              <a:buClrTx/>
              <a:buSzTx/>
              <a:tabLst/>
              <a:defRPr/>
            </a:pPr>
            <a:r>
              <a:rPr kumimoji="0" lang="en-US" sz="2500" b="1" i="0" u="none" strike="noStrike" kern="1200" cap="none" spc="0" normalizeH="0" baseline="0" noProof="0" dirty="0">
                <a:ln>
                  <a:noFill/>
                </a:ln>
                <a:solidFill>
                  <a:schemeClr val="bg1"/>
                </a:solidFill>
                <a:effectLst/>
                <a:uLnTx/>
                <a:uFillTx/>
                <a:latin typeface="Inconsolata" pitchFamily="34" charset="0"/>
                <a:ea typeface="Inconsolata" pitchFamily="34" charset="-122"/>
                <a:cs typeface="+mn-cs"/>
              </a:rPr>
              <a:t>- You will need to do some wo</a:t>
            </a:r>
            <a:r>
              <a:rPr lang="en-US" sz="2500" b="1" dirty="0" err="1">
                <a:solidFill>
                  <a:schemeClr val="bg1"/>
                </a:solidFill>
                <a:latin typeface="Inconsolata" pitchFamily="34" charset="0"/>
                <a:ea typeface="Inconsolata" pitchFamily="34" charset="-122"/>
              </a:rPr>
              <a:t>rk</a:t>
            </a:r>
            <a:r>
              <a:rPr lang="en-US" sz="2500" b="1" dirty="0">
                <a:solidFill>
                  <a:schemeClr val="bg1"/>
                </a:solidFill>
                <a:latin typeface="Inconsolata" pitchFamily="34" charset="0"/>
                <a:ea typeface="Inconsolata" pitchFamily="34" charset="-122"/>
              </a:rPr>
              <a:t> on the module outside of class (6 CP = ~10hrs / </a:t>
            </a:r>
            <a:r>
              <a:rPr lang="en-US" sz="2500" b="1" dirty="0" err="1">
                <a:solidFill>
                  <a:schemeClr val="bg1"/>
                </a:solidFill>
                <a:latin typeface="Inconsolata" pitchFamily="34" charset="0"/>
                <a:ea typeface="Inconsolata" pitchFamily="34" charset="-122"/>
              </a:rPr>
              <a:t>wk</a:t>
            </a:r>
            <a:r>
              <a:rPr lang="en-US" sz="2500" b="1" dirty="0">
                <a:solidFill>
                  <a:schemeClr val="bg1"/>
                </a:solidFill>
                <a:latin typeface="Inconsolata" pitchFamily="34" charset="0"/>
                <a:ea typeface="Inconsolata" pitchFamily="34" charset="-122"/>
              </a:rPr>
              <a:t>, so ~6hr/</a:t>
            </a:r>
            <a:r>
              <a:rPr lang="en-US" sz="2500" b="1" dirty="0" err="1">
                <a:solidFill>
                  <a:schemeClr val="bg1"/>
                </a:solidFill>
                <a:latin typeface="Inconsolata" pitchFamily="34" charset="0"/>
                <a:ea typeface="Inconsolata" pitchFamily="34" charset="-122"/>
              </a:rPr>
              <a:t>wk</a:t>
            </a:r>
            <a:r>
              <a:rPr lang="en-US" sz="2500" b="1" dirty="0">
                <a:solidFill>
                  <a:schemeClr val="bg1"/>
                </a:solidFill>
                <a:latin typeface="Inconsolata" pitchFamily="34" charset="0"/>
                <a:ea typeface="Inconsolata" pitchFamily="34" charset="-122"/>
              </a:rPr>
              <a:t> out of class for reading, module work, going to step-by-step instructions)</a:t>
            </a:r>
            <a:endParaRPr kumimoji="0" lang="en-US" sz="25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728655" y="6473952"/>
            <a:ext cx="118872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17 / 54</a:t>
            </a:r>
            <a:endParaRPr lang="en-US" sz="900" dirty="0"/>
          </a:p>
        </p:txBody>
      </p:sp>
      <p:sp>
        <p:nvSpPr>
          <p:cNvPr id="3" name="Text 1"/>
          <p:cNvSpPr txBox="1"/>
          <p:nvPr/>
        </p:nvSpPr>
        <p:spPr>
          <a:xfrm>
            <a:off x="502920" y="320040"/>
            <a:ext cx="11185855" cy="685800"/>
          </a:xfrm>
          <a:prstGeom prst="rect">
            <a:avLst/>
          </a:prstGeom>
          <a:noFill/>
          <a:ln/>
        </p:spPr>
        <p:txBody>
          <a:bodyPr wrap="square" lIns="0" tIns="0" rIns="0" bIns="0" rtlCol="0" anchor="t"/>
          <a:lstStyle/>
          <a:p>
            <a:pPr marL="0" indent="0">
              <a:buNone/>
            </a:pPr>
            <a:r>
              <a:rPr lang="en-US" sz="2600" b="1" dirty="0">
                <a:solidFill>
                  <a:srgbClr val="2B2B2B"/>
                </a:solidFill>
                <a:latin typeface="Calibri" pitchFamily="34" charset="0"/>
                <a:ea typeface="Calibri" pitchFamily="34" charset="-122"/>
                <a:cs typeface="Calibri" pitchFamily="34" charset="-120"/>
              </a:rPr>
              <a:t>STAC: catalogues before pixels</a:t>
            </a:r>
            <a:endParaRPr lang="en-US" sz="2600" dirty="0"/>
          </a:p>
        </p:txBody>
      </p:sp>
      <p:sp>
        <p:nvSpPr>
          <p:cNvPr id="4" name="Shape 2"/>
          <p:cNvSpPr/>
          <p:nvPr/>
        </p:nvSpPr>
        <p:spPr>
          <a:xfrm>
            <a:off x="822960" y="1554480"/>
            <a:ext cx="2286000" cy="685800"/>
          </a:xfrm>
          <a:prstGeom prst="roundRect">
            <a:avLst>
              <a:gd name="adj" fmla="val 5333"/>
            </a:avLst>
          </a:prstGeom>
          <a:solidFill>
            <a:srgbClr val="FFFFFF"/>
          </a:solidFill>
          <a:ln w="12700">
            <a:solidFill>
              <a:srgbClr val="999999"/>
            </a:solidFill>
            <a:prstDash val="solid"/>
          </a:ln>
        </p:spPr>
        <p:txBody>
          <a:bodyPr/>
          <a:lstStyle/>
          <a:p>
            <a:endParaRPr lang="en-US"/>
          </a:p>
        </p:txBody>
      </p:sp>
      <p:sp>
        <p:nvSpPr>
          <p:cNvPr id="5" name="Text 3"/>
          <p:cNvSpPr txBox="1"/>
          <p:nvPr/>
        </p:nvSpPr>
        <p:spPr>
          <a:xfrm>
            <a:off x="822960" y="1554480"/>
            <a:ext cx="2286000" cy="685800"/>
          </a:xfrm>
          <a:prstGeom prst="rect">
            <a:avLst/>
          </a:prstGeom>
          <a:noFill/>
          <a:ln/>
        </p:spPr>
        <p:txBody>
          <a:bodyPr wrap="square" lIns="0" tIns="0" rIns="0" bIns="0" rtlCol="0" anchor="ctr"/>
          <a:lstStyle/>
          <a:p>
            <a:pPr marL="0" indent="0" algn="ctr">
              <a:lnSpc>
                <a:spcPct val="100000"/>
              </a:lnSpc>
              <a:buNone/>
            </a:pPr>
            <a:r>
              <a:rPr lang="en-US" sz="1150" dirty="0">
                <a:solidFill>
                  <a:srgbClr val="2B2B2B"/>
                </a:solidFill>
                <a:latin typeface="Calibri" pitchFamily="34" charset="0"/>
                <a:ea typeface="Calibri" pitchFamily="34" charset="-122"/>
                <a:cs typeface="Calibri" pitchFamily="34" charset="-120"/>
              </a:rPr>
              <a:t>Catalog</a:t>
            </a:r>
            <a:endParaRPr lang="en-US" sz="1150" dirty="0"/>
          </a:p>
          <a:p>
            <a:pPr marL="0" indent="0" algn="ctr">
              <a:lnSpc>
                <a:spcPct val="100000"/>
              </a:lnSpc>
              <a:buNone/>
            </a:pPr>
            <a:r>
              <a:rPr lang="en-US" sz="1150" dirty="0">
                <a:solidFill>
                  <a:srgbClr val="2B2B2B"/>
                </a:solidFill>
                <a:latin typeface="Calibri" pitchFamily="34" charset="0"/>
                <a:ea typeface="Calibri" pitchFamily="34" charset="-122"/>
                <a:cs typeface="Calibri" pitchFamily="34" charset="-120"/>
              </a:rPr>
              <a:t>entry point</a:t>
            </a:r>
            <a:endParaRPr lang="en-US" sz="1150" dirty="0"/>
          </a:p>
        </p:txBody>
      </p:sp>
      <p:sp>
        <p:nvSpPr>
          <p:cNvPr id="6" name="Shape 4"/>
          <p:cNvSpPr/>
          <p:nvPr/>
        </p:nvSpPr>
        <p:spPr>
          <a:xfrm>
            <a:off x="3429000" y="1554480"/>
            <a:ext cx="2286000" cy="685800"/>
          </a:xfrm>
          <a:prstGeom prst="roundRect">
            <a:avLst>
              <a:gd name="adj" fmla="val 5333"/>
            </a:avLst>
          </a:prstGeom>
          <a:solidFill>
            <a:srgbClr val="FFFFFF"/>
          </a:solidFill>
          <a:ln w="12700">
            <a:solidFill>
              <a:srgbClr val="999999"/>
            </a:solidFill>
            <a:prstDash val="solid"/>
          </a:ln>
        </p:spPr>
        <p:txBody>
          <a:bodyPr/>
          <a:lstStyle/>
          <a:p>
            <a:endParaRPr lang="en-US"/>
          </a:p>
        </p:txBody>
      </p:sp>
      <p:sp>
        <p:nvSpPr>
          <p:cNvPr id="7" name="Text 5"/>
          <p:cNvSpPr txBox="1"/>
          <p:nvPr/>
        </p:nvSpPr>
        <p:spPr>
          <a:xfrm>
            <a:off x="3429000" y="1554480"/>
            <a:ext cx="2286000" cy="685800"/>
          </a:xfrm>
          <a:prstGeom prst="rect">
            <a:avLst/>
          </a:prstGeom>
          <a:noFill/>
          <a:ln/>
        </p:spPr>
        <p:txBody>
          <a:bodyPr wrap="square" lIns="0" tIns="0" rIns="0" bIns="0" rtlCol="0" anchor="ctr"/>
          <a:lstStyle/>
          <a:p>
            <a:pPr marL="0" indent="0" algn="ctr">
              <a:lnSpc>
                <a:spcPct val="100000"/>
              </a:lnSpc>
              <a:buNone/>
            </a:pPr>
            <a:r>
              <a:rPr lang="en-US" sz="1150" dirty="0">
                <a:solidFill>
                  <a:srgbClr val="2B2B2B"/>
                </a:solidFill>
                <a:latin typeface="Calibri" pitchFamily="34" charset="0"/>
                <a:ea typeface="Calibri" pitchFamily="34" charset="-122"/>
                <a:cs typeface="Calibri" pitchFamily="34" charset="-120"/>
              </a:rPr>
              <a:t>Collection</a:t>
            </a:r>
            <a:endParaRPr lang="en-US" sz="1150" dirty="0"/>
          </a:p>
          <a:p>
            <a:pPr marL="0" indent="0" algn="ctr">
              <a:lnSpc>
                <a:spcPct val="100000"/>
              </a:lnSpc>
              <a:buNone/>
            </a:pPr>
            <a:r>
              <a:rPr lang="en-US" sz="1150" dirty="0">
                <a:solidFill>
                  <a:srgbClr val="2B2B2B"/>
                </a:solidFill>
                <a:latin typeface="Calibri" pitchFamily="34" charset="0"/>
                <a:ea typeface="Calibri" pitchFamily="34" charset="-122"/>
                <a:cs typeface="Calibri" pitchFamily="34" charset="-120"/>
              </a:rPr>
              <a:t>a dataset</a:t>
            </a:r>
            <a:endParaRPr lang="en-US" sz="1150" dirty="0"/>
          </a:p>
        </p:txBody>
      </p:sp>
      <p:sp>
        <p:nvSpPr>
          <p:cNvPr id="8" name="Shape 6"/>
          <p:cNvSpPr/>
          <p:nvPr/>
        </p:nvSpPr>
        <p:spPr>
          <a:xfrm>
            <a:off x="6035040" y="1554480"/>
            <a:ext cx="2286000" cy="685800"/>
          </a:xfrm>
          <a:prstGeom prst="roundRect">
            <a:avLst>
              <a:gd name="adj" fmla="val 5333"/>
            </a:avLst>
          </a:prstGeom>
          <a:solidFill>
            <a:srgbClr val="FFFFFF"/>
          </a:solidFill>
          <a:ln w="12700">
            <a:solidFill>
              <a:srgbClr val="999999"/>
            </a:solidFill>
            <a:prstDash val="solid"/>
          </a:ln>
        </p:spPr>
        <p:txBody>
          <a:bodyPr/>
          <a:lstStyle/>
          <a:p>
            <a:endParaRPr lang="en-US"/>
          </a:p>
        </p:txBody>
      </p:sp>
      <p:sp>
        <p:nvSpPr>
          <p:cNvPr id="9" name="Text 7"/>
          <p:cNvSpPr txBox="1"/>
          <p:nvPr/>
        </p:nvSpPr>
        <p:spPr>
          <a:xfrm>
            <a:off x="6035040" y="1554480"/>
            <a:ext cx="2286000" cy="685800"/>
          </a:xfrm>
          <a:prstGeom prst="rect">
            <a:avLst/>
          </a:prstGeom>
          <a:noFill/>
          <a:ln/>
        </p:spPr>
        <p:txBody>
          <a:bodyPr wrap="square" lIns="0" tIns="0" rIns="0" bIns="0" rtlCol="0" anchor="ctr"/>
          <a:lstStyle/>
          <a:p>
            <a:pPr marL="0" indent="0" algn="ctr">
              <a:lnSpc>
                <a:spcPct val="100000"/>
              </a:lnSpc>
              <a:buNone/>
            </a:pPr>
            <a:r>
              <a:rPr lang="en-US" sz="1150" dirty="0">
                <a:solidFill>
                  <a:srgbClr val="2B2B2B"/>
                </a:solidFill>
                <a:latin typeface="Calibri" pitchFamily="34" charset="0"/>
                <a:ea typeface="Calibri" pitchFamily="34" charset="-122"/>
                <a:cs typeface="Calibri" pitchFamily="34" charset="-120"/>
              </a:rPr>
              <a:t>Item</a:t>
            </a:r>
            <a:endParaRPr lang="en-US" sz="1150" dirty="0"/>
          </a:p>
          <a:p>
            <a:pPr marL="0" indent="0" algn="ctr">
              <a:lnSpc>
                <a:spcPct val="100000"/>
              </a:lnSpc>
              <a:buNone/>
            </a:pPr>
            <a:r>
              <a:rPr lang="en-US" sz="1150" dirty="0">
                <a:solidFill>
                  <a:srgbClr val="2B2B2B"/>
                </a:solidFill>
                <a:latin typeface="Calibri" pitchFamily="34" charset="0"/>
                <a:ea typeface="Calibri" pitchFamily="34" charset="-122"/>
                <a:cs typeface="Calibri" pitchFamily="34" charset="-120"/>
              </a:rPr>
              <a:t>one scene</a:t>
            </a:r>
            <a:endParaRPr lang="en-US" sz="1150" dirty="0"/>
          </a:p>
        </p:txBody>
      </p:sp>
      <p:sp>
        <p:nvSpPr>
          <p:cNvPr id="10" name="Shape 8"/>
          <p:cNvSpPr/>
          <p:nvPr/>
        </p:nvSpPr>
        <p:spPr>
          <a:xfrm>
            <a:off x="8641080" y="1554480"/>
            <a:ext cx="2286000" cy="685800"/>
          </a:xfrm>
          <a:prstGeom prst="roundRect">
            <a:avLst>
              <a:gd name="adj" fmla="val 5333"/>
            </a:avLst>
          </a:prstGeom>
          <a:solidFill>
            <a:srgbClr val="FFFFFF"/>
          </a:solidFill>
          <a:ln w="22225">
            <a:solidFill>
              <a:srgbClr val="35618C"/>
            </a:solidFill>
            <a:prstDash val="solid"/>
          </a:ln>
        </p:spPr>
        <p:txBody>
          <a:bodyPr/>
          <a:lstStyle/>
          <a:p>
            <a:endParaRPr lang="en-US"/>
          </a:p>
        </p:txBody>
      </p:sp>
      <p:sp>
        <p:nvSpPr>
          <p:cNvPr id="11" name="Text 9"/>
          <p:cNvSpPr txBox="1"/>
          <p:nvPr/>
        </p:nvSpPr>
        <p:spPr>
          <a:xfrm>
            <a:off x="8641080" y="1554480"/>
            <a:ext cx="2286000" cy="685800"/>
          </a:xfrm>
          <a:prstGeom prst="rect">
            <a:avLst/>
          </a:prstGeom>
          <a:noFill/>
          <a:ln/>
        </p:spPr>
        <p:txBody>
          <a:bodyPr wrap="square" lIns="0" tIns="0" rIns="0" bIns="0" rtlCol="0" anchor="ctr"/>
          <a:lstStyle/>
          <a:p>
            <a:pPr marL="0" indent="0" algn="ctr">
              <a:lnSpc>
                <a:spcPct val="100000"/>
              </a:lnSpc>
              <a:buNone/>
            </a:pPr>
            <a:r>
              <a:rPr lang="en-US" sz="1150" dirty="0">
                <a:solidFill>
                  <a:srgbClr val="2B2B2B"/>
                </a:solidFill>
                <a:latin typeface="Calibri" pitchFamily="34" charset="0"/>
                <a:ea typeface="Calibri" pitchFamily="34" charset="-122"/>
                <a:cs typeface="Calibri" pitchFamily="34" charset="-120"/>
              </a:rPr>
              <a:t>Asset</a:t>
            </a:r>
            <a:endParaRPr lang="en-US" sz="1150" dirty="0"/>
          </a:p>
          <a:p>
            <a:pPr marL="0" indent="0" algn="ctr">
              <a:lnSpc>
                <a:spcPct val="100000"/>
              </a:lnSpc>
              <a:buNone/>
            </a:pPr>
            <a:r>
              <a:rPr lang="en-US" sz="1150" dirty="0">
                <a:solidFill>
                  <a:srgbClr val="2B2B2B"/>
                </a:solidFill>
                <a:latin typeface="Calibri" pitchFamily="34" charset="0"/>
                <a:ea typeface="Calibri" pitchFamily="34" charset="-122"/>
                <a:cs typeface="Calibri" pitchFamily="34" charset="-120"/>
              </a:rPr>
              <a:t>a file</a:t>
            </a:r>
            <a:endParaRPr lang="en-US" sz="1150" dirty="0"/>
          </a:p>
        </p:txBody>
      </p:sp>
      <p:sp>
        <p:nvSpPr>
          <p:cNvPr id="12" name="Shape 10"/>
          <p:cNvSpPr/>
          <p:nvPr/>
        </p:nvSpPr>
        <p:spPr>
          <a:xfrm>
            <a:off x="3108960" y="1897380"/>
            <a:ext cx="320040" cy="0"/>
          </a:xfrm>
          <a:prstGeom prst="line">
            <a:avLst/>
          </a:prstGeom>
          <a:noFill/>
          <a:ln w="15875">
            <a:solidFill>
              <a:srgbClr val="808080"/>
            </a:solidFill>
            <a:prstDash val="solid"/>
            <a:tailEnd type="triangle"/>
          </a:ln>
        </p:spPr>
        <p:txBody>
          <a:bodyPr/>
          <a:lstStyle/>
          <a:p>
            <a:endParaRPr lang="en-US"/>
          </a:p>
        </p:txBody>
      </p:sp>
      <p:sp>
        <p:nvSpPr>
          <p:cNvPr id="13" name="Shape 11"/>
          <p:cNvSpPr/>
          <p:nvPr/>
        </p:nvSpPr>
        <p:spPr>
          <a:xfrm>
            <a:off x="5715000" y="1897380"/>
            <a:ext cx="320040" cy="0"/>
          </a:xfrm>
          <a:prstGeom prst="line">
            <a:avLst/>
          </a:prstGeom>
          <a:noFill/>
          <a:ln w="15875">
            <a:solidFill>
              <a:srgbClr val="808080"/>
            </a:solidFill>
            <a:prstDash val="solid"/>
            <a:tailEnd type="triangle"/>
          </a:ln>
        </p:spPr>
        <p:txBody>
          <a:bodyPr/>
          <a:lstStyle/>
          <a:p>
            <a:endParaRPr lang="en-US"/>
          </a:p>
        </p:txBody>
      </p:sp>
      <p:sp>
        <p:nvSpPr>
          <p:cNvPr id="14" name="Shape 12"/>
          <p:cNvSpPr/>
          <p:nvPr/>
        </p:nvSpPr>
        <p:spPr>
          <a:xfrm>
            <a:off x="8321040" y="1897380"/>
            <a:ext cx="320040" cy="0"/>
          </a:xfrm>
          <a:prstGeom prst="line">
            <a:avLst/>
          </a:prstGeom>
          <a:noFill/>
          <a:ln w="15875">
            <a:solidFill>
              <a:srgbClr val="808080"/>
            </a:solidFill>
            <a:prstDash val="solid"/>
            <a:tailEnd type="triangle"/>
          </a:ln>
        </p:spPr>
        <p:txBody>
          <a:bodyPr/>
          <a:lstStyle/>
          <a:p>
            <a:endParaRPr lang="en-US"/>
          </a:p>
        </p:txBody>
      </p:sp>
      <p:sp>
        <p:nvSpPr>
          <p:cNvPr id="15" name="Text 13"/>
          <p:cNvSpPr txBox="1"/>
          <p:nvPr/>
        </p:nvSpPr>
        <p:spPr>
          <a:xfrm>
            <a:off x="640080" y="2350008"/>
            <a:ext cx="2651760" cy="274320"/>
          </a:xfrm>
          <a:prstGeom prst="rect">
            <a:avLst/>
          </a:prstGeom>
          <a:noFill/>
          <a:ln/>
        </p:spPr>
        <p:txBody>
          <a:bodyPr wrap="square" lIns="0" tIns="0" rIns="0" bIns="0" rtlCol="0" anchor="ctr"/>
          <a:lstStyle/>
          <a:p>
            <a:pPr marL="0" indent="0" algn="ctr">
              <a:buNone/>
            </a:pPr>
            <a:r>
              <a:rPr lang="en-US" sz="1050" dirty="0">
                <a:solidFill>
                  <a:srgbClr val="6B6B6B"/>
                </a:solidFill>
                <a:latin typeface="Calibri" pitchFamily="34" charset="0"/>
                <a:ea typeface="Calibri" pitchFamily="34" charset="-122"/>
                <a:cs typeface="Calibri" pitchFamily="34" charset="-120"/>
              </a:rPr>
              <a:t>a URL</a:t>
            </a:r>
            <a:endParaRPr lang="en-US" sz="1050" dirty="0"/>
          </a:p>
        </p:txBody>
      </p:sp>
      <p:sp>
        <p:nvSpPr>
          <p:cNvPr id="16" name="Text 14"/>
          <p:cNvSpPr txBox="1"/>
          <p:nvPr/>
        </p:nvSpPr>
        <p:spPr>
          <a:xfrm>
            <a:off x="3246120" y="2350008"/>
            <a:ext cx="2651760" cy="274320"/>
          </a:xfrm>
          <a:prstGeom prst="rect">
            <a:avLst/>
          </a:prstGeom>
          <a:noFill/>
          <a:ln/>
        </p:spPr>
        <p:txBody>
          <a:bodyPr wrap="square" lIns="0" tIns="0" rIns="0" bIns="0" rtlCol="0" anchor="ctr"/>
          <a:lstStyle/>
          <a:p>
            <a:pPr marL="0" indent="0" algn="ctr">
              <a:buNone/>
            </a:pPr>
            <a:r>
              <a:rPr lang="en-US" sz="1050" dirty="0">
                <a:solidFill>
                  <a:srgbClr val="6B6B6B"/>
                </a:solidFill>
                <a:latin typeface="Calibri" pitchFamily="34" charset="0"/>
                <a:ea typeface="Calibri" pitchFamily="34" charset="-122"/>
                <a:cs typeface="Calibri" pitchFamily="34" charset="-120"/>
              </a:rPr>
              <a:t>sentinel-2-l2a</a:t>
            </a:r>
            <a:endParaRPr lang="en-US" sz="1050" dirty="0"/>
          </a:p>
        </p:txBody>
      </p:sp>
      <p:sp>
        <p:nvSpPr>
          <p:cNvPr id="17" name="Text 15"/>
          <p:cNvSpPr txBox="1"/>
          <p:nvPr/>
        </p:nvSpPr>
        <p:spPr>
          <a:xfrm>
            <a:off x="5852160" y="2350008"/>
            <a:ext cx="2651760" cy="274320"/>
          </a:xfrm>
          <a:prstGeom prst="rect">
            <a:avLst/>
          </a:prstGeom>
          <a:noFill/>
          <a:ln/>
        </p:spPr>
        <p:txBody>
          <a:bodyPr wrap="square" lIns="0" tIns="0" rIns="0" bIns="0" rtlCol="0" anchor="ctr"/>
          <a:lstStyle/>
          <a:p>
            <a:pPr marL="0" indent="0" algn="ctr">
              <a:buNone/>
            </a:pPr>
            <a:r>
              <a:rPr lang="en-US" sz="1050" dirty="0">
                <a:solidFill>
                  <a:srgbClr val="6B6B6B"/>
                </a:solidFill>
                <a:latin typeface="Calibri" pitchFamily="34" charset="0"/>
                <a:ea typeface="Calibri" pitchFamily="34" charset="-122"/>
                <a:cs typeface="Calibri" pitchFamily="34" charset="-120"/>
              </a:rPr>
              <a:t>date, cloud cover, footprint</a:t>
            </a:r>
            <a:endParaRPr lang="en-US" sz="1050" dirty="0"/>
          </a:p>
        </p:txBody>
      </p:sp>
      <p:sp>
        <p:nvSpPr>
          <p:cNvPr id="18" name="Text 16"/>
          <p:cNvSpPr txBox="1"/>
          <p:nvPr/>
        </p:nvSpPr>
        <p:spPr>
          <a:xfrm>
            <a:off x="8458200" y="2350008"/>
            <a:ext cx="2651760" cy="274320"/>
          </a:xfrm>
          <a:prstGeom prst="rect">
            <a:avLst/>
          </a:prstGeom>
          <a:noFill/>
          <a:ln/>
        </p:spPr>
        <p:txBody>
          <a:bodyPr wrap="square" lIns="0" tIns="0" rIns="0" bIns="0" rtlCol="0" anchor="ctr"/>
          <a:lstStyle/>
          <a:p>
            <a:pPr marL="0" indent="0" algn="ctr">
              <a:buNone/>
            </a:pPr>
            <a:r>
              <a:rPr lang="en-US" sz="1050" dirty="0">
                <a:solidFill>
                  <a:srgbClr val="6B6B6B"/>
                </a:solidFill>
                <a:latin typeface="Calibri" pitchFamily="34" charset="0"/>
                <a:ea typeface="Calibri" pitchFamily="34" charset="-122"/>
                <a:cs typeface="Calibri" pitchFamily="34" charset="-120"/>
              </a:rPr>
              <a:t>red, nir, scl (COGs)</a:t>
            </a:r>
            <a:endParaRPr lang="en-US" sz="1050" dirty="0"/>
          </a:p>
        </p:txBody>
      </p:sp>
      <p:sp>
        <p:nvSpPr>
          <p:cNvPr id="19" name="Text 17"/>
          <p:cNvSpPr txBox="1"/>
          <p:nvPr/>
        </p:nvSpPr>
        <p:spPr>
          <a:xfrm>
            <a:off x="502920" y="3200400"/>
            <a:ext cx="11185855" cy="1280160"/>
          </a:xfrm>
          <a:prstGeom prst="rect">
            <a:avLst/>
          </a:prstGeom>
          <a:noFill/>
          <a:ln/>
        </p:spPr>
        <p:txBody>
          <a:bodyPr wrap="square" lIns="0" tIns="0" rIns="0" bIns="0" rtlCol="0" anchor="t"/>
          <a:lstStyle/>
          <a:p>
            <a:pPr marL="228600" indent="-228600">
              <a:lnSpc>
                <a:spcPct val="105000"/>
              </a:lnSpc>
              <a:spcAft>
                <a:spcPts val="1000"/>
              </a:spcAft>
              <a:buSzPct val="100000"/>
              <a:buChar char="•"/>
            </a:pPr>
            <a:r>
              <a:rPr lang="en-US" sz="1450" dirty="0">
                <a:solidFill>
                  <a:srgbClr val="2B2B2B"/>
                </a:solidFill>
                <a:latin typeface="Calibri" pitchFamily="34" charset="0"/>
                <a:ea typeface="Calibri" pitchFamily="34" charset="-122"/>
                <a:cs typeface="Calibri" pitchFamily="34" charset="-120"/>
              </a:rPr>
              <a:t>You search by place, time and cloud cover and get back items with links. No image is read yet.</a:t>
            </a:r>
            <a:endParaRPr lang="en-US" sz="1450" dirty="0"/>
          </a:p>
          <a:p>
            <a:pPr marL="228600" indent="-228600">
              <a:lnSpc>
                <a:spcPct val="105000"/>
              </a:lnSpc>
              <a:spcAft>
                <a:spcPts val="1000"/>
              </a:spcAft>
              <a:buSzPct val="100000"/>
              <a:buChar char="•"/>
            </a:pPr>
            <a:r>
              <a:rPr lang="en-US" sz="1450" dirty="0">
                <a:solidFill>
                  <a:srgbClr val="2B2B2B"/>
                </a:solidFill>
                <a:latin typeface="Calibri" pitchFamily="34" charset="0"/>
                <a:ea typeface="Calibri" pitchFamily="34" charset="-122"/>
                <a:cs typeface="Calibri" pitchFamily="34" charset="-120"/>
              </a:rPr>
              <a:t>Metadata first, pixels later, the same principle as the Parquet footer.</a:t>
            </a:r>
            <a:endParaRPr lang="en-US" sz="14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728655" y="6473952"/>
            <a:ext cx="118872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9 / 54</a:t>
            </a:r>
            <a:endParaRPr lang="en-US" sz="900" dirty="0"/>
          </a:p>
        </p:txBody>
      </p:sp>
      <p:sp>
        <p:nvSpPr>
          <p:cNvPr id="3" name="Text 1"/>
          <p:cNvSpPr txBox="1"/>
          <p:nvPr/>
        </p:nvSpPr>
        <p:spPr>
          <a:xfrm>
            <a:off x="0" y="2651760"/>
            <a:ext cx="12191695" cy="365760"/>
          </a:xfrm>
          <a:prstGeom prst="rect">
            <a:avLst/>
          </a:prstGeom>
          <a:noFill/>
          <a:ln/>
        </p:spPr>
        <p:txBody>
          <a:bodyPr wrap="square" lIns="0" tIns="0" rIns="0" bIns="0" rtlCol="0" anchor="ctr"/>
          <a:lstStyle/>
          <a:p>
            <a:pPr marL="0" indent="0" algn="ctr">
              <a:buNone/>
            </a:pPr>
            <a:r>
              <a:rPr lang="en-US" sz="1500" dirty="0">
                <a:solidFill>
                  <a:srgbClr val="6B6B6B"/>
                </a:solidFill>
                <a:latin typeface="Calibri" pitchFamily="34" charset="0"/>
                <a:ea typeface="Calibri" pitchFamily="34" charset="-122"/>
                <a:cs typeface="Calibri" pitchFamily="34" charset="-120"/>
              </a:rPr>
              <a:t>Section 2</a:t>
            </a:r>
            <a:endParaRPr lang="en-US" sz="1500" dirty="0"/>
          </a:p>
        </p:txBody>
      </p:sp>
      <p:sp>
        <p:nvSpPr>
          <p:cNvPr id="4" name="Text 2"/>
          <p:cNvSpPr txBox="1"/>
          <p:nvPr/>
        </p:nvSpPr>
        <p:spPr>
          <a:xfrm>
            <a:off x="914400" y="3017520"/>
            <a:ext cx="10362895" cy="1097280"/>
          </a:xfrm>
          <a:prstGeom prst="rect">
            <a:avLst/>
          </a:prstGeom>
          <a:noFill/>
          <a:ln/>
        </p:spPr>
        <p:txBody>
          <a:bodyPr wrap="square" lIns="0" tIns="0" rIns="0" bIns="0" rtlCol="0" anchor="ctr"/>
          <a:lstStyle/>
          <a:p>
            <a:pPr marL="0" indent="0" algn="ctr">
              <a:buNone/>
            </a:pPr>
            <a:r>
              <a:rPr lang="en-US" sz="3000" b="1" dirty="0">
                <a:solidFill>
                  <a:srgbClr val="2B2B2B"/>
                </a:solidFill>
                <a:latin typeface="Calibri" pitchFamily="34" charset="0"/>
                <a:ea typeface="Calibri" pitchFamily="34" charset="-122"/>
                <a:cs typeface="Calibri" pitchFamily="34" charset="-120"/>
              </a:rPr>
              <a:t>Cloud-native computing</a:t>
            </a:r>
            <a:endParaRPr lang="en-US" sz="3000" dirty="0"/>
          </a:p>
        </p:txBody>
      </p:sp>
    </p:spTree>
    <p:extLst>
      <p:ext uri="{BB962C8B-B14F-4D97-AF65-F5344CB8AC3E}">
        <p14:creationId xmlns:p14="http://schemas.microsoft.com/office/powerpoint/2010/main" val="20624207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728655" y="6473952"/>
            <a:ext cx="118872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19 / 54</a:t>
            </a:r>
            <a:endParaRPr lang="en-US" sz="900" dirty="0"/>
          </a:p>
        </p:txBody>
      </p:sp>
      <p:sp>
        <p:nvSpPr>
          <p:cNvPr id="3" name="Text 1"/>
          <p:cNvSpPr txBox="1"/>
          <p:nvPr/>
        </p:nvSpPr>
        <p:spPr>
          <a:xfrm>
            <a:off x="502920" y="320040"/>
            <a:ext cx="11185855" cy="685800"/>
          </a:xfrm>
          <a:prstGeom prst="rect">
            <a:avLst/>
          </a:prstGeom>
          <a:noFill/>
          <a:ln/>
        </p:spPr>
        <p:txBody>
          <a:bodyPr wrap="square" lIns="0" tIns="0" rIns="0" bIns="0" rtlCol="0" anchor="t"/>
          <a:lstStyle/>
          <a:p>
            <a:pPr marL="0" indent="0">
              <a:buNone/>
            </a:pPr>
            <a:r>
              <a:rPr lang="en-US" sz="2600" b="1" dirty="0">
                <a:solidFill>
                  <a:srgbClr val="2B2B2B"/>
                </a:solidFill>
                <a:latin typeface="Calibri" pitchFamily="34" charset="0"/>
                <a:ea typeface="Calibri" pitchFamily="34" charset="-122"/>
                <a:cs typeface="Calibri" pitchFamily="34" charset="-120"/>
              </a:rPr>
              <a:t>The stack: your verbs, an engine, remote files</a:t>
            </a:r>
            <a:endParaRPr lang="en-US" sz="2600" dirty="0"/>
          </a:p>
        </p:txBody>
      </p:sp>
      <p:sp>
        <p:nvSpPr>
          <p:cNvPr id="4" name="Shape 2"/>
          <p:cNvSpPr/>
          <p:nvPr/>
        </p:nvSpPr>
        <p:spPr>
          <a:xfrm>
            <a:off x="1005840" y="1280160"/>
            <a:ext cx="3291840" cy="502920"/>
          </a:xfrm>
          <a:prstGeom prst="roundRect">
            <a:avLst>
              <a:gd name="adj" fmla="val 7273"/>
            </a:avLst>
          </a:prstGeom>
          <a:solidFill>
            <a:srgbClr val="FFFFFF"/>
          </a:solidFill>
          <a:ln w="12700">
            <a:solidFill>
              <a:srgbClr val="999999"/>
            </a:solidFill>
            <a:prstDash val="solid"/>
          </a:ln>
        </p:spPr>
        <p:txBody>
          <a:bodyPr/>
          <a:lstStyle/>
          <a:p>
            <a:endParaRPr lang="en-US"/>
          </a:p>
        </p:txBody>
      </p:sp>
      <p:sp>
        <p:nvSpPr>
          <p:cNvPr id="5" name="Text 3"/>
          <p:cNvSpPr txBox="1"/>
          <p:nvPr/>
        </p:nvSpPr>
        <p:spPr>
          <a:xfrm>
            <a:off x="1005840" y="1280160"/>
            <a:ext cx="3291840" cy="502920"/>
          </a:xfrm>
          <a:prstGeom prst="rect">
            <a:avLst/>
          </a:prstGeom>
          <a:noFill/>
          <a:ln/>
        </p:spPr>
        <p:txBody>
          <a:bodyPr wrap="square" lIns="0" tIns="0" rIns="0" bIns="0" rtlCol="0" anchor="ctr"/>
          <a:lstStyle/>
          <a:p>
            <a:pPr marL="0" indent="0" algn="ctr">
              <a:lnSpc>
                <a:spcPct val="100000"/>
              </a:lnSpc>
              <a:buNone/>
            </a:pPr>
            <a:r>
              <a:rPr lang="en-US" sz="1100" dirty="0">
                <a:solidFill>
                  <a:srgbClr val="2B2B2B"/>
                </a:solidFill>
                <a:latin typeface="Calibri" pitchFamily="34" charset="0"/>
                <a:ea typeface="Calibri" pitchFamily="34" charset="-122"/>
                <a:cs typeface="Calibri" pitchFamily="34" charset="-120"/>
              </a:rPr>
              <a:t>Your R code: dplyr verbs</a:t>
            </a:r>
            <a:endParaRPr lang="en-US" sz="1100" dirty="0"/>
          </a:p>
        </p:txBody>
      </p:sp>
      <p:sp>
        <p:nvSpPr>
          <p:cNvPr id="6" name="Shape 4"/>
          <p:cNvSpPr/>
          <p:nvPr/>
        </p:nvSpPr>
        <p:spPr>
          <a:xfrm>
            <a:off x="1005840" y="1947672"/>
            <a:ext cx="3291840" cy="502920"/>
          </a:xfrm>
          <a:prstGeom prst="roundRect">
            <a:avLst>
              <a:gd name="adj" fmla="val 7273"/>
            </a:avLst>
          </a:prstGeom>
          <a:solidFill>
            <a:srgbClr val="FFFFFF"/>
          </a:solidFill>
          <a:ln w="12700">
            <a:solidFill>
              <a:srgbClr val="999999"/>
            </a:solidFill>
            <a:prstDash val="solid"/>
          </a:ln>
        </p:spPr>
        <p:txBody>
          <a:bodyPr/>
          <a:lstStyle/>
          <a:p>
            <a:endParaRPr lang="en-US"/>
          </a:p>
        </p:txBody>
      </p:sp>
      <p:sp>
        <p:nvSpPr>
          <p:cNvPr id="7" name="Text 5"/>
          <p:cNvSpPr txBox="1"/>
          <p:nvPr/>
        </p:nvSpPr>
        <p:spPr>
          <a:xfrm>
            <a:off x="1005840" y="1947672"/>
            <a:ext cx="3291840" cy="502920"/>
          </a:xfrm>
          <a:prstGeom prst="rect">
            <a:avLst/>
          </a:prstGeom>
          <a:noFill/>
          <a:ln/>
        </p:spPr>
        <p:txBody>
          <a:bodyPr wrap="square" lIns="0" tIns="0" rIns="0" bIns="0" rtlCol="0" anchor="ctr"/>
          <a:lstStyle/>
          <a:p>
            <a:pPr marL="0" indent="0" algn="ctr">
              <a:lnSpc>
                <a:spcPct val="100000"/>
              </a:lnSpc>
              <a:buNone/>
            </a:pPr>
            <a:r>
              <a:rPr lang="en-US" sz="1100" dirty="0">
                <a:solidFill>
                  <a:srgbClr val="2B2B2B"/>
                </a:solidFill>
                <a:latin typeface="Calibri" pitchFamily="34" charset="0"/>
                <a:ea typeface="Calibri" pitchFamily="34" charset="-122"/>
                <a:cs typeface="Calibri" pitchFamily="34" charset="-120"/>
              </a:rPr>
              <a:t>dbplyr: translates to SQL</a:t>
            </a:r>
            <a:endParaRPr lang="en-US" sz="1100" dirty="0"/>
          </a:p>
        </p:txBody>
      </p:sp>
      <p:sp>
        <p:nvSpPr>
          <p:cNvPr id="8" name="Shape 6"/>
          <p:cNvSpPr/>
          <p:nvPr/>
        </p:nvSpPr>
        <p:spPr>
          <a:xfrm>
            <a:off x="2651760" y="1783080"/>
            <a:ext cx="0" cy="164592"/>
          </a:xfrm>
          <a:prstGeom prst="line">
            <a:avLst/>
          </a:prstGeom>
          <a:noFill/>
          <a:ln w="15875">
            <a:solidFill>
              <a:srgbClr val="808080"/>
            </a:solidFill>
            <a:prstDash val="solid"/>
            <a:tailEnd type="triangle"/>
          </a:ln>
        </p:spPr>
        <p:txBody>
          <a:bodyPr/>
          <a:lstStyle/>
          <a:p>
            <a:endParaRPr lang="en-US"/>
          </a:p>
        </p:txBody>
      </p:sp>
      <p:sp>
        <p:nvSpPr>
          <p:cNvPr id="9" name="Shape 7"/>
          <p:cNvSpPr/>
          <p:nvPr/>
        </p:nvSpPr>
        <p:spPr>
          <a:xfrm>
            <a:off x="1005840" y="2615184"/>
            <a:ext cx="3291840" cy="502920"/>
          </a:xfrm>
          <a:prstGeom prst="roundRect">
            <a:avLst>
              <a:gd name="adj" fmla="val 7273"/>
            </a:avLst>
          </a:prstGeom>
          <a:solidFill>
            <a:srgbClr val="FFFFFF"/>
          </a:solidFill>
          <a:ln w="22225">
            <a:solidFill>
              <a:srgbClr val="35618C"/>
            </a:solidFill>
            <a:prstDash val="solid"/>
          </a:ln>
        </p:spPr>
        <p:txBody>
          <a:bodyPr/>
          <a:lstStyle/>
          <a:p>
            <a:endParaRPr lang="en-US"/>
          </a:p>
        </p:txBody>
      </p:sp>
      <p:sp>
        <p:nvSpPr>
          <p:cNvPr id="10" name="Text 8"/>
          <p:cNvSpPr txBox="1"/>
          <p:nvPr/>
        </p:nvSpPr>
        <p:spPr>
          <a:xfrm>
            <a:off x="1005840" y="2615184"/>
            <a:ext cx="3291840" cy="502920"/>
          </a:xfrm>
          <a:prstGeom prst="rect">
            <a:avLst/>
          </a:prstGeom>
          <a:noFill/>
          <a:ln/>
        </p:spPr>
        <p:txBody>
          <a:bodyPr wrap="square" lIns="0" tIns="0" rIns="0" bIns="0" rtlCol="0" anchor="ctr"/>
          <a:lstStyle/>
          <a:p>
            <a:pPr marL="0" indent="0" algn="ctr">
              <a:lnSpc>
                <a:spcPct val="100000"/>
              </a:lnSpc>
              <a:buNone/>
            </a:pPr>
            <a:r>
              <a:rPr lang="en-US" sz="1100" dirty="0">
                <a:solidFill>
                  <a:srgbClr val="2B2B2B"/>
                </a:solidFill>
                <a:latin typeface="Calibri" pitchFamily="34" charset="0"/>
                <a:ea typeface="Calibri" pitchFamily="34" charset="-122"/>
                <a:cs typeface="Calibri" pitchFamily="34" charset="-120"/>
              </a:rPr>
              <a:t>DuckDB: plans and runs</a:t>
            </a:r>
            <a:endParaRPr lang="en-US" sz="1100" dirty="0"/>
          </a:p>
        </p:txBody>
      </p:sp>
      <p:sp>
        <p:nvSpPr>
          <p:cNvPr id="11" name="Shape 9"/>
          <p:cNvSpPr/>
          <p:nvPr/>
        </p:nvSpPr>
        <p:spPr>
          <a:xfrm>
            <a:off x="2651760" y="2450592"/>
            <a:ext cx="0" cy="164592"/>
          </a:xfrm>
          <a:prstGeom prst="line">
            <a:avLst/>
          </a:prstGeom>
          <a:noFill/>
          <a:ln w="15875">
            <a:solidFill>
              <a:srgbClr val="808080"/>
            </a:solidFill>
            <a:prstDash val="solid"/>
            <a:tailEnd type="triangle"/>
          </a:ln>
        </p:spPr>
        <p:txBody>
          <a:bodyPr/>
          <a:lstStyle/>
          <a:p>
            <a:endParaRPr lang="en-US"/>
          </a:p>
        </p:txBody>
      </p:sp>
      <p:sp>
        <p:nvSpPr>
          <p:cNvPr id="12" name="Shape 10"/>
          <p:cNvSpPr/>
          <p:nvPr/>
        </p:nvSpPr>
        <p:spPr>
          <a:xfrm>
            <a:off x="1005840" y="3282696"/>
            <a:ext cx="3291840" cy="502920"/>
          </a:xfrm>
          <a:prstGeom prst="roundRect">
            <a:avLst>
              <a:gd name="adj" fmla="val 7273"/>
            </a:avLst>
          </a:prstGeom>
          <a:solidFill>
            <a:srgbClr val="FFFFFF"/>
          </a:solidFill>
          <a:ln w="12700">
            <a:solidFill>
              <a:srgbClr val="999999"/>
            </a:solidFill>
            <a:prstDash val="solid"/>
          </a:ln>
        </p:spPr>
        <p:txBody>
          <a:bodyPr/>
          <a:lstStyle/>
          <a:p>
            <a:endParaRPr lang="en-US"/>
          </a:p>
        </p:txBody>
      </p:sp>
      <p:sp>
        <p:nvSpPr>
          <p:cNvPr id="13" name="Text 11"/>
          <p:cNvSpPr txBox="1"/>
          <p:nvPr/>
        </p:nvSpPr>
        <p:spPr>
          <a:xfrm>
            <a:off x="1005840" y="3282696"/>
            <a:ext cx="3291840" cy="502920"/>
          </a:xfrm>
          <a:prstGeom prst="rect">
            <a:avLst/>
          </a:prstGeom>
          <a:noFill/>
          <a:ln/>
        </p:spPr>
        <p:txBody>
          <a:bodyPr wrap="square" lIns="0" tIns="0" rIns="0" bIns="0" rtlCol="0" anchor="ctr"/>
          <a:lstStyle/>
          <a:p>
            <a:pPr marL="0" indent="0" algn="ctr">
              <a:lnSpc>
                <a:spcPct val="100000"/>
              </a:lnSpc>
              <a:buNone/>
            </a:pPr>
            <a:r>
              <a:rPr lang="en-US" sz="1100" dirty="0">
                <a:solidFill>
                  <a:srgbClr val="2B2B2B"/>
                </a:solidFill>
                <a:latin typeface="Calibri" pitchFamily="34" charset="0"/>
                <a:ea typeface="Calibri" pitchFamily="34" charset="-122"/>
                <a:cs typeface="Calibri" pitchFamily="34" charset="-120"/>
              </a:rPr>
              <a:t>httpfs: range requests</a:t>
            </a:r>
            <a:endParaRPr lang="en-US" sz="1100" dirty="0"/>
          </a:p>
        </p:txBody>
      </p:sp>
      <p:sp>
        <p:nvSpPr>
          <p:cNvPr id="14" name="Shape 12"/>
          <p:cNvSpPr/>
          <p:nvPr/>
        </p:nvSpPr>
        <p:spPr>
          <a:xfrm>
            <a:off x="2651760" y="3118104"/>
            <a:ext cx="0" cy="164592"/>
          </a:xfrm>
          <a:prstGeom prst="line">
            <a:avLst/>
          </a:prstGeom>
          <a:noFill/>
          <a:ln w="15875">
            <a:solidFill>
              <a:srgbClr val="808080"/>
            </a:solidFill>
            <a:prstDash val="solid"/>
            <a:tailEnd type="triangle"/>
          </a:ln>
        </p:spPr>
        <p:txBody>
          <a:bodyPr/>
          <a:lstStyle/>
          <a:p>
            <a:endParaRPr lang="en-US"/>
          </a:p>
        </p:txBody>
      </p:sp>
      <p:sp>
        <p:nvSpPr>
          <p:cNvPr id="15" name="Shape 13"/>
          <p:cNvSpPr/>
          <p:nvPr/>
        </p:nvSpPr>
        <p:spPr>
          <a:xfrm>
            <a:off x="1005840" y="3950208"/>
            <a:ext cx="3291840" cy="502920"/>
          </a:xfrm>
          <a:prstGeom prst="roundRect">
            <a:avLst>
              <a:gd name="adj" fmla="val 7273"/>
            </a:avLst>
          </a:prstGeom>
          <a:solidFill>
            <a:srgbClr val="FFFFFF"/>
          </a:solidFill>
          <a:ln w="12700">
            <a:solidFill>
              <a:srgbClr val="999999"/>
            </a:solidFill>
            <a:prstDash val="solid"/>
          </a:ln>
        </p:spPr>
        <p:txBody>
          <a:bodyPr/>
          <a:lstStyle/>
          <a:p>
            <a:endParaRPr lang="en-US"/>
          </a:p>
        </p:txBody>
      </p:sp>
      <p:sp>
        <p:nvSpPr>
          <p:cNvPr id="16" name="Text 14"/>
          <p:cNvSpPr txBox="1"/>
          <p:nvPr/>
        </p:nvSpPr>
        <p:spPr>
          <a:xfrm>
            <a:off x="1005840" y="3950208"/>
            <a:ext cx="3291840" cy="502920"/>
          </a:xfrm>
          <a:prstGeom prst="rect">
            <a:avLst/>
          </a:prstGeom>
          <a:noFill/>
          <a:ln/>
        </p:spPr>
        <p:txBody>
          <a:bodyPr wrap="square" lIns="0" tIns="0" rIns="0" bIns="0" rtlCol="0" anchor="ctr"/>
          <a:lstStyle/>
          <a:p>
            <a:pPr marL="0" indent="0" algn="ctr">
              <a:lnSpc>
                <a:spcPct val="100000"/>
              </a:lnSpc>
              <a:buNone/>
            </a:pPr>
            <a:r>
              <a:rPr lang="en-US" sz="1100" dirty="0">
                <a:solidFill>
                  <a:srgbClr val="2B2B2B"/>
                </a:solidFill>
                <a:latin typeface="Calibri" pitchFamily="34" charset="0"/>
                <a:ea typeface="Calibri" pitchFamily="34" charset="-122"/>
                <a:cs typeface="Calibri" pitchFamily="34" charset="-120"/>
              </a:rPr>
              <a:t>Parquet files on S3</a:t>
            </a:r>
            <a:endParaRPr lang="en-US" sz="1100" dirty="0"/>
          </a:p>
        </p:txBody>
      </p:sp>
      <p:sp>
        <p:nvSpPr>
          <p:cNvPr id="17" name="Shape 15"/>
          <p:cNvSpPr/>
          <p:nvPr/>
        </p:nvSpPr>
        <p:spPr>
          <a:xfrm>
            <a:off x="2651760" y="3785616"/>
            <a:ext cx="0" cy="164592"/>
          </a:xfrm>
          <a:prstGeom prst="line">
            <a:avLst/>
          </a:prstGeom>
          <a:noFill/>
          <a:ln w="15875">
            <a:solidFill>
              <a:srgbClr val="808080"/>
            </a:solidFill>
            <a:prstDash val="solid"/>
            <a:tailEnd type="triangle"/>
          </a:ln>
        </p:spPr>
        <p:txBody>
          <a:bodyPr/>
          <a:lstStyle/>
          <a:p>
            <a:endParaRPr lang="en-US"/>
          </a:p>
        </p:txBody>
      </p:sp>
      <p:sp>
        <p:nvSpPr>
          <p:cNvPr id="18" name="Text 16"/>
          <p:cNvSpPr txBox="1"/>
          <p:nvPr/>
        </p:nvSpPr>
        <p:spPr>
          <a:xfrm>
            <a:off x="4846320" y="1143000"/>
            <a:ext cx="7345375" cy="2286000"/>
          </a:xfrm>
          <a:prstGeom prst="rect">
            <a:avLst/>
          </a:prstGeom>
          <a:noFill/>
          <a:ln/>
        </p:spPr>
        <p:txBody>
          <a:bodyPr wrap="square" lIns="0" tIns="0" rIns="0" bIns="0" rtlCol="0" anchor="t"/>
          <a:lstStyle/>
          <a:p>
            <a:pPr marL="228600" indent="-228600">
              <a:lnSpc>
                <a:spcPct val="105000"/>
              </a:lnSpc>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DuckDB is an analytical database that runs inside your R session. No server to set up.</a:t>
            </a:r>
            <a:endParaRPr lang="en-US" sz="1400" dirty="0"/>
          </a:p>
          <a:p>
            <a:pPr marL="228600" indent="-228600">
              <a:lnSpc>
                <a:spcPct val="105000"/>
              </a:lnSpc>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It reads Parquet and CSV directly, including from the cloud.</a:t>
            </a:r>
            <a:endParaRPr lang="en-US" sz="1400" dirty="0"/>
          </a:p>
          <a:p>
            <a:pPr marL="228600" indent="-228600">
              <a:lnSpc>
                <a:spcPct val="105000"/>
              </a:lnSpc>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dbplyr lets you write ordinary dplyr code; it generates the SQL.</a:t>
            </a:r>
            <a:endParaRPr lang="en-US" sz="1400" dirty="0"/>
          </a:p>
          <a:p>
            <a:pPr marL="228600" indent="-228600">
              <a:lnSpc>
                <a:spcPct val="105000"/>
              </a:lnSpc>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Only the small result crosses the network back to R.</a:t>
            </a:r>
            <a:endParaRPr lang="en-US" sz="1400" dirty="0"/>
          </a:p>
        </p:txBody>
      </p:sp>
      <p:sp>
        <p:nvSpPr>
          <p:cNvPr id="19" name="Shape 17"/>
          <p:cNvSpPr/>
          <p:nvPr/>
        </p:nvSpPr>
        <p:spPr>
          <a:xfrm>
            <a:off x="4846320" y="3657600"/>
            <a:ext cx="7345375" cy="822960"/>
          </a:xfrm>
          <a:prstGeom prst="roundRect">
            <a:avLst>
              <a:gd name="adj" fmla="val 4444"/>
            </a:avLst>
          </a:prstGeom>
          <a:solidFill>
            <a:srgbClr val="FFFFFF"/>
          </a:solidFill>
          <a:ln w="12700">
            <a:solidFill>
              <a:srgbClr val="BFBFBF"/>
            </a:solidFill>
            <a:prstDash val="solid"/>
          </a:ln>
        </p:spPr>
        <p:txBody>
          <a:bodyPr/>
          <a:lstStyle/>
          <a:p>
            <a:endParaRPr lang="en-US"/>
          </a:p>
        </p:txBody>
      </p:sp>
      <p:sp>
        <p:nvSpPr>
          <p:cNvPr id="20" name="Text 18"/>
          <p:cNvSpPr txBox="1"/>
          <p:nvPr/>
        </p:nvSpPr>
        <p:spPr>
          <a:xfrm>
            <a:off x="5010912" y="3749040"/>
            <a:ext cx="7016191" cy="640080"/>
          </a:xfrm>
          <a:prstGeom prst="rect">
            <a:avLst/>
          </a:prstGeom>
          <a:noFill/>
          <a:ln/>
        </p:spPr>
        <p:txBody>
          <a:bodyPr wrap="square" lIns="0" tIns="0" rIns="0" bIns="0" rtlCol="0" anchor="t"/>
          <a:lstStyle/>
          <a:p>
            <a:pPr marL="0" indent="0">
              <a:lnSpc>
                <a:spcPct val="105000"/>
              </a:lnSpc>
              <a:buNone/>
            </a:pPr>
            <a:r>
              <a:rPr lang="en-US" sz="1250" b="1" dirty="0">
                <a:solidFill>
                  <a:srgbClr val="2B2B2B"/>
                </a:solidFill>
                <a:latin typeface="Calibri" pitchFamily="34" charset="0"/>
                <a:ea typeface="Calibri" pitchFamily="34" charset="-122"/>
                <a:cs typeface="Calibri" pitchFamily="34" charset="-120"/>
              </a:rPr>
              <a:t>Note.  </a:t>
            </a:r>
            <a:r>
              <a:rPr lang="en-US" sz="1250" dirty="0">
                <a:solidFill>
                  <a:srgbClr val="2B2B2B"/>
                </a:solidFill>
                <a:latin typeface="Calibri" pitchFamily="34" charset="0"/>
                <a:ea typeface="Calibri" pitchFamily="34" charset="-122"/>
                <a:cs typeface="Calibri" pitchFamily="34" charset="-120"/>
              </a:rPr>
              <a:t>You do not need to learn SQL first. You do need to know when the work actually happens.</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728655" y="6473952"/>
            <a:ext cx="118872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3 / 54</a:t>
            </a:r>
            <a:endParaRPr lang="en-US" sz="900" dirty="0"/>
          </a:p>
        </p:txBody>
      </p:sp>
      <p:sp>
        <p:nvSpPr>
          <p:cNvPr id="3" name="Text 1"/>
          <p:cNvSpPr txBox="1"/>
          <p:nvPr/>
        </p:nvSpPr>
        <p:spPr>
          <a:xfrm>
            <a:off x="0" y="2651760"/>
            <a:ext cx="12191695" cy="365760"/>
          </a:xfrm>
          <a:prstGeom prst="rect">
            <a:avLst/>
          </a:prstGeom>
          <a:noFill/>
          <a:ln/>
        </p:spPr>
        <p:txBody>
          <a:bodyPr wrap="square" lIns="0" tIns="0" rIns="0" bIns="0" rtlCol="0" anchor="ctr"/>
          <a:lstStyle/>
          <a:p>
            <a:pPr marL="0" indent="0" algn="ctr">
              <a:buNone/>
            </a:pPr>
            <a:r>
              <a:rPr lang="en-US" sz="1500" dirty="0">
                <a:solidFill>
                  <a:srgbClr val="6B6B6B"/>
                </a:solidFill>
                <a:latin typeface="Calibri" pitchFamily="34" charset="0"/>
                <a:ea typeface="Calibri" pitchFamily="34" charset="-122"/>
                <a:cs typeface="Calibri" pitchFamily="34" charset="-120"/>
              </a:rPr>
              <a:t>Slido poll placeholder</a:t>
            </a:r>
            <a:endParaRPr lang="en-US" sz="1500" dirty="0"/>
          </a:p>
        </p:txBody>
      </p:sp>
      <p:sp>
        <p:nvSpPr>
          <p:cNvPr id="4" name="Text 2"/>
          <p:cNvSpPr txBox="1"/>
          <p:nvPr/>
        </p:nvSpPr>
        <p:spPr>
          <a:xfrm>
            <a:off x="914400" y="3017520"/>
            <a:ext cx="10362895" cy="1097280"/>
          </a:xfrm>
          <a:prstGeom prst="rect">
            <a:avLst/>
          </a:prstGeom>
          <a:noFill/>
          <a:ln/>
        </p:spPr>
        <p:txBody>
          <a:bodyPr wrap="square" lIns="0" tIns="0" rIns="0" bIns="0" rtlCol="0" anchor="ctr"/>
          <a:lstStyle/>
          <a:p>
            <a:pPr marL="0" indent="0" algn="ctr">
              <a:buNone/>
            </a:pPr>
            <a:r>
              <a:rPr lang="en-US" sz="3000" b="1" dirty="0">
                <a:solidFill>
                  <a:srgbClr val="2B2B2B"/>
                </a:solidFill>
                <a:latin typeface="Calibri" pitchFamily="34" charset="0"/>
                <a:ea typeface="Calibri" pitchFamily="34" charset="-122"/>
                <a:cs typeface="Calibri" pitchFamily="34" charset="-120"/>
              </a:rPr>
              <a:t>How much data would you download to count bird records per country?</a:t>
            </a:r>
            <a:endParaRPr lang="en-US" sz="3000" dirty="0"/>
          </a:p>
        </p:txBody>
      </p:sp>
    </p:spTree>
    <p:extLst>
      <p:ext uri="{BB962C8B-B14F-4D97-AF65-F5344CB8AC3E}">
        <p14:creationId xmlns:p14="http://schemas.microsoft.com/office/powerpoint/2010/main" val="32094463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728655" y="6473952"/>
            <a:ext cx="118872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51 / 54</a:t>
            </a:r>
            <a:endParaRPr lang="en-US" sz="900" dirty="0"/>
          </a:p>
        </p:txBody>
      </p:sp>
      <p:sp>
        <p:nvSpPr>
          <p:cNvPr id="3" name="Text 1"/>
          <p:cNvSpPr txBox="1"/>
          <p:nvPr/>
        </p:nvSpPr>
        <p:spPr>
          <a:xfrm>
            <a:off x="502920" y="320040"/>
            <a:ext cx="11185855" cy="685800"/>
          </a:xfrm>
          <a:prstGeom prst="rect">
            <a:avLst/>
          </a:prstGeom>
          <a:noFill/>
          <a:ln/>
        </p:spPr>
        <p:txBody>
          <a:bodyPr wrap="square" lIns="0" tIns="0" rIns="0" bIns="0" rtlCol="0" anchor="t"/>
          <a:lstStyle/>
          <a:p>
            <a:pPr marL="0" indent="0">
              <a:buNone/>
            </a:pPr>
            <a:r>
              <a:rPr lang="en-US" sz="2600" b="1" dirty="0">
                <a:solidFill>
                  <a:srgbClr val="2B2B2B"/>
                </a:solidFill>
                <a:latin typeface="Calibri" pitchFamily="34" charset="0"/>
                <a:ea typeface="Calibri" pitchFamily="34" charset="-122"/>
                <a:cs typeface="Calibri" pitchFamily="34" charset="-120"/>
              </a:rPr>
              <a:t>What if we had downloaded?</a:t>
            </a:r>
            <a:endParaRPr lang="en-US" sz="2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183112" cy="1600200"/>
        </p:xfrm>
        <a:graphic>
          <a:graphicData uri="http://schemas.openxmlformats.org/drawingml/2006/table">
            <a:tbl>
              <a:tblPr/>
              <a:tblGrid>
                <a:gridCol w="201168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599432">
                  <a:extLst>
                    <a:ext uri="{9D8B030D-6E8A-4147-A177-3AD203B41FA5}">
                      <a16:colId xmlns:a16="http://schemas.microsoft.com/office/drawing/2014/main" val="20002"/>
                    </a:ext>
                  </a:extLst>
                </a:gridCol>
              </a:tblGrid>
              <a:tr h="0">
                <a:tc>
                  <a:txBody>
                    <a:bodyPr/>
                    <a:lstStyle/>
                    <a:p>
                      <a:pPr marL="0" indent="0">
                        <a:buNone/>
                      </a:pPr>
                      <a:endParaRPr lang="en-US" sz="125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12700" cap="flat" cmpd="sng" algn="ctr">
                      <a:solidFill>
                        <a:srgbClr val="2B2B2B"/>
                      </a:solidFill>
                      <a:prstDash val="solid"/>
                      <a:round/>
                      <a:headEnd type="none" w="med" len="med"/>
                      <a:tailEnd type="none" w="med" len="med"/>
                    </a:lnB>
                    <a:solidFill>
                      <a:srgbClr val="FFFFFF"/>
                    </a:solidFill>
                  </a:tcPr>
                </a:tc>
                <a:tc>
                  <a:txBody>
                    <a:bodyPr/>
                    <a:lstStyle/>
                    <a:p>
                      <a:pPr marL="0" indent="0">
                        <a:buNone/>
                      </a:pPr>
                      <a:r>
                        <a:rPr lang="en-US" sz="1250" b="1" dirty="0">
                          <a:solidFill>
                            <a:srgbClr val="2B2B2B"/>
                          </a:solidFill>
                          <a:latin typeface="Calibri" pitchFamily="34" charset="0"/>
                          <a:ea typeface="Calibri" pitchFamily="34" charset="-122"/>
                          <a:cs typeface="Calibri" pitchFamily="34" charset="-120"/>
                        </a:rPr>
                        <a:t>Download first</a:t>
                      </a:r>
                      <a:endParaRPr lang="en-US" sz="125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12700" cap="flat" cmpd="sng" algn="ctr">
                      <a:solidFill>
                        <a:srgbClr val="2B2B2B"/>
                      </a:solidFill>
                      <a:prstDash val="solid"/>
                      <a:round/>
                      <a:headEnd type="none" w="med" len="med"/>
                      <a:tailEnd type="none" w="med" len="med"/>
                    </a:lnB>
                    <a:solidFill>
                      <a:srgbClr val="FFFFFF"/>
                    </a:solidFill>
                  </a:tcPr>
                </a:tc>
                <a:tc>
                  <a:txBody>
                    <a:bodyPr/>
                    <a:lstStyle/>
                    <a:p>
                      <a:pPr marL="0" indent="0">
                        <a:buNone/>
                      </a:pPr>
                      <a:r>
                        <a:rPr lang="en-US" sz="1250" b="1" dirty="0">
                          <a:solidFill>
                            <a:srgbClr val="2B2B2B"/>
                          </a:solidFill>
                          <a:latin typeface="Calibri" pitchFamily="34" charset="0"/>
                          <a:ea typeface="Calibri" pitchFamily="34" charset="-122"/>
                          <a:cs typeface="Calibri" pitchFamily="34" charset="-120"/>
                        </a:rPr>
                        <a:t>Cloud native</a:t>
                      </a:r>
                      <a:endParaRPr lang="en-US" sz="1250" dirty="0">
                        <a:latin typeface="Calibri" charset="0"/>
                        <a:ea typeface="Calibri" charset="0"/>
                        <a:cs typeface="Calibri" charset="0"/>
                      </a:endParaRPr>
                    </a:p>
                  </a:txBody>
                  <a:tcPr marL="76200" marR="76200" marT="38100" marB="38100">
                    <a:lnL w="0" cap="flat" cmpd="sng" algn="ctr">
                      <a:noFill/>
                    </a:lnL>
                    <a:lnR w="0" cap="flat" cmpd="sng" algn="ctr">
                      <a:noFill/>
                    </a:lnR>
                    <a:lnT w="0" cap="flat" cmpd="sng" algn="ctr">
                      <a:noFill/>
                    </a:lnT>
                    <a:lnB w="12700" cap="flat" cmpd="sng" algn="ctr">
                      <a:solidFill>
                        <a:srgbClr val="2B2B2B"/>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0">
                <a:tc>
                  <a:txBody>
                    <a:bodyPr/>
                    <a:lstStyle/>
                    <a:p>
                      <a:pPr marL="0" indent="0">
                        <a:buNone/>
                      </a:pPr>
                      <a:r>
                        <a:rPr lang="en-US" sz="1250" dirty="0">
                          <a:solidFill>
                            <a:srgbClr val="2B2B2B"/>
                          </a:solidFill>
                          <a:latin typeface="Calibri" pitchFamily="34" charset="0"/>
                          <a:ea typeface="Calibri" pitchFamily="34" charset="-122"/>
                          <a:cs typeface="Calibri" pitchFamily="34" charset="-120"/>
                        </a:rPr>
                        <a:t>Time</a:t>
                      </a:r>
                      <a:endParaRPr lang="en-US" sz="1250" dirty="0">
                        <a:latin typeface="Calibri" charset="0"/>
                        <a:ea typeface="Calibri" charset="0"/>
                        <a:cs typeface="Calibri" charset="0"/>
                      </a:endParaRPr>
                    </a:p>
                  </a:txBody>
                  <a:tcPr marL="76200" marR="76200" marT="38100" marB="38100">
                    <a:lnL w="0" cap="flat" cmpd="sng" algn="ctr">
                      <a:noFill/>
                    </a:lnL>
                    <a:lnR w="0" cap="flat" cmpd="sng" algn="ctr">
                      <a:noFill/>
                    </a:lnR>
                    <a:lnT w="12700" cap="flat" cmpd="sng" algn="ctr">
                      <a:solidFill>
                        <a:srgbClr val="2B2B2B"/>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50" dirty="0">
                          <a:solidFill>
                            <a:srgbClr val="2B2B2B"/>
                          </a:solidFill>
                          <a:latin typeface="Calibri" pitchFamily="34" charset="0"/>
                          <a:ea typeface="Calibri" pitchFamily="34" charset="-122"/>
                          <a:cs typeface="Calibri" pitchFamily="34" charset="-120"/>
                        </a:rPr>
                        <a:t>Hours before the first line of analysis</a:t>
                      </a:r>
                      <a:endParaRPr lang="en-US" sz="1250" dirty="0">
                        <a:latin typeface="Calibri" charset="0"/>
                        <a:ea typeface="Calibri" charset="0"/>
                        <a:cs typeface="Calibri" charset="0"/>
                      </a:endParaRPr>
                    </a:p>
                  </a:txBody>
                  <a:tcPr marL="76200" marR="76200" marT="38100" marB="38100">
                    <a:lnL w="0" cap="flat" cmpd="sng" algn="ctr">
                      <a:noFill/>
                    </a:lnL>
                    <a:lnR w="0" cap="flat" cmpd="sng" algn="ctr">
                      <a:noFill/>
                    </a:lnR>
                    <a:lnT w="12700" cap="flat" cmpd="sng" algn="ctr">
                      <a:solidFill>
                        <a:srgbClr val="2B2B2B"/>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50" dirty="0">
                          <a:solidFill>
                            <a:srgbClr val="2B2B2B"/>
                          </a:solidFill>
                          <a:latin typeface="Calibri" pitchFamily="34" charset="0"/>
                          <a:ea typeface="Calibri" pitchFamily="34" charset="-122"/>
                          <a:cs typeface="Calibri" pitchFamily="34" charset="-120"/>
                        </a:rPr>
                        <a:t>Minutes; you pay per query</a:t>
                      </a:r>
                      <a:endParaRPr lang="en-US" sz="1250" dirty="0">
                        <a:latin typeface="Calibri" charset="0"/>
                        <a:ea typeface="Calibri" charset="0"/>
                        <a:cs typeface="Calibri" charset="0"/>
                      </a:endParaRPr>
                    </a:p>
                  </a:txBody>
                  <a:tcPr marL="76200" marR="76200" marT="38100" marB="38100">
                    <a:lnL w="0" cap="flat" cmpd="sng" algn="ctr">
                      <a:noFill/>
                    </a:lnL>
                    <a:lnR w="0" cap="flat" cmpd="sng" algn="ctr">
                      <a:noFill/>
                    </a:lnR>
                    <a:lnT w="12700" cap="flat" cmpd="sng" algn="ctr">
                      <a:solidFill>
                        <a:srgbClr val="2B2B2B"/>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50" dirty="0">
                          <a:solidFill>
                            <a:srgbClr val="2B2B2B"/>
                          </a:solidFill>
                          <a:latin typeface="Calibri" pitchFamily="34" charset="0"/>
                          <a:ea typeface="Calibri" pitchFamily="34" charset="-122"/>
                          <a:cs typeface="Calibri" pitchFamily="34" charset="-120"/>
                        </a:rPr>
                        <a:t>Storage</a:t>
                      </a:r>
                      <a:endParaRPr lang="en-US" sz="1250" dirty="0">
                        <a:latin typeface="Calibri" charset="0"/>
                        <a:ea typeface="Calibri" charset="0"/>
                        <a:cs typeface="Calibri" charset="0"/>
                      </a:endParaRPr>
                    </a:p>
                  </a:txBody>
                  <a:tcPr marL="76200" marR="76200" marT="38100" marB="38100">
                    <a:lnL w="0" cap="flat" cmpd="sng" algn="ctr">
                      <a:noFill/>
                    </a:lnL>
                    <a:lnR w="0" cap="flat" cmpd="sng" algn="ct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50" dirty="0">
                          <a:solidFill>
                            <a:srgbClr val="2B2B2B"/>
                          </a:solidFill>
                          <a:latin typeface="Calibri" pitchFamily="34" charset="0"/>
                          <a:ea typeface="Calibri" pitchFamily="34" charset="-122"/>
                          <a:cs typeface="Calibri" pitchFamily="34" charset="-120"/>
                        </a:rPr>
                        <a:t>The whole GBIF snapshot (estimate it), about 1 GB per scene</a:t>
                      </a:r>
                      <a:endParaRPr lang="en-US" sz="1250" dirty="0">
                        <a:latin typeface="Calibri" charset="0"/>
                        <a:ea typeface="Calibri" charset="0"/>
                        <a:cs typeface="Calibri" charset="0"/>
                      </a:endParaRPr>
                    </a:p>
                  </a:txBody>
                  <a:tcPr marL="76200" marR="76200" marT="38100" marB="38100">
                    <a:lnL w="0" cap="flat" cmpd="sng" algn="ctr">
                      <a:noFill/>
                    </a:lnL>
                    <a:lnR w="0" cap="flat" cmpd="sng" algn="ct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50" dirty="0">
                          <a:solidFill>
                            <a:srgbClr val="2B2B2B"/>
                          </a:solidFill>
                          <a:latin typeface="Calibri" pitchFamily="34" charset="0"/>
                          <a:ea typeface="Calibri" pitchFamily="34" charset="-122"/>
                          <a:cs typeface="Calibri" pitchFamily="34" charset="-120"/>
                        </a:rPr>
                        <a:t>Results of a few MB</a:t>
                      </a:r>
                      <a:endParaRPr lang="en-US" sz="1250" dirty="0">
                        <a:latin typeface="Calibri" charset="0"/>
                        <a:ea typeface="Calibri" charset="0"/>
                        <a:cs typeface="Calibri" charset="0"/>
                      </a:endParaRPr>
                    </a:p>
                  </a:txBody>
                  <a:tcPr marL="76200" marR="76200" marT="38100" marB="38100">
                    <a:lnL w="0" cap="flat" cmpd="sng" algn="ctr">
                      <a:noFill/>
                    </a:lnL>
                    <a:lnR w="0" cap="flat" cmpd="sng" algn="ct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250" dirty="0">
                          <a:solidFill>
                            <a:srgbClr val="2B2B2B"/>
                          </a:solidFill>
                          <a:latin typeface="Calibri" pitchFamily="34" charset="0"/>
                          <a:ea typeface="Calibri" pitchFamily="34" charset="-122"/>
                          <a:cs typeface="Calibri" pitchFamily="34" charset="-120"/>
                        </a:rPr>
                        <a:t>Reproducibility</a:t>
                      </a:r>
                      <a:endParaRPr lang="en-US" sz="1250" dirty="0">
                        <a:latin typeface="Calibri" charset="0"/>
                        <a:ea typeface="Calibri" charset="0"/>
                        <a:cs typeface="Calibri" charset="0"/>
                      </a:endParaRPr>
                    </a:p>
                  </a:txBody>
                  <a:tcPr marL="76200" marR="76200" marT="38100" marB="38100">
                    <a:lnL w="0" cap="flat" cmpd="sng" algn="ctr">
                      <a:noFill/>
                    </a:lnL>
                    <a:lnR w="0" cap="flat" cmpd="sng" algn="ct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50" dirty="0">
                          <a:solidFill>
                            <a:srgbClr val="2B2B2B"/>
                          </a:solidFill>
                          <a:latin typeface="Calibri" pitchFamily="34" charset="0"/>
                          <a:ea typeface="Calibri" pitchFamily="34" charset="-122"/>
                          <a:cs typeface="Calibri" pitchFamily="34" charset="-120"/>
                        </a:rPr>
                        <a:t>"My copy"</a:t>
                      </a:r>
                      <a:endParaRPr lang="en-US" sz="1250" dirty="0">
                        <a:latin typeface="Calibri" charset="0"/>
                        <a:ea typeface="Calibri" charset="0"/>
                        <a:cs typeface="Calibri" charset="0"/>
                      </a:endParaRPr>
                    </a:p>
                  </a:txBody>
                  <a:tcPr marL="76200" marR="76200" marT="38100" marB="38100">
                    <a:lnL w="0" cap="flat" cmpd="sng" algn="ctr">
                      <a:noFill/>
                    </a:lnL>
                    <a:lnR w="0" cap="flat" cmpd="sng" algn="ct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50" dirty="0">
                          <a:solidFill>
                            <a:srgbClr val="2B2B2B"/>
                          </a:solidFill>
                          <a:latin typeface="Calibri" pitchFamily="34" charset="0"/>
                          <a:ea typeface="Calibri" pitchFamily="34" charset="-122"/>
                          <a:cs typeface="Calibri" pitchFamily="34" charset="-120"/>
                        </a:rPr>
                        <a:t>Snapshot date plus a saved query</a:t>
                      </a:r>
                      <a:endParaRPr lang="en-US" sz="1250" dirty="0">
                        <a:latin typeface="Calibri" charset="0"/>
                        <a:ea typeface="Calibri" charset="0"/>
                        <a:cs typeface="Calibri" charset="0"/>
                      </a:endParaRPr>
                    </a:p>
                  </a:txBody>
                  <a:tcPr marL="76200" marR="76200" marT="38100" marB="38100">
                    <a:lnL w="0" cap="flat" cmpd="sng" algn="ctr">
                      <a:noFill/>
                    </a:lnL>
                    <a:lnR w="0" cap="flat" cmpd="sng" algn="ct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50" dirty="0">
                          <a:solidFill>
                            <a:srgbClr val="2B2B2B"/>
                          </a:solidFill>
                          <a:latin typeface="Calibri" pitchFamily="34" charset="0"/>
                          <a:ea typeface="Calibri" pitchFamily="34" charset="-122"/>
                          <a:cs typeface="Calibri" pitchFamily="34" charset="-120"/>
                        </a:rPr>
                        <a:t>Freshness</a:t>
                      </a:r>
                      <a:endParaRPr lang="en-US" sz="1250" dirty="0">
                        <a:latin typeface="Calibri" charset="0"/>
                        <a:ea typeface="Calibri" charset="0"/>
                        <a:cs typeface="Calibri" charset="0"/>
                      </a:endParaRPr>
                    </a:p>
                  </a:txBody>
                  <a:tcPr marL="76200" marR="76200" marT="38100" marB="38100">
                    <a:lnL w="0" cap="flat" cmpd="sng" algn="ctr">
                      <a:noFill/>
                    </a:lnL>
                    <a:lnR w="0" cap="flat" cmpd="sng" algn="ct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50" dirty="0">
                          <a:solidFill>
                            <a:srgbClr val="2B2B2B"/>
                          </a:solidFill>
                          <a:latin typeface="Calibri" pitchFamily="34" charset="0"/>
                          <a:ea typeface="Calibri" pitchFamily="34" charset="-122"/>
                          <a:cs typeface="Calibri" pitchFamily="34" charset="-120"/>
                        </a:rPr>
                        <a:t>Re-download to update</a:t>
                      </a:r>
                      <a:endParaRPr lang="en-US" sz="1250" dirty="0">
                        <a:latin typeface="Calibri" charset="0"/>
                        <a:ea typeface="Calibri" charset="0"/>
                        <a:cs typeface="Calibri" charset="0"/>
                      </a:endParaRPr>
                    </a:p>
                  </a:txBody>
                  <a:tcPr marL="76200" marR="76200" marT="38100" marB="38100">
                    <a:lnL w="0" cap="flat" cmpd="sng" algn="ctr">
                      <a:noFill/>
                    </a:lnL>
                    <a:lnR w="0" cap="flat" cmpd="sng" algn="ct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50" dirty="0">
                          <a:solidFill>
                            <a:srgbClr val="2B2B2B"/>
                          </a:solidFill>
                          <a:latin typeface="Calibri" pitchFamily="34" charset="0"/>
                          <a:ea typeface="Calibri" pitchFamily="34" charset="-122"/>
                          <a:cs typeface="Calibri" pitchFamily="34" charset="-120"/>
                        </a:rPr>
                        <a:t>Change the date or the search</a:t>
                      </a:r>
                      <a:endParaRPr lang="en-US" sz="1250" dirty="0">
                        <a:latin typeface="Calibri" charset="0"/>
                        <a:ea typeface="Calibri" charset="0"/>
                        <a:cs typeface="Calibri" charset="0"/>
                      </a:endParaRPr>
                    </a:p>
                  </a:txBody>
                  <a:tcPr marL="76200" marR="76200" marT="38100" marB="38100">
                    <a:lnL w="0" cap="flat" cmpd="sng" algn="ctr">
                      <a:noFill/>
                    </a:lnL>
                    <a:lnR w="0" cap="flat" cmpd="sng" algn="ct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250" dirty="0">
                          <a:solidFill>
                            <a:srgbClr val="2B2B2B"/>
                          </a:solidFill>
                          <a:latin typeface="Calibri" pitchFamily="34" charset="0"/>
                          <a:ea typeface="Calibri" pitchFamily="34" charset="-122"/>
                          <a:cs typeface="Calibri" pitchFamily="34" charset="-120"/>
                        </a:rPr>
                        <a:t>Skills needed</a:t>
                      </a:r>
                      <a:endParaRPr lang="en-US" sz="1250" dirty="0">
                        <a:latin typeface="Calibri" charset="0"/>
                        <a:ea typeface="Calibri" charset="0"/>
                        <a:cs typeface="Calibri" charset="0"/>
                      </a:endParaRPr>
                    </a:p>
                  </a:txBody>
                  <a:tcPr marL="76200" marR="76200" marT="38100" marB="38100">
                    <a:lnL w="0" cap="flat" cmpd="sng" algn="ctr">
                      <a:noFill/>
                    </a:lnL>
                    <a:lnR w="0" cap="flat" cmpd="sng" algn="ct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50" dirty="0">
                          <a:solidFill>
                            <a:srgbClr val="2B2B2B"/>
                          </a:solidFill>
                          <a:latin typeface="Calibri" pitchFamily="34" charset="0"/>
                          <a:ea typeface="Calibri" pitchFamily="34" charset="-122"/>
                          <a:cs typeface="Calibri" pitchFamily="34" charset="-120"/>
                        </a:rPr>
                        <a:t>File handling</a:t>
                      </a:r>
                      <a:endParaRPr lang="en-US" sz="1250" dirty="0">
                        <a:latin typeface="Calibri" charset="0"/>
                        <a:ea typeface="Calibri" charset="0"/>
                        <a:cs typeface="Calibri" charset="0"/>
                      </a:endParaRPr>
                    </a:p>
                  </a:txBody>
                  <a:tcPr marL="76200" marR="76200" marT="38100" marB="38100">
                    <a:lnL w="0" cap="flat" cmpd="sng" algn="ctr">
                      <a:noFill/>
                    </a:lnL>
                    <a:lnR w="0" cap="flat" cmpd="sng" algn="ct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50" dirty="0">
                          <a:solidFill>
                            <a:srgbClr val="2B2B2B"/>
                          </a:solidFill>
                          <a:latin typeface="Calibri" pitchFamily="34" charset="0"/>
                          <a:ea typeface="Calibri" pitchFamily="34" charset="-122"/>
                          <a:cs typeface="Calibri" pitchFamily="34" charset="-120"/>
                        </a:rPr>
                        <a:t>Query building, lazy evaluation</a:t>
                      </a:r>
                      <a:endParaRPr lang="en-US" sz="1250" dirty="0">
                        <a:latin typeface="Calibri" charset="0"/>
                        <a:ea typeface="Calibri" charset="0"/>
                        <a:cs typeface="Calibri" charset="0"/>
                      </a:endParaRPr>
                    </a:p>
                  </a:txBody>
                  <a:tcPr marL="76200" marR="76200" marT="38100" marB="38100">
                    <a:lnL w="0" cap="flat" cmpd="sng" algn="ctr">
                      <a:noFill/>
                    </a:lnL>
                    <a:lnR w="0" cap="flat" cmpd="sng" algn="ct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502920" y="4846320"/>
            <a:ext cx="11185855" cy="548640"/>
          </a:xfrm>
          <a:prstGeom prst="rect">
            <a:avLst/>
          </a:prstGeom>
          <a:noFill/>
          <a:ln/>
        </p:spPr>
        <p:txBody>
          <a:bodyPr wrap="square" lIns="0" tIns="0" rIns="0" bIns="0" rtlCol="0" anchor="t"/>
          <a:lstStyle/>
          <a:p>
            <a:pPr marL="0" indent="0" algn="l">
              <a:lnSpc>
                <a:spcPct val="105000"/>
              </a:lnSpc>
              <a:buNone/>
            </a:pPr>
            <a:r>
              <a:rPr lang="en-US" sz="1300" i="1" dirty="0">
                <a:solidFill>
                  <a:srgbClr val="6B6B6B"/>
                </a:solidFill>
                <a:latin typeface="Calibri" pitchFamily="34" charset="0"/>
                <a:ea typeface="Calibri" pitchFamily="34" charset="-122"/>
                <a:cs typeface="Calibri" pitchFamily="34" charset="-120"/>
              </a:rPr>
              <a:t>These sizes are rough. Estimate the GBIF snapshot yourself with range requests, as in Session 1.</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728655" y="6473952"/>
            <a:ext cx="118872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3 / 54</a:t>
            </a:r>
            <a:endParaRPr lang="en-US" sz="900" dirty="0"/>
          </a:p>
        </p:txBody>
      </p:sp>
      <p:sp>
        <p:nvSpPr>
          <p:cNvPr id="3" name="Text 1"/>
          <p:cNvSpPr txBox="1"/>
          <p:nvPr/>
        </p:nvSpPr>
        <p:spPr>
          <a:xfrm>
            <a:off x="0" y="2651760"/>
            <a:ext cx="12191695" cy="365760"/>
          </a:xfrm>
          <a:prstGeom prst="rect">
            <a:avLst/>
          </a:prstGeom>
          <a:noFill/>
          <a:ln/>
        </p:spPr>
        <p:txBody>
          <a:bodyPr wrap="square" lIns="0" tIns="0" rIns="0" bIns="0" rtlCol="0" anchor="ctr"/>
          <a:lstStyle/>
          <a:p>
            <a:pPr marL="0" indent="0" algn="ctr">
              <a:buNone/>
            </a:pPr>
            <a:r>
              <a:rPr lang="en-US" sz="1500" dirty="0">
                <a:solidFill>
                  <a:srgbClr val="6B6B6B"/>
                </a:solidFill>
                <a:latin typeface="Calibri" pitchFamily="34" charset="0"/>
                <a:ea typeface="Calibri" pitchFamily="34" charset="-122"/>
                <a:cs typeface="Calibri" pitchFamily="34" charset="-120"/>
              </a:rPr>
              <a:t>Appendix</a:t>
            </a:r>
            <a:endParaRPr lang="en-US" sz="1500" dirty="0"/>
          </a:p>
        </p:txBody>
      </p:sp>
      <p:sp>
        <p:nvSpPr>
          <p:cNvPr id="4" name="Text 2"/>
          <p:cNvSpPr txBox="1"/>
          <p:nvPr/>
        </p:nvSpPr>
        <p:spPr>
          <a:xfrm>
            <a:off x="914400" y="3017520"/>
            <a:ext cx="10362895" cy="1097280"/>
          </a:xfrm>
          <a:prstGeom prst="rect">
            <a:avLst/>
          </a:prstGeom>
          <a:noFill/>
          <a:ln/>
        </p:spPr>
        <p:txBody>
          <a:bodyPr wrap="square" lIns="0" tIns="0" rIns="0" bIns="0" rtlCol="0" anchor="ctr"/>
          <a:lstStyle/>
          <a:p>
            <a:pPr marL="0" indent="0" algn="ctr">
              <a:buNone/>
            </a:pPr>
            <a:r>
              <a:rPr lang="en-US" sz="3000" b="1" dirty="0">
                <a:solidFill>
                  <a:srgbClr val="2B2B2B"/>
                </a:solidFill>
                <a:latin typeface="Calibri" pitchFamily="34" charset="0"/>
                <a:ea typeface="Calibri" pitchFamily="34" charset="-122"/>
                <a:cs typeface="Calibri" pitchFamily="34" charset="-120"/>
              </a:rPr>
              <a:t>Code walkthroughs and worked applications</a:t>
            </a:r>
            <a:endParaRPr lang="en-US" sz="3000" dirty="0"/>
          </a:p>
        </p:txBody>
      </p:sp>
    </p:spTree>
    <p:extLst>
      <p:ext uri="{BB962C8B-B14F-4D97-AF65-F5344CB8AC3E}">
        <p14:creationId xmlns:p14="http://schemas.microsoft.com/office/powerpoint/2010/main" val="64983534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5.0.0"/>
  <p:tag name="SLIDO_PRESENTATION_ID" val="1affca7d-eda1-4b2e-a60f-9038f9c8988a"/>
  <p:tag name="SLIDO_EVENT_UUID" val="dcebfe72-46f8-45c9-91b2-499a6dc6a276"/>
  <p:tag name="SLIDO_EVENT_SECTION_UUID" val="27678fd5-5d4c-4140-892d-d6e3cc1efb42"/>
</p:tagLst>
</file>

<file path=ppt/tags/tag2.xml><?xml version="1.0" encoding="utf-8"?>
<p:tagLst xmlns:a="http://schemas.openxmlformats.org/drawingml/2006/main" xmlns:r="http://schemas.openxmlformats.org/officeDocument/2006/relationships" xmlns:p="http://schemas.openxmlformats.org/presentationml/2006/main">
  <p:tag name="SLIDO_TYPE" val="SlidoPoll"/>
  <p:tag name="SLIDO_POLL_UUID" val="8a9b2fc7-6ee6-40ec-9fb5-4da16da7d4a8"/>
  <p:tag name="SLIDO_KEEP_POLL_ACTIVE" val="false"/>
  <p:tag name="SLIDO_TIMELINE" val="W3sic2hvd1Jlc3VsdHMiOnRydWUsInBvbGxRdWVzdGlvblV1aWQiOiI4ZjY5ZWViOC0xMGQ5LTRkOWEtODMxNC1kYmVjZDBiYmFmOGMifV0="/>
</p:tagLst>
</file>

<file path=ppt/tags/tag3.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4.xml><?xml version="1.0" encoding="utf-8"?>
<p:tagLst xmlns:a="http://schemas.openxmlformats.org/drawingml/2006/main" xmlns:r="http://schemas.openxmlformats.org/officeDocument/2006/relationships" xmlns:p="http://schemas.openxmlformats.org/presentationml/2006/main">
  <p:tag name="SLIDO_ELEMENT" val="title"/>
</p:tagLst>
</file>

<file path=ppt/tags/tag5.xml><?xml version="1.0" encoding="utf-8"?>
<p:tagLst xmlns:a="http://schemas.openxmlformats.org/drawingml/2006/main" xmlns:r="http://schemas.openxmlformats.org/officeDocument/2006/relationships" xmlns:p="http://schemas.openxmlformats.org/presentationml/2006/main">
  <p:tag name="SLIDO_ELEMENT" val="footer"/>
</p:tagLst>
</file>

<file path=ppt/tags/tag6.xml><?xml version="1.0" encoding="utf-8"?>
<p:tagLst xmlns:a="http://schemas.openxmlformats.org/drawingml/2006/main" xmlns:r="http://schemas.openxmlformats.org/officeDocument/2006/relationships" xmlns:p="http://schemas.openxmlformats.org/presentationml/2006/main">
  <p:tag name="SLIDO_ELEMENT" val="corner"/>
</p:tagLst>
</file>

<file path=ppt/tags/tag7.xml><?xml version="1.0" encoding="utf-8"?>
<p:tagLst xmlns:a="http://schemas.openxmlformats.org/drawingml/2006/main" xmlns:r="http://schemas.openxmlformats.org/officeDocument/2006/relationships" xmlns:p="http://schemas.openxmlformats.org/presentationml/2006/main">
  <p:tag name="SLIDO_TYPE" val="SlidoPoll"/>
  <p:tag name="SLIDO_POLL_UUID" val="838eb2da-400f-4edc-bad5-3c25e86c3556"/>
  <p:tag name="SLIDO_KEEP_POLL_ACTIVE" val="false"/>
  <p:tag name="SLIDO_TIMELINE" val="W3sic2hvd1Jlc3VsdHMiOnRydWUsInBvbGxRdWVzdGlvblV1aWQiOiIyNTMxMWUwNy00YzMwLTQ1NzItOTZmNC02Y2I2ZDNmOGU5ZmEifV0="/>
</p:tagLst>
</file>

<file path=ppt/tags/tag8.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9.xml><?xml version="1.0" encoding="utf-8"?>
<p:tagLst xmlns:a="http://schemas.openxmlformats.org/drawingml/2006/main" xmlns:r="http://schemas.openxmlformats.org/officeDocument/2006/relationships" xmlns:p="http://schemas.openxmlformats.org/presentationml/2006/main">
  <p:tag name="SLIDO_ELEMENT" val="title"/>
</p:tagLst>
</file>

<file path=ppt/tags/tag10.xml><?xml version="1.0" encoding="utf-8"?>
<p:tagLst xmlns:a="http://schemas.openxmlformats.org/drawingml/2006/main" xmlns:r="http://schemas.openxmlformats.org/officeDocument/2006/relationships" xmlns:p="http://schemas.openxmlformats.org/presentationml/2006/main">
  <p:tag name="SLIDO_ELEMENT" val="footer"/>
</p:tagLst>
</file>

<file path=ppt/tags/tag11.xml><?xml version="1.0" encoding="utf-8"?>
<p:tagLst xmlns:a="http://schemas.openxmlformats.org/drawingml/2006/main" xmlns:r="http://schemas.openxmlformats.org/officeDocument/2006/relationships" xmlns:p="http://schemas.openxmlformats.org/presentationml/2006/main">
  <p:tag name="SLIDO_ELEMENT" val="corner"/>
</p:tagLst>
</file>

<file path=ppt/tags/tag12.xml><?xml version="1.0" encoding="utf-8"?>
<p:tagLst xmlns:a="http://schemas.openxmlformats.org/drawingml/2006/main" xmlns:r="http://schemas.openxmlformats.org/officeDocument/2006/relationships" xmlns:p="http://schemas.openxmlformats.org/presentationml/2006/main">
  <p:tag name="SLIDO_TYPE" val="SlidoPoll"/>
  <p:tag name="SLIDO_POLL_UUID" val="a7bf328a-b3e0-4563-815d-262b46615564"/>
  <p:tag name="SLIDO_KEEP_POLL_ACTIVE" val="false"/>
  <p:tag name="SLIDO_TIMELINE" val="W3sicG9sbFF1ZXN0aW9uVXVpZCI6ImQ2YmVkMDE5LTRiOWQtNDdkZS1hY2QwLWZhZDhkOTU0NTNlOSIsInNob3dSZXN1bHRzIjp0cnVlfV0="/>
</p:tagLst>
</file>

<file path=ppt/tags/tag13.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OpenText"/>
</p:tagLst>
</file>

<file path=ppt/tags/tag14.xml><?xml version="1.0" encoding="utf-8"?>
<p:tagLst xmlns:a="http://schemas.openxmlformats.org/drawingml/2006/main" xmlns:r="http://schemas.openxmlformats.org/officeDocument/2006/relationships" xmlns:p="http://schemas.openxmlformats.org/presentationml/2006/main">
  <p:tag name="SLIDO_ELEMENT" val="title"/>
</p:tagLst>
</file>

<file path=ppt/tags/tag15.xml><?xml version="1.0" encoding="utf-8"?>
<p:tagLst xmlns:a="http://schemas.openxmlformats.org/drawingml/2006/main" xmlns:r="http://schemas.openxmlformats.org/officeDocument/2006/relationships" xmlns:p="http://schemas.openxmlformats.org/presentationml/2006/main">
  <p:tag name="SLIDO_ELEMENT" val="footer"/>
</p:tagLst>
</file>

<file path=ppt/tags/tag16.xml><?xml version="1.0" encoding="utf-8"?>
<p:tagLst xmlns:a="http://schemas.openxmlformats.org/drawingml/2006/main" xmlns:r="http://schemas.openxmlformats.org/officeDocument/2006/relationships" xmlns:p="http://schemas.openxmlformats.org/presentationml/2006/main">
  <p:tag name="SLIDO_ELEMENT" val="corner"/>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260FE81-F0A1-624D-8722-E53638F04DFF}">
  <we:reference id="WA200010001" version="1.0.0.1" store="Omex" storeType="OMEX"/>
  <we:alternateReferences>
    <we:reference id="WA200010001" version="1.0.0.1" store="WA200010001" storeType="OMEX"/>
  </we:alternateReferences>
  <we:properties>
    <we:property name="claude.fileId" value="&quot;98d04ebe-0b32-410d-a204-67a6d8399af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10651</TotalTime>
  <Words>2436</Words>
  <Application>Microsoft Macintosh PowerPoint</Application>
  <PresentationFormat>Widescreen</PresentationFormat>
  <Paragraphs>373</Paragraphs>
  <Slides>43</Slides>
  <Notes>36</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43</vt:i4>
      </vt:variant>
    </vt:vector>
  </HeadingPairs>
  <TitlesOfParts>
    <vt:vector size="54" baseType="lpstr">
      <vt:lpstr>Aptos</vt:lpstr>
      <vt:lpstr>Arial</vt:lpstr>
      <vt:lpstr>Calibri</vt:lpstr>
      <vt:lpstr>Calibri Light</vt:lpstr>
      <vt:lpstr>Century Gothic</vt:lpstr>
      <vt:lpstr>Consolas</vt:lpstr>
      <vt:lpstr>Inconsolata</vt:lpstr>
      <vt:lpstr>Times New Roman</vt:lpstr>
      <vt:lpstr>Office Theme</vt:lpstr>
      <vt:lpstr>Simple Dark</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Chapman  Melissa</cp:lastModifiedBy>
  <cp:revision>7</cp:revision>
  <dcterms:created xsi:type="dcterms:W3CDTF">2026-09-23T20:21:58Z</dcterms:created>
  <dcterms:modified xsi:type="dcterms:W3CDTF">2026-10-01T06:03:12Z</dcterms:modified>
</cp:coreProperties>
</file>